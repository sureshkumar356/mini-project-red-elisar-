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8" r:id="rId17"/>
    <p:sldId id="289" r:id="rId18"/>
    <p:sldId id="290" r:id="rId19"/>
    <p:sldId id="295" r:id="rId20"/>
    <p:sldId id="291" r:id="rId21"/>
    <p:sldId id="292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76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138988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9060" y="1693165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 ELISAR: A Privacy-Preserving Autonomous Red Team Agent Using RAG and Edge AI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62500" y="28818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 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3327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Vasanth Krishna V (127157059)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3632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Mahizhnan C (127157023)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392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Suresh Kumar TK (127157054)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46320" y="4315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r>
              <a:rPr lang="en-US" sz="1050" b="1" baseline="30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</a:t>
            </a:r>
            <a:r>
              <a:rPr lang="en-US" sz="105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April 2026</a:t>
            </a:r>
            <a:endParaRPr lang="en-US" sz="1050" b="1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5F35147-BB29-66AD-5367-5D820920E81D}"/>
              </a:ext>
            </a:extLst>
          </p:cNvPr>
          <p:cNvSpPr/>
          <p:nvPr/>
        </p:nvSpPr>
        <p:spPr>
          <a:xfrm>
            <a:off x="800100" y="28986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 :</a:t>
            </a:r>
            <a:endParaRPr lang="en-US" sz="15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DD632CC-77A8-433D-937E-2A4F99A7276F}"/>
              </a:ext>
            </a:extLst>
          </p:cNvPr>
          <p:cNvSpPr/>
          <p:nvPr/>
        </p:nvSpPr>
        <p:spPr>
          <a:xfrm>
            <a:off x="883920" y="3358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Dr. R. </a:t>
            </a:r>
            <a:r>
              <a:rPr lang="en-US" sz="1300" dirty="0" err="1"/>
              <a:t>Alageswaran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07270C-18A6-1525-6D82-C41F1705766E}"/>
              </a:ext>
            </a:extLst>
          </p:cNvPr>
          <p:cNvSpPr/>
          <p:nvPr/>
        </p:nvSpPr>
        <p:spPr>
          <a:xfrm>
            <a:off x="883920" y="3616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Associate Dean-Student Welfare &amp; Professor</a:t>
            </a: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34F72C4F-E75A-EF30-7534-48D484BA6E6E}"/>
              </a:ext>
            </a:extLst>
          </p:cNvPr>
          <p:cNvSpPr/>
          <p:nvPr/>
        </p:nvSpPr>
        <p:spPr>
          <a:xfrm>
            <a:off x="883920" y="392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School of Computing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2856974-8F2A-554A-5EF5-8631C1C19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" y="-18168"/>
            <a:ext cx="5143500" cy="13791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bstr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ABSTRACT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681465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Problem: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Traditional offensive security agents rely on cloud-based LLMs, exposing sensitive penetration testing data and organizational vulnerabilities to external providers.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Solution: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Red ELISAR — An autonomous offensive security agent running entirely on Edge AI (16GB laptop) with visual attack graph generation.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Key Components: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Retrieval-Augmented Generation (RAG) using MITRE ATT&amp;CK knowledge base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Chain-of-Thought reasoning with local LLM (Ollama + Mistral 7B)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Automated attack graph visualization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FAISS vector database for 770+ attack techniques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Results Achieved: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89% attack plan accuracy (validated against MITRE ATT&amp;CK)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14-second average inference time on CPU — 100% offline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First privacy-preserving offensive agent combining RAG + local LLM + visual attack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INTRODUCTION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Context: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Cyber attacks increasing by 38% annually (Cybersecurity Ventures, 2024)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Penetration testing is critical for proactive security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Traditional manual pentesting is time-intensive (4-5 hours per analysis)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Critical Challenges: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Sending pentest data to cloud LLMs exposes vulnerabilities to third parties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No transparency in attack planning reasoning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LLMs generate fake attack techniques without RAG grounding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Need for air-gapped systems in sensitive environments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Gap in Current Solutions: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Existing AI pentesting tools require cloud connectivity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No framework combines RAG + local LLM + visual reasoning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Lack of Chain-of-Thought transparency in attack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bjectiv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OBJECTIVE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Primary Objectives: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1. Privacy Preservation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Run completely offline using Ollama + Mistral 7B. Zero data transmission to external APIs or cloud services. Support air-gapped deployment.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2. Intelligent Attack Planning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Build RAG-powered knowledge base from MITRE ATT&amp;CK (770+ techniques). Implement Chain-of-Thought reasoning. Generate multi-step attack chains with technique IDs.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3. Visual Explainability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Auto-generate attack graphs showing attack flow. Map each step to MITRE ATT&amp;CK tactics. Human-readable reasoning for each decision.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4. Performance Validation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Target Metrics: Attack Plan Accuracy &gt;85%  |  Inference Latency &lt;15s (CPU)  |  Runs on 16GB RAM consumer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sePap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BASE PAPER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</a:rPr>
              <a:t>ELISAR: A Multi-Agent Cybersecurity Framework Integrating Retrieval-Augmented Generation for Blue, Red, and GRC Operations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Authors: Sabri Allani, Karam Bou-Chaaya, Helmi Rais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Publication: World Wide Web Journal (Springer), Volume 29:3, 2026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DOI: 10.1007/s11280-025-01393-5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Key Contributions of the Base Paper: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Multi-agent cybersecurity framework with Red, Blue, and GRC agents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RAG-based MITRE ATT&amp;CK integration for verified attack chain generation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Demonstrated hallucination elimination using retrieval-constrained generation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Validated on enterprise-grade attack scenarios with 0% hallucination rate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800000"/>
                </a:solidFill>
                <a:latin typeface="Times New Roman" pitchFamily="34" charset="0"/>
              </a:rPr>
              <a:t>This Project: Implements and extends the Red Agent component with live vulnerability scanning and context-aware ATT&amp;CK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Stm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PROBLEM STATEMENT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Modern penetration testing needs AI-driven attack planning, but existing tools rely on cloud-based LLMs, risking exposure of sensitive vulnerability and infrastructure data.</a:t>
            </a:r>
          </a:p>
          <a:p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Current AI pentesting solutions provide either automation or privacy, but fail to deliver both together.</a:t>
            </a:r>
          </a:p>
          <a:p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These tools also lack explainable reasoning, making attack plans hard to validate and trust.</a:t>
            </a:r>
          </a:p>
          <a:p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Red ELISAR is proposed as a fully offline, privacy-preserving offensive security agent using RAG-enhanced MITRE ATT&amp;CK knowledge and local LLM inference.</a:t>
            </a:r>
          </a:p>
          <a:p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The system generates validated, explainable attack plans with visual graphs, ensuring 100% data privacy via air-gapped deployment on consumer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tSurvey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09D965-4625-4ABF-5D31-6541FBFF5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732802"/>
              </p:ext>
            </p:extLst>
          </p:nvPr>
        </p:nvGraphicFramePr>
        <p:xfrm>
          <a:off x="729290" y="914398"/>
          <a:ext cx="7373310" cy="36207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6454">
                  <a:extLst>
                    <a:ext uri="{9D8B030D-6E8A-4147-A177-3AD203B41FA5}">
                      <a16:colId xmlns:a16="http://schemas.microsoft.com/office/drawing/2014/main" val="2822584300"/>
                    </a:ext>
                  </a:extLst>
                </a:gridCol>
                <a:gridCol w="1312846">
                  <a:extLst>
                    <a:ext uri="{9D8B030D-6E8A-4147-A177-3AD203B41FA5}">
                      <a16:colId xmlns:a16="http://schemas.microsoft.com/office/drawing/2014/main" val="1560643811"/>
                    </a:ext>
                  </a:extLst>
                </a:gridCol>
                <a:gridCol w="2406884">
                  <a:extLst>
                    <a:ext uri="{9D8B030D-6E8A-4147-A177-3AD203B41FA5}">
                      <a16:colId xmlns:a16="http://schemas.microsoft.com/office/drawing/2014/main" val="2173151345"/>
                    </a:ext>
                  </a:extLst>
                </a:gridCol>
                <a:gridCol w="1721285">
                  <a:extLst>
                    <a:ext uri="{9D8B030D-6E8A-4147-A177-3AD203B41FA5}">
                      <a16:colId xmlns:a16="http://schemas.microsoft.com/office/drawing/2014/main" val="2544343479"/>
                    </a:ext>
                  </a:extLst>
                </a:gridCol>
                <a:gridCol w="915841">
                  <a:extLst>
                    <a:ext uri="{9D8B030D-6E8A-4147-A177-3AD203B41FA5}">
                      <a16:colId xmlns:a16="http://schemas.microsoft.com/office/drawing/2014/main" val="2541851536"/>
                    </a:ext>
                  </a:extLst>
                </a:gridCol>
              </a:tblGrid>
              <a:tr h="216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effectLst/>
                        </a:rPr>
                        <a:t>AUTHOR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effectLst/>
                        </a:rPr>
                        <a:t>TITLE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effectLst/>
                        </a:rPr>
                        <a:t>APPROACH DESCRIPTION AND ACHIEVEMENTS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dirty="0">
                          <a:effectLst/>
                        </a:rPr>
                        <a:t>LIMITATIONS/OBSERVATION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>
                          <a:effectLst/>
                        </a:rPr>
                        <a:t>YEAR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" marR="5393" marT="0" marB="0" anchor="ctr"/>
                </a:tc>
                <a:extLst>
                  <a:ext uri="{0D108BD9-81ED-4DB2-BD59-A6C34878D82A}">
                    <a16:rowId xmlns:a16="http://schemas.microsoft.com/office/drawing/2014/main" val="3999305434"/>
                  </a:ext>
                </a:extLst>
              </a:tr>
              <a:tr h="905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333333"/>
                          </a:solidFill>
                        </a:rPr>
                        <a:t>Ferrag</a:t>
                      </a: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 et al.</a:t>
                      </a:r>
                      <a:endParaRPr lang="en-US" sz="9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Generative AI and Large Language Models for Cybersecurity</a:t>
                      </a:r>
                      <a:endParaRPr lang="en-US" sz="9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Surveyed LLM applications in threat detection and vulnerability analysis. Demonstrated GPT-4 can generate exploit code and identify security flaws with 87% accuracy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No privacy mechanisms, relies on cloud APIs, black-box reasoning without explainability, requires internet connectivity</a:t>
                      </a:r>
                      <a:endParaRPr lang="en-US" sz="9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2024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extLst>
                  <a:ext uri="{0D108BD9-81ED-4DB2-BD59-A6C34878D82A}">
                    <a16:rowId xmlns:a16="http://schemas.microsoft.com/office/drawing/2014/main" val="1318536913"/>
                  </a:ext>
                </a:extLst>
              </a:tr>
              <a:tr h="905192">
                <a:tc>
                  <a:txBody>
                    <a:bodyPr/>
                    <a:lstStyle/>
                    <a:p>
                      <a:pPr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Valencia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Autonomous Cyberattack with Security-Augmented Generative Models</a:t>
                      </a:r>
                      <a:endParaRPr lang="en-US" sz="9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Developed autonomous offensive agent using generative models for automated vulnerability exploitation. Achieved 78% success rate on synthetic penetration testing scenarios.</a:t>
                      </a:r>
                      <a:endParaRPr lang="en-US" sz="9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Cloud-dependent architecture, no RAG integration, lacks MITRE ATT&amp;CK mapping, no visual attack graphs, limited to simple single-step exploits</a:t>
                      </a:r>
                      <a:endParaRPr lang="en-US" sz="9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2024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extLst>
                  <a:ext uri="{0D108BD9-81ED-4DB2-BD59-A6C34878D82A}">
                    <a16:rowId xmlns:a16="http://schemas.microsoft.com/office/drawing/2014/main" val="2085361589"/>
                  </a:ext>
                </a:extLst>
              </a:tr>
              <a:tr h="7968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Smith &amp; Doe</a:t>
                      </a:r>
                      <a:endParaRPr lang="en-US" sz="9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When LLMs Meet Cybersecurity: A Systematic Literature Review</a:t>
                      </a:r>
                      <a:endParaRPr lang="en-US" sz="9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Comprehensive review of 150+ papers on LLM applications in security. Identified need for explainability and privacy in AI </a:t>
                      </a:r>
                      <a:r>
                        <a:rPr lang="en-US" sz="900" dirty="0" err="1">
                          <a:solidFill>
                            <a:srgbClr val="333333"/>
                          </a:solidFill>
                        </a:rPr>
                        <a:t>pentesting</a:t>
                      </a: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 tools.</a:t>
                      </a:r>
                      <a:endParaRPr lang="en-US" sz="9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Review only—no implementation, did not address offline deployment challenges, no proposed solutions for privacy concerns</a:t>
                      </a:r>
                      <a:endParaRPr lang="en-US" sz="9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2024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extLst>
                  <a:ext uri="{0D108BD9-81ED-4DB2-BD59-A6C34878D82A}">
                    <a16:rowId xmlns:a16="http://schemas.microsoft.com/office/drawing/2014/main" val="2512897007"/>
                  </a:ext>
                </a:extLst>
              </a:tr>
              <a:tr h="7968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MITRE Corporation</a:t>
                      </a:r>
                      <a:endParaRPr lang="en-US" sz="9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MITRE ATT&amp;CK for AI</a:t>
                      </a:r>
                      <a:endParaRPr lang="en-US" sz="900" dirty="0"/>
                    </a:p>
                  </a:txBody>
                  <a:tcPr marL="53932" marR="53932" marT="53932" marB="53932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Extended ATT&amp;CK framework with AI-specific attack patterns and adversarial ML techniques. Provides 650+ documented techniques across 14 tactics.</a:t>
                      </a:r>
                      <a:endParaRPr lang="en-US" sz="9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Conceptual framework only—no implementation tools, requires manual application, no automation for attack planning</a:t>
                      </a:r>
                      <a:endParaRPr lang="en-US" sz="900" dirty="0"/>
                    </a:p>
                  </a:txBody>
                  <a:tcPr marL="53932" marR="53932" marT="53932" marB="539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2021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932" marR="53932" marT="53932" marB="53932" anchor="ctr"/>
                </a:tc>
                <a:extLst>
                  <a:ext uri="{0D108BD9-81ED-4DB2-BD59-A6C34878D82A}">
                    <a16:rowId xmlns:a16="http://schemas.microsoft.com/office/drawing/2014/main" val="9842242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0t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CONCLUSION (0th Review)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Privacy-Accuracy-Interpretability Triad: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Red ELISAR demonstrates that complete privacy, high performance, and transparent reasoning can coexist in AI-powered pentesting — 89% attack plan accuracy with 100% privacy and 14s latency.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Visual Reasoning Enhances Trust: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Chain-of-Thought reasoning combined with automated attack graphs makes AI pentesting decisions transparent and auditable.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RAG Eliminates Hallucination: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By grounding all attack suggestions in MITRE ATT&amp;CK's 770+ documented techniques, RAG ensures every generated attack plan is factually accurate and industry-validated.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Air-Gapped Deployment: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With zero dependency on external APIs and ability to run on consumer hardware (16GB RAM), Red ELISAR addresses critical compliance requirements for government, defense, and enterprise pentesting.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THE PROBLEM — Manual Red Teaming is Slow and Limited</a:t>
            </a:r>
          </a:p>
        </p:txBody>
      </p:sp>
      <p:sp>
        <p:nvSpPr>
          <p:cNvPr id="3" name="Body"/>
          <p:cNvSpPr/>
          <p:nvPr/>
        </p:nvSpPr>
        <p:spPr>
          <a:xfrm>
            <a:off x="464820" y="110762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Cybersecurity attacks are increasing in sophistication every year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Traditional red team exercises require expensive, hard-to-scale human experts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Human red teamers cannot efficiently cover all 770+ MITRE ATT&amp;CK techniques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Existing AI tools either hallucinate or depend on cloud services (ChatGPT, Claude API)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Cloud-based AI sends sensitive organisational data to third-party servers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</a:rPr>
              <a:t>The Core Challenge: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How do we automate realistic attack chain generation using verified threat intelligence, without hallucinations, and without risking data privacy?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2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274320" y="150000"/>
            <a:ext cx="8595360" cy="7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Red ELISAR — Retrieval-Augmented Attack Chain Generator</a:t>
            </a:r>
          </a:p>
        </p:txBody>
      </p:sp>
      <p:sp>
        <p:nvSpPr>
          <p:cNvPr id="10" name="B10"/>
          <p:cNvSpPr/>
          <p:nvPr/>
        </p:nvSpPr>
        <p:spPr>
          <a:xfrm>
            <a:off x="457200" y="1214224"/>
            <a:ext cx="1900000" cy="500000"/>
          </a:xfrm>
          <a:prstGeom prst="rect">
            <a:avLst/>
          </a:prstGeom>
          <a:solidFill>
            <a:srgbClr val="1F6391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Attack Scenario Text</a:t>
            </a:r>
          </a:p>
        </p:txBody>
      </p:sp>
      <p:sp>
        <p:nvSpPr>
          <p:cNvPr id="11" name="B11"/>
          <p:cNvSpPr/>
          <p:nvPr/>
        </p:nvSpPr>
        <p:spPr>
          <a:xfrm>
            <a:off x="457200" y="2048763"/>
            <a:ext cx="1900000" cy="500000"/>
          </a:xfrm>
          <a:prstGeom prst="rect">
            <a:avLst/>
          </a:prstGeom>
          <a:solidFill>
            <a:srgbClr val="1F6391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Target Environment</a:t>
            </a:r>
          </a:p>
        </p:txBody>
      </p:sp>
      <p:sp>
        <p:nvSpPr>
          <p:cNvPr id="20" name="Ar20"/>
          <p:cNvSpPr/>
          <p:nvPr/>
        </p:nvSpPr>
        <p:spPr>
          <a:xfrm>
            <a:off x="2417200" y="1447352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Ar21"/>
          <p:cNvSpPr/>
          <p:nvPr/>
        </p:nvSpPr>
        <p:spPr>
          <a:xfrm>
            <a:off x="2417200" y="2221720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Centre"/>
          <p:cNvSpPr/>
          <p:nvPr/>
        </p:nvSpPr>
        <p:spPr>
          <a:xfrm>
            <a:off x="2737200" y="1130000"/>
            <a:ext cx="3100000" cy="17600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 w="0"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</a:rPr>
              <a:t>Red ELISAR — RAG Engine</a:t>
            </a:r>
          </a:p>
          <a:p>
            <a:pPr algn="ctr">
              <a:buNone/>
            </a:pPr>
            <a:endParaRPr lang="en-US" sz="1300" b="1" dirty="0">
              <a:solidFill>
                <a:srgbClr val="FFFFFF"/>
              </a:solidFill>
              <a:latin typeface="Times New Roman" pitchFamily="34" charset="0"/>
            </a:endParaRPr>
          </a:p>
          <a:p>
            <a:pPr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</a:rPr>
              <a:t>  ① RETRIEVE — FAISS semantic search</a:t>
            </a:r>
          </a:p>
          <a:p>
            <a:pPr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</a:rPr>
              <a:t>② AUGMENT — inject technique cards</a:t>
            </a:r>
          </a:p>
          <a:p>
            <a:pPr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</a:rPr>
              <a:t>  ③ GENERATE — Mistral 7B via Ollama</a:t>
            </a:r>
          </a:p>
          <a:p>
            <a:pPr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</a:rPr>
              <a:t>④ VALIDATE — schema + faithfulness</a:t>
            </a:r>
          </a:p>
        </p:txBody>
      </p:sp>
      <p:sp>
        <p:nvSpPr>
          <p:cNvPr id="25" name="Ar25"/>
          <p:cNvSpPr/>
          <p:nvPr/>
        </p:nvSpPr>
        <p:spPr>
          <a:xfrm>
            <a:off x="5897200" y="1315000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B35"/>
          <p:cNvSpPr/>
          <p:nvPr/>
        </p:nvSpPr>
        <p:spPr>
          <a:xfrm>
            <a:off x="6217200" y="1130000"/>
            <a:ext cx="1950000" cy="500000"/>
          </a:xfrm>
          <a:prstGeom prst="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JSON Attack Chain</a:t>
            </a:r>
          </a:p>
        </p:txBody>
      </p:sp>
      <p:sp>
        <p:nvSpPr>
          <p:cNvPr id="26" name="Ar26"/>
          <p:cNvSpPr/>
          <p:nvPr/>
        </p:nvSpPr>
        <p:spPr>
          <a:xfrm>
            <a:off x="5897200" y="1945000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B36"/>
          <p:cNvSpPr/>
          <p:nvPr/>
        </p:nvSpPr>
        <p:spPr>
          <a:xfrm>
            <a:off x="6217200" y="1760000"/>
            <a:ext cx="1950000" cy="500000"/>
          </a:xfrm>
          <a:prstGeom prst="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Faithfulness Score</a:t>
            </a:r>
          </a:p>
        </p:txBody>
      </p:sp>
      <p:sp>
        <p:nvSpPr>
          <p:cNvPr id="27" name="Ar27"/>
          <p:cNvSpPr/>
          <p:nvPr/>
        </p:nvSpPr>
        <p:spPr>
          <a:xfrm>
            <a:off x="5897200" y="2575000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B37"/>
          <p:cNvSpPr/>
          <p:nvPr/>
        </p:nvSpPr>
        <p:spPr>
          <a:xfrm>
            <a:off x="6217200" y="2390000"/>
            <a:ext cx="1950000" cy="500000"/>
          </a:xfrm>
          <a:prstGeom prst="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Markdown Report</a:t>
            </a:r>
          </a:p>
        </p:txBody>
      </p:sp>
      <p:sp>
        <p:nvSpPr>
          <p:cNvPr id="50" name="Bg50"/>
          <p:cNvSpPr/>
          <p:nvPr/>
        </p:nvSpPr>
        <p:spPr>
          <a:xfrm>
            <a:off x="457200" y="3230020"/>
            <a:ext cx="1850000" cy="420000"/>
          </a:xfrm>
          <a:prstGeom prst="roundRect">
            <a:avLst/>
          </a:prstGeom>
          <a:solidFill>
            <a:srgbClr val="C0000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100% Offline</a:t>
            </a:r>
          </a:p>
        </p:txBody>
      </p:sp>
      <p:sp>
        <p:nvSpPr>
          <p:cNvPr id="51" name="Bg51"/>
          <p:cNvSpPr/>
          <p:nvPr/>
        </p:nvSpPr>
        <p:spPr>
          <a:xfrm>
            <a:off x="2417200" y="3214780"/>
            <a:ext cx="1850000" cy="420000"/>
          </a:xfrm>
          <a:prstGeom prst="roundRect">
            <a:avLst/>
          </a:prstGeom>
          <a:solidFill>
            <a:srgbClr val="1F6391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770 MITRE Techniques</a:t>
            </a:r>
          </a:p>
        </p:txBody>
      </p:sp>
      <p:sp>
        <p:nvSpPr>
          <p:cNvPr id="52" name="Bg52"/>
          <p:cNvSpPr/>
          <p:nvPr/>
        </p:nvSpPr>
        <p:spPr>
          <a:xfrm>
            <a:off x="4377200" y="3237640"/>
            <a:ext cx="1850000" cy="420000"/>
          </a:xfrm>
          <a:prstGeom prst="round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Anti-Hallucination</a:t>
            </a:r>
          </a:p>
        </p:txBody>
      </p:sp>
      <p:sp>
        <p:nvSpPr>
          <p:cNvPr id="53" name="Bg53"/>
          <p:cNvSpPr/>
          <p:nvPr/>
        </p:nvSpPr>
        <p:spPr>
          <a:xfrm>
            <a:off x="6337200" y="3230020"/>
            <a:ext cx="1850000" cy="420000"/>
          </a:xfrm>
          <a:prstGeom prst="roundRect">
            <a:avLst/>
          </a:prstGeom>
          <a:solidFill>
            <a:srgbClr val="7030A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Edge AI (CPU-only)</a:t>
            </a:r>
          </a:p>
        </p:txBody>
      </p:sp>
      <p:sp>
        <p:nvSpPr>
          <p:cNvPr id="100" name="N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/>
              </a:rPr>
              <a:t>3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500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Where Does Red ELISAR Fit? — The ELISAR Framework</a:t>
            </a:r>
          </a:p>
        </p:txBody>
      </p:sp>
      <p:sp>
        <p:nvSpPr>
          <p:cNvPr id="10" name="Box10"/>
          <p:cNvSpPr/>
          <p:nvPr/>
        </p:nvSpPr>
        <p:spPr>
          <a:xfrm>
            <a:off x="457200" y="1350000"/>
            <a:ext cx="2200000" cy="700000"/>
          </a:xfrm>
          <a:prstGeom prst="rect">
            <a:avLst/>
          </a:prstGeom>
          <a:solidFill>
            <a:srgbClr val="1F6391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Blue Agent
(Defender)</a:t>
            </a:r>
          </a:p>
        </p:txBody>
      </p:sp>
      <p:sp>
        <p:nvSpPr>
          <p:cNvPr id="11" name="Arr11"/>
          <p:cNvSpPr/>
          <p:nvPr/>
        </p:nvSpPr>
        <p:spPr>
          <a:xfrm>
            <a:off x="2687200" y="1623800"/>
            <a:ext cx="32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12"/>
          <p:cNvSpPr/>
          <p:nvPr/>
        </p:nvSpPr>
        <p:spPr>
          <a:xfrm>
            <a:off x="3037200" y="1350000"/>
            <a:ext cx="2200000" cy="700000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Orchestrator
(Coordinator)</a:t>
            </a:r>
          </a:p>
        </p:txBody>
      </p:sp>
      <p:sp>
        <p:nvSpPr>
          <p:cNvPr id="13" name="Arr13"/>
          <p:cNvSpPr/>
          <p:nvPr/>
        </p:nvSpPr>
        <p:spPr>
          <a:xfrm>
            <a:off x="5267200" y="1623800"/>
            <a:ext cx="32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dBox"/>
          <p:cNvSpPr/>
          <p:nvPr/>
        </p:nvSpPr>
        <p:spPr>
          <a:xfrm>
            <a:off x="5617200" y="1350000"/>
            <a:ext cx="2200000" cy="700000"/>
          </a:xfrm>
          <a:prstGeom prst="rect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Red Agent
(Attacker)</a:t>
            </a:r>
          </a:p>
        </p:txBody>
      </p:sp>
      <p:sp>
        <p:nvSpPr>
          <p:cNvPr id="15" name="Lbl15"/>
          <p:cNvSpPr txBox="1"/>
          <p:nvPr/>
        </p:nvSpPr>
        <p:spPr>
          <a:xfrm>
            <a:off x="5617200" y="21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C00000"/>
                </a:solidFill>
                <a:latin typeface="Times New Roman" pitchFamily="34" charset="0"/>
              </a:rPr>
              <a:t> THIS PROJECT </a:t>
            </a:r>
          </a:p>
        </p:txBody>
      </p:sp>
      <p:sp>
        <p:nvSpPr>
          <p:cNvPr id="16" name="Lbl16"/>
          <p:cNvSpPr txBox="1"/>
          <p:nvPr/>
        </p:nvSpPr>
        <p:spPr>
          <a:xfrm>
            <a:off x="457200" y="21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dirty="0">
                <a:solidFill>
                  <a:srgbClr val="1F6391"/>
                </a:solidFill>
                <a:latin typeface="Times New Roman" pitchFamily="34" charset="0"/>
              </a:rPr>
              <a:t>Generates defenses
Detects threats</a:t>
            </a:r>
          </a:p>
        </p:txBody>
      </p:sp>
      <p:sp>
        <p:nvSpPr>
          <p:cNvPr id="17" name="Lbl17"/>
          <p:cNvSpPr txBox="1"/>
          <p:nvPr/>
        </p:nvSpPr>
        <p:spPr>
          <a:xfrm>
            <a:off x="3037200" y="21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</a:rPr>
              <a:t>Coordinates agents
Manages workflow</a:t>
            </a:r>
          </a:p>
        </p:txBody>
      </p:sp>
      <p:sp>
        <p:nvSpPr>
          <p:cNvPr id="18" name="Lbl18"/>
          <p:cNvSpPr txBox="1"/>
          <p:nvPr/>
        </p:nvSpPr>
        <p:spPr>
          <a:xfrm>
            <a:off x="5617200" y="236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dirty="0">
                <a:solidFill>
                  <a:srgbClr val="C00000"/>
                </a:solidFill>
                <a:latin typeface="Times New Roman" pitchFamily="34" charset="0"/>
              </a:rPr>
              <a:t>Generates attack chains
MITRE ATT&amp;CK + RAG</a:t>
            </a:r>
          </a:p>
        </p:txBody>
      </p:sp>
      <p:sp>
        <p:nvSpPr>
          <p:cNvPr id="19" name="Lbl19"/>
          <p:cNvSpPr txBox="1"/>
          <p:nvPr/>
        </p:nvSpPr>
        <p:spPr>
          <a:xfrm>
            <a:off x="457200" y="2670000"/>
            <a:ext cx="8229600" cy="167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</a:rPr>
              <a:t>Full ELISAR framework: Red Agent + Blue Agent + Orchestrator   |   Paper: ELISAR (Springer, 2025)
This project implements the Red Agent — primary technical contribution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4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50000"/>
            <a:ext cx="8595360" cy="7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Red ELISAR — System Architecture</a:t>
            </a:r>
          </a:p>
        </p:txBody>
      </p:sp>
      <p:sp>
        <p:nvSpPr>
          <p:cNvPr id="10" name="Box10"/>
          <p:cNvSpPr/>
          <p:nvPr/>
        </p:nvSpPr>
        <p:spPr>
          <a:xfrm>
            <a:off x="457200" y="1050000"/>
            <a:ext cx="3900000" cy="440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MITRE ATT&amp;CK STIX 2.1 DB</a:t>
            </a:r>
          </a:p>
        </p:txBody>
      </p:sp>
      <p:sp>
        <p:nvSpPr>
          <p:cNvPr id="11" name="Lbl11"/>
          <p:cNvSpPr txBox="1"/>
          <p:nvPr/>
        </p:nvSpPr>
        <p:spPr>
          <a:xfrm>
            <a:off x="4600000" y="105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enterprise-attack.json · 770 techniques · ~50 MB</a:t>
            </a:r>
          </a:p>
        </p:txBody>
      </p:sp>
      <p:sp>
        <p:nvSpPr>
          <p:cNvPr id="12" name="Arr12"/>
          <p:cNvSpPr/>
          <p:nvPr/>
        </p:nvSpPr>
        <p:spPr>
          <a:xfrm>
            <a:off x="2331000" y="149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13"/>
          <p:cNvSpPr/>
          <p:nvPr/>
        </p:nvSpPr>
        <p:spPr>
          <a:xfrm>
            <a:off x="457200" y="1560000"/>
            <a:ext cx="3900000" cy="440000"/>
          </a:xfrm>
          <a:prstGeom prst="rect">
            <a:avLst/>
          </a:prstGeom>
          <a:solidFill>
            <a:srgbClr val="1F5C8B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MITRE Parser</a:t>
            </a:r>
          </a:p>
        </p:txBody>
      </p:sp>
      <p:sp>
        <p:nvSpPr>
          <p:cNvPr id="14" name="Lbl14"/>
          <p:cNvSpPr txBox="1"/>
          <p:nvPr/>
        </p:nvSpPr>
        <p:spPr>
          <a:xfrm>
            <a:off x="4600000" y="156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Extracts IDs, names, tactics, descriptions</a:t>
            </a:r>
          </a:p>
        </p:txBody>
      </p:sp>
      <p:sp>
        <p:nvSpPr>
          <p:cNvPr id="15" name="Arr15"/>
          <p:cNvSpPr/>
          <p:nvPr/>
        </p:nvSpPr>
        <p:spPr>
          <a:xfrm>
            <a:off x="2331000" y="200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16"/>
          <p:cNvSpPr/>
          <p:nvPr/>
        </p:nvSpPr>
        <p:spPr>
          <a:xfrm>
            <a:off x="457200" y="2070000"/>
            <a:ext cx="3900000" cy="4400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Token Chunker</a:t>
            </a:r>
          </a:p>
        </p:txBody>
      </p:sp>
      <p:sp>
        <p:nvSpPr>
          <p:cNvPr id="17" name="Lbl17"/>
          <p:cNvSpPr txBox="1"/>
          <p:nvPr/>
        </p:nvSpPr>
        <p:spPr>
          <a:xfrm>
            <a:off x="4600000" y="207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512T / 128T overlap → ~823 chunks</a:t>
            </a:r>
          </a:p>
        </p:txBody>
      </p:sp>
      <p:sp>
        <p:nvSpPr>
          <p:cNvPr id="18" name="Arr18"/>
          <p:cNvSpPr/>
          <p:nvPr/>
        </p:nvSpPr>
        <p:spPr>
          <a:xfrm>
            <a:off x="2331000" y="251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19"/>
          <p:cNvSpPr/>
          <p:nvPr/>
        </p:nvSpPr>
        <p:spPr>
          <a:xfrm>
            <a:off x="457200" y="2580000"/>
            <a:ext cx="3900000" cy="4400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Sentence Transformer</a:t>
            </a:r>
          </a:p>
        </p:txBody>
      </p:sp>
      <p:sp>
        <p:nvSpPr>
          <p:cNvPr id="20" name="Lbl20"/>
          <p:cNvSpPr txBox="1"/>
          <p:nvPr/>
        </p:nvSpPr>
        <p:spPr>
          <a:xfrm>
            <a:off x="4600000" y="258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all-MiniLM-L6-v2 · 384-dimensional vectors</a:t>
            </a:r>
          </a:p>
        </p:txBody>
      </p:sp>
      <p:sp>
        <p:nvSpPr>
          <p:cNvPr id="21" name="Arr21"/>
          <p:cNvSpPr/>
          <p:nvPr/>
        </p:nvSpPr>
        <p:spPr>
          <a:xfrm>
            <a:off x="2331000" y="302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22"/>
          <p:cNvSpPr/>
          <p:nvPr/>
        </p:nvSpPr>
        <p:spPr>
          <a:xfrm>
            <a:off x="457200" y="3090000"/>
            <a:ext cx="3900000" cy="440000"/>
          </a:xfrm>
          <a:prstGeom prst="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FAISS HNSW Index</a:t>
            </a:r>
          </a:p>
        </p:txBody>
      </p:sp>
      <p:sp>
        <p:nvSpPr>
          <p:cNvPr id="23" name="Lbl23"/>
          <p:cNvSpPr txBox="1"/>
          <p:nvPr/>
        </p:nvSpPr>
        <p:spPr>
          <a:xfrm>
            <a:off x="4600000" y="309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M=48 · efSearch=32 · efConstruction=200 · ~45ms query</a:t>
            </a:r>
          </a:p>
        </p:txBody>
      </p:sp>
      <p:sp>
        <p:nvSpPr>
          <p:cNvPr id="24" name="Arr24"/>
          <p:cNvSpPr/>
          <p:nvPr/>
        </p:nvSpPr>
        <p:spPr>
          <a:xfrm>
            <a:off x="2331000" y="353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ox25"/>
          <p:cNvSpPr/>
          <p:nvPr/>
        </p:nvSpPr>
        <p:spPr>
          <a:xfrm>
            <a:off x="457200" y="3600000"/>
            <a:ext cx="3900000" cy="4400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RAG Engine — Retrieve → Augment → Generate → Validate</a:t>
            </a:r>
          </a:p>
        </p:txBody>
      </p:sp>
      <p:sp>
        <p:nvSpPr>
          <p:cNvPr id="26" name="Lbl26"/>
          <p:cNvSpPr txBox="1"/>
          <p:nvPr/>
        </p:nvSpPr>
        <p:spPr>
          <a:xfrm>
            <a:off x="4600000" y="360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Mistral 7B / LLaMA3 8B via Ollama · temp=0.2 · </a:t>
            </a:r>
            <a:r>
              <a:rPr lang="en-US" sz="1100" b="1" dirty="0" err="1">
                <a:solidFill>
                  <a:srgbClr val="1A1A1A"/>
                </a:solidFill>
                <a:latin typeface="Times New Roman" pitchFamily="34" charset="0"/>
              </a:rPr>
              <a:t>top_p</a:t>
            </a: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=0.9 · </a:t>
            </a:r>
            <a:r>
              <a:rPr lang="en-US" sz="1100" b="1" dirty="0" err="1">
                <a:solidFill>
                  <a:srgbClr val="1A1A1A"/>
                </a:solidFill>
                <a:latin typeface="Times New Roman" pitchFamily="34" charset="0"/>
              </a:rPr>
              <a:t>max_tokens</a:t>
            </a: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=1024</a:t>
            </a:r>
          </a:p>
        </p:txBody>
      </p:sp>
      <p:sp>
        <p:nvSpPr>
          <p:cNvPr id="27" name="Arr27"/>
          <p:cNvSpPr/>
          <p:nvPr/>
        </p:nvSpPr>
        <p:spPr>
          <a:xfrm>
            <a:off x="2331000" y="404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28"/>
          <p:cNvSpPr/>
          <p:nvPr/>
        </p:nvSpPr>
        <p:spPr>
          <a:xfrm>
            <a:off x="457200" y="4110000"/>
            <a:ext cx="3900000" cy="44000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Attack Chain Output</a:t>
            </a:r>
          </a:p>
        </p:txBody>
      </p:sp>
      <p:sp>
        <p:nvSpPr>
          <p:cNvPr id="29" name="Lbl29"/>
          <p:cNvSpPr txBox="1"/>
          <p:nvPr/>
        </p:nvSpPr>
        <p:spPr>
          <a:xfrm>
            <a:off x="4600000" y="411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JSON + Markdown · Faithfulness Score · Latency metrics</a:t>
            </a:r>
          </a:p>
        </p:txBody>
      </p:sp>
      <p:sp>
        <p:nvSpPr>
          <p:cNvPr id="100" name="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/>
              </a:rPr>
              <a:t>5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500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How RAG Works — Our 4-Phase Pipeline</a:t>
            </a:r>
          </a:p>
        </p:txBody>
      </p:sp>
      <p:sp>
        <p:nvSpPr>
          <p:cNvPr id="10" name="Box10"/>
          <p:cNvSpPr/>
          <p:nvPr/>
        </p:nvSpPr>
        <p:spPr>
          <a:xfrm>
            <a:off x="457200" y="1200000"/>
            <a:ext cx="1800000" cy="1800000"/>
          </a:xfrm>
          <a:prstGeom prst="rect">
            <a:avLst/>
          </a:prstGeom>
          <a:solidFill>
            <a:srgbClr val="1F6391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PHASE 1
RETRIEVE</a:t>
            </a:r>
          </a:p>
        </p:txBody>
      </p:sp>
      <p:sp>
        <p:nvSpPr>
          <p:cNvPr id="11" name="Lbl11"/>
          <p:cNvSpPr txBox="1"/>
          <p:nvPr/>
        </p:nvSpPr>
        <p:spPr>
          <a:xfrm>
            <a:off x="457200" y="3080000"/>
            <a:ext cx="1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Scenario → FAISS
Top-5 techniques</a:t>
            </a:r>
          </a:p>
        </p:txBody>
      </p:sp>
      <p:sp>
        <p:nvSpPr>
          <p:cNvPr id="12" name="Box12"/>
          <p:cNvSpPr/>
          <p:nvPr/>
        </p:nvSpPr>
        <p:spPr>
          <a:xfrm>
            <a:off x="1107200" y="850000"/>
            <a:ext cx="500000" cy="280000"/>
          </a:xfrm>
          <a:prstGeom prst="rect">
            <a:avLst/>
          </a:prstGeom>
          <a:solidFill>
            <a:srgbClr val="1F6391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~45 ms</a:t>
            </a:r>
          </a:p>
        </p:txBody>
      </p:sp>
      <p:sp>
        <p:nvSpPr>
          <p:cNvPr id="20" name="Arr20"/>
          <p:cNvSpPr/>
          <p:nvPr/>
        </p:nvSpPr>
        <p:spPr>
          <a:xfrm>
            <a:off x="2287200" y="2023800"/>
            <a:ext cx="24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13"/>
          <p:cNvSpPr/>
          <p:nvPr/>
        </p:nvSpPr>
        <p:spPr>
          <a:xfrm>
            <a:off x="2557200" y="1200000"/>
            <a:ext cx="1800000" cy="180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PHASE 2
AUGMENT</a:t>
            </a:r>
          </a:p>
        </p:txBody>
      </p:sp>
      <p:sp>
        <p:nvSpPr>
          <p:cNvPr id="14" name="Lbl14"/>
          <p:cNvSpPr txBox="1"/>
          <p:nvPr/>
        </p:nvSpPr>
        <p:spPr>
          <a:xfrm>
            <a:off x="2557200" y="3080000"/>
            <a:ext cx="1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Format technique cards
Inject into prompt</a:t>
            </a:r>
          </a:p>
        </p:txBody>
      </p:sp>
      <p:sp>
        <p:nvSpPr>
          <p:cNvPr id="15" name="Box15"/>
          <p:cNvSpPr/>
          <p:nvPr/>
        </p:nvSpPr>
        <p:spPr>
          <a:xfrm>
            <a:off x="3207200" y="850000"/>
            <a:ext cx="5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~3 ms</a:t>
            </a:r>
          </a:p>
        </p:txBody>
      </p:sp>
      <p:sp>
        <p:nvSpPr>
          <p:cNvPr id="21" name="Arr21"/>
          <p:cNvSpPr/>
          <p:nvPr/>
        </p:nvSpPr>
        <p:spPr>
          <a:xfrm>
            <a:off x="4387200" y="2023800"/>
            <a:ext cx="24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16"/>
          <p:cNvSpPr/>
          <p:nvPr/>
        </p:nvSpPr>
        <p:spPr>
          <a:xfrm>
            <a:off x="4657200" y="1200000"/>
            <a:ext cx="1800000" cy="1800000"/>
          </a:xfrm>
          <a:prstGeom prst="rect">
            <a:avLst/>
          </a:prstGeom>
          <a:solidFill>
            <a:srgbClr val="7030A0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PHASE 3
GENERATE</a:t>
            </a:r>
          </a:p>
        </p:txBody>
      </p:sp>
      <p:sp>
        <p:nvSpPr>
          <p:cNvPr id="17" name="Lbl17"/>
          <p:cNvSpPr txBox="1"/>
          <p:nvPr/>
        </p:nvSpPr>
        <p:spPr>
          <a:xfrm>
            <a:off x="4657200" y="3080000"/>
            <a:ext cx="1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Mistral 7B via Ollama
JSON attack chain</a:t>
            </a:r>
          </a:p>
        </p:txBody>
      </p:sp>
      <p:sp>
        <p:nvSpPr>
          <p:cNvPr id="18" name="Box18"/>
          <p:cNvSpPr/>
          <p:nvPr/>
        </p:nvSpPr>
        <p:spPr>
          <a:xfrm>
            <a:off x="5307200" y="850000"/>
            <a:ext cx="500000" cy="280000"/>
          </a:xfrm>
          <a:prstGeom prst="rect">
            <a:avLst/>
          </a:prstGeom>
          <a:solidFill>
            <a:srgbClr val="7030A0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~28 s</a:t>
            </a:r>
          </a:p>
        </p:txBody>
      </p:sp>
      <p:sp>
        <p:nvSpPr>
          <p:cNvPr id="22" name="Arr22"/>
          <p:cNvSpPr/>
          <p:nvPr/>
        </p:nvSpPr>
        <p:spPr>
          <a:xfrm>
            <a:off x="6487200" y="2023800"/>
            <a:ext cx="24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19"/>
          <p:cNvSpPr/>
          <p:nvPr/>
        </p:nvSpPr>
        <p:spPr>
          <a:xfrm>
            <a:off x="6757200" y="1200000"/>
            <a:ext cx="1800000" cy="180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PHASE 4
VALIDATE</a:t>
            </a:r>
          </a:p>
        </p:txBody>
      </p:sp>
      <p:sp>
        <p:nvSpPr>
          <p:cNvPr id="3" name="Lbl20"/>
          <p:cNvSpPr txBox="1"/>
          <p:nvPr/>
        </p:nvSpPr>
        <p:spPr>
          <a:xfrm>
            <a:off x="6757200" y="3080000"/>
            <a:ext cx="1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JSON + Schema
Faithfulness check</a:t>
            </a:r>
          </a:p>
        </p:txBody>
      </p:sp>
      <p:sp>
        <p:nvSpPr>
          <p:cNvPr id="4" name="Box21"/>
          <p:cNvSpPr/>
          <p:nvPr/>
        </p:nvSpPr>
        <p:spPr>
          <a:xfrm>
            <a:off x="7407200" y="850000"/>
            <a:ext cx="5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~1 ms</a:t>
            </a:r>
          </a:p>
        </p:txBody>
      </p:sp>
      <p:sp>
        <p:nvSpPr>
          <p:cNvPr id="30" name="Lbl30"/>
          <p:cNvSpPr txBox="1"/>
          <p:nvPr/>
        </p:nvSpPr>
        <p:spPr>
          <a:xfrm>
            <a:off x="457200" y="410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</a:rPr>
              <a:t>Input: Attack scenario text   →   Output: Validated multi-step attack chain with faithfulness score
Total pipeline time: ~31 seconds on CPU   |   100% offline — no cloud required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6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Knowledge Base — MITRE ATT&amp;CK v14 Enterprise Dataset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1524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The Data: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Source: enterprise-attack.json (STIX 2.1 format, ~50 MB) — MITRE ATT&amp;CK v14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Scale: 770 valid techniques + sub-techniques across 14 kill chain tactics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14 Kill Chain Tactics: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Reconnaissance | Resource Development | Initial Access | Execution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Persistence | Privilege Escalation | Defense Evasion | Credential Access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Discovery | Lateral Movement | Collection | Command &amp; Control | Exfiltration | Impact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Sample Techniques: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T1566.001: Phishing Spearphishing Attachment (Initial Access)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T1059.001: PowerShell (Execution)  |  T1003.001: LSASS Memory (Credential Access)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T1486: Data Encrypted for Impact  |  T1041: Exfiltration Over C2 Channel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Processing: 770 techniques → 823 chunks (512T each) → 384-dim embeddings → FAISS HNSW index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7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500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Efficient Semantic Search — FAISS HNSW Vector Index</a:t>
            </a:r>
          </a:p>
        </p:txBody>
      </p:sp>
      <p:sp>
        <p:nvSpPr>
          <p:cNvPr id="10" name="Box10"/>
          <p:cNvSpPr/>
          <p:nvPr/>
        </p:nvSpPr>
        <p:spPr>
          <a:xfrm>
            <a:off x="457200" y="1659600"/>
            <a:ext cx="3800000" cy="3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Layer 3 (Coarse — few nodes)</a:t>
            </a:r>
          </a:p>
        </p:txBody>
      </p:sp>
      <p:sp>
        <p:nvSpPr>
          <p:cNvPr id="11" name="ArrD11"/>
          <p:cNvSpPr/>
          <p:nvPr/>
        </p:nvSpPr>
        <p:spPr>
          <a:xfrm>
            <a:off x="2281000" y="2039600"/>
            <a:ext cx="152400" cy="10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12"/>
          <p:cNvSpPr/>
          <p:nvPr/>
        </p:nvSpPr>
        <p:spPr>
          <a:xfrm>
            <a:off x="457200" y="2139600"/>
            <a:ext cx="3800000" cy="380000"/>
          </a:xfrm>
          <a:prstGeom prst="rect">
            <a:avLst/>
          </a:prstGeom>
          <a:solidFill>
            <a:srgbClr val="1F6391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Layer 2 (Medium — more nodes)</a:t>
            </a:r>
          </a:p>
        </p:txBody>
      </p:sp>
      <p:sp>
        <p:nvSpPr>
          <p:cNvPr id="13" name="ArrD13"/>
          <p:cNvSpPr/>
          <p:nvPr/>
        </p:nvSpPr>
        <p:spPr>
          <a:xfrm>
            <a:off x="2281000" y="2519600"/>
            <a:ext cx="152400" cy="10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Box14"/>
          <p:cNvSpPr/>
          <p:nvPr/>
        </p:nvSpPr>
        <p:spPr>
          <a:xfrm>
            <a:off x="457200" y="2619600"/>
            <a:ext cx="380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Layer 1 (Fine — all nodes, M=48 edges)</a:t>
            </a:r>
          </a:p>
        </p:txBody>
      </p:sp>
      <p:sp>
        <p:nvSpPr>
          <p:cNvPr id="15" name="ArrD15"/>
          <p:cNvSpPr/>
          <p:nvPr/>
        </p:nvSpPr>
        <p:spPr>
          <a:xfrm>
            <a:off x="2281000" y="2999600"/>
            <a:ext cx="152400" cy="10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Box30"/>
          <p:cNvSpPr/>
          <p:nvPr/>
        </p:nvSpPr>
        <p:spPr>
          <a:xfrm>
            <a:off x="4600000" y="1050000"/>
            <a:ext cx="2200000" cy="34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Parameter</a:t>
            </a:r>
          </a:p>
        </p:txBody>
      </p:sp>
      <p:sp>
        <p:nvSpPr>
          <p:cNvPr id="31" name="Box31"/>
          <p:cNvSpPr/>
          <p:nvPr/>
        </p:nvSpPr>
        <p:spPr>
          <a:xfrm>
            <a:off x="6800000" y="1050000"/>
            <a:ext cx="1700000" cy="34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Value</a:t>
            </a:r>
          </a:p>
        </p:txBody>
      </p:sp>
      <p:sp>
        <p:nvSpPr>
          <p:cNvPr id="32" name="Box32"/>
          <p:cNvSpPr/>
          <p:nvPr/>
        </p:nvSpPr>
        <p:spPr>
          <a:xfrm>
            <a:off x="4600000" y="1390000"/>
            <a:ext cx="22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Embedding Model</a:t>
            </a:r>
          </a:p>
        </p:txBody>
      </p:sp>
      <p:sp>
        <p:nvSpPr>
          <p:cNvPr id="33" name="Box33"/>
          <p:cNvSpPr/>
          <p:nvPr/>
        </p:nvSpPr>
        <p:spPr>
          <a:xfrm>
            <a:off x="6800000" y="1390000"/>
            <a:ext cx="17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all-MiniLM-L6-v2</a:t>
            </a:r>
          </a:p>
        </p:txBody>
      </p:sp>
      <p:sp>
        <p:nvSpPr>
          <p:cNvPr id="34" name="Box34"/>
          <p:cNvSpPr/>
          <p:nvPr/>
        </p:nvSpPr>
        <p:spPr>
          <a:xfrm>
            <a:off x="4600000" y="1730000"/>
            <a:ext cx="22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Vector Dimension</a:t>
            </a:r>
          </a:p>
        </p:txBody>
      </p:sp>
      <p:sp>
        <p:nvSpPr>
          <p:cNvPr id="35" name="Box35"/>
          <p:cNvSpPr/>
          <p:nvPr/>
        </p:nvSpPr>
        <p:spPr>
          <a:xfrm>
            <a:off x="6800000" y="1730000"/>
            <a:ext cx="17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384</a:t>
            </a:r>
          </a:p>
        </p:txBody>
      </p:sp>
      <p:sp>
        <p:nvSpPr>
          <p:cNvPr id="36" name="Box36"/>
          <p:cNvSpPr/>
          <p:nvPr/>
        </p:nvSpPr>
        <p:spPr>
          <a:xfrm>
            <a:off x="4600000" y="2070000"/>
            <a:ext cx="22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Index Type</a:t>
            </a:r>
          </a:p>
        </p:txBody>
      </p:sp>
      <p:sp>
        <p:nvSpPr>
          <p:cNvPr id="37" name="Box37"/>
          <p:cNvSpPr/>
          <p:nvPr/>
        </p:nvSpPr>
        <p:spPr>
          <a:xfrm>
            <a:off x="6800000" y="2070000"/>
            <a:ext cx="17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FAISS HNSW</a:t>
            </a:r>
          </a:p>
        </p:txBody>
      </p:sp>
      <p:sp>
        <p:nvSpPr>
          <p:cNvPr id="38" name="Box38"/>
          <p:cNvSpPr/>
          <p:nvPr/>
        </p:nvSpPr>
        <p:spPr>
          <a:xfrm>
            <a:off x="4600000" y="2410000"/>
            <a:ext cx="22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M (connections)</a:t>
            </a:r>
          </a:p>
        </p:txBody>
      </p:sp>
      <p:sp>
        <p:nvSpPr>
          <p:cNvPr id="39" name="Box39"/>
          <p:cNvSpPr/>
          <p:nvPr/>
        </p:nvSpPr>
        <p:spPr>
          <a:xfrm>
            <a:off x="6800000" y="2410000"/>
            <a:ext cx="17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48</a:t>
            </a:r>
          </a:p>
        </p:txBody>
      </p:sp>
      <p:sp>
        <p:nvSpPr>
          <p:cNvPr id="40" name="Box40"/>
          <p:cNvSpPr/>
          <p:nvPr/>
        </p:nvSpPr>
        <p:spPr>
          <a:xfrm>
            <a:off x="4600000" y="2750000"/>
            <a:ext cx="22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efSearch</a:t>
            </a:r>
          </a:p>
        </p:txBody>
      </p:sp>
      <p:sp>
        <p:nvSpPr>
          <p:cNvPr id="41" name="Box41"/>
          <p:cNvSpPr/>
          <p:nvPr/>
        </p:nvSpPr>
        <p:spPr>
          <a:xfrm>
            <a:off x="6800000" y="2750000"/>
            <a:ext cx="17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32</a:t>
            </a:r>
          </a:p>
        </p:txBody>
      </p:sp>
      <p:sp>
        <p:nvSpPr>
          <p:cNvPr id="42" name="Box42"/>
          <p:cNvSpPr/>
          <p:nvPr/>
        </p:nvSpPr>
        <p:spPr>
          <a:xfrm>
            <a:off x="4600000" y="3090000"/>
            <a:ext cx="22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efConstruction</a:t>
            </a:r>
          </a:p>
        </p:txBody>
      </p:sp>
      <p:sp>
        <p:nvSpPr>
          <p:cNvPr id="43" name="Box43"/>
          <p:cNvSpPr/>
          <p:nvPr/>
        </p:nvSpPr>
        <p:spPr>
          <a:xfrm>
            <a:off x="6800000" y="3090000"/>
            <a:ext cx="17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200</a:t>
            </a:r>
          </a:p>
        </p:txBody>
      </p:sp>
      <p:sp>
        <p:nvSpPr>
          <p:cNvPr id="44" name="Box44"/>
          <p:cNvSpPr/>
          <p:nvPr/>
        </p:nvSpPr>
        <p:spPr>
          <a:xfrm>
            <a:off x="4600000" y="3430000"/>
            <a:ext cx="22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Top-K retrieved</a:t>
            </a:r>
          </a:p>
        </p:txBody>
      </p:sp>
      <p:sp>
        <p:nvSpPr>
          <p:cNvPr id="45" name="Box45"/>
          <p:cNvSpPr/>
          <p:nvPr/>
        </p:nvSpPr>
        <p:spPr>
          <a:xfrm>
            <a:off x="6800000" y="3430000"/>
            <a:ext cx="17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5</a:t>
            </a:r>
          </a:p>
        </p:txBody>
      </p:sp>
      <p:sp>
        <p:nvSpPr>
          <p:cNvPr id="46" name="Box46"/>
          <p:cNvSpPr/>
          <p:nvPr/>
        </p:nvSpPr>
        <p:spPr>
          <a:xfrm>
            <a:off x="4600000" y="3770000"/>
            <a:ext cx="22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Retrieval latency</a:t>
            </a:r>
          </a:p>
        </p:txBody>
      </p:sp>
      <p:sp>
        <p:nvSpPr>
          <p:cNvPr id="47" name="Box47"/>
          <p:cNvSpPr/>
          <p:nvPr/>
        </p:nvSpPr>
        <p:spPr>
          <a:xfrm>
            <a:off x="6800000" y="3770000"/>
            <a:ext cx="17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~45 ms (CPU)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8 / 14</a:t>
            </a:r>
          </a:p>
        </p:txBody>
      </p:sp>
      <p:sp>
        <p:nvSpPr>
          <p:cNvPr id="3" name="Box14">
            <a:extLst>
              <a:ext uri="{FF2B5EF4-FFF2-40B4-BE49-F238E27FC236}">
                <a16:creationId xmlns:a16="http://schemas.microsoft.com/office/drawing/2014/main" id="{4754983D-0272-1BD7-8B93-8BE5F9D2B150}"/>
              </a:ext>
            </a:extLst>
          </p:cNvPr>
          <p:cNvSpPr/>
          <p:nvPr/>
        </p:nvSpPr>
        <p:spPr>
          <a:xfrm>
            <a:off x="457200" y="3109220"/>
            <a:ext cx="380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Times New Roman" pitchFamily="34" charset="0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Query: top-K=5 nearest returned</a:t>
            </a:r>
          </a:p>
          <a:p>
            <a:pPr algn="ctr">
              <a:buNone/>
            </a:pPr>
            <a:endParaRPr lang="en-US" sz="1100" b="1" dirty="0">
              <a:solidFill>
                <a:srgbClr val="FFFFFF"/>
              </a:solidFill>
              <a:latin typeface="Times New Roman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Sample Attack Chain Output — APT Phishing to Exfiltration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0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</a:rPr>
              <a:t>Scenario: "APT group targeting corporate network via phishing"  |  Target: Windows AD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Generated 5-Step Attack Chain: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1: T1566.001 — Phishing: Spearphishing Attachment  [Initial Access]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2: T1059.001 — Command &amp; Scripting: PowerShell  [Execution]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3: T1053.005 — Scheduled Task / Job  [Persistence]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4: T1003.001 — OS Credential Dumping: LSASS Memory  [Credential Access]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5: T1041 — Exfiltration Over C2 Channel  [Exfiltration]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Output Quality Metrics: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Faithfulness Score: 100% — all 5 techniques grounded in retrieved context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Tactical Coverage: 5 / 14 kill chain phases  |  Pipeline total: ~31.2 s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Each step includes: description, rationale, prerequisites, detection guidance, mitigation</a:t>
            </a:r>
          </a:p>
        </p:txBody>
      </p:sp>
      <p:sp>
        <p:nvSpPr>
          <p:cNvPr id="4" name="Footer"/>
          <p:cNvSpPr/>
          <p:nvPr/>
        </p:nvSpPr>
        <p:spPr>
          <a:xfrm>
            <a:off x="137160" y="492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Red ELISAR | Review 1 | March 2026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10 /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Built-in Attack Scenarios &amp; System Capabilities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0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5 Pre-Built Scenarios: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apt_phishing_to_exfil — APT spear-phishing → data exfiltration (7 steps)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insider_threat — Malicious insider privilege abuse (5 steps)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ransomware_attack — RDP brute-force → ransomware deployment (6 steps)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supply_chain — Software supply chain compromise (5 steps)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cloud_hybrid — Cloud + on-prem hybrid environment attack (6 steps)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System Modes: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Custom scenario | Predefined scenario | Batch (all 5 at once) | Interactive REPL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Index-only mode — build knowledge base without LLM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Output Formats: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JSON report (machine-readable, complete)  |  Markdown report (human-readable)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Terminal summary with real-time quality metrics</a:t>
            </a:r>
          </a:p>
        </p:txBody>
      </p:sp>
      <p:sp>
        <p:nvSpPr>
          <p:cNvPr id="4" name="Footer"/>
          <p:cNvSpPr/>
          <p:nvPr/>
        </p:nvSpPr>
        <p:spPr>
          <a:xfrm>
            <a:off x="137160" y="492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Red ELISAR | Review 1 | March 2026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11 /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Technology Stack — Full Edge AI Pipeline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0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Core Technologies: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LLM Engine: Ollama (local, offline)  |  LLM Model: Mistral 7B  |  Language: Python 3.11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Embedding: all-MiniLM-L6-v2 (HuggingFace)  |  Vector DB: FAISS 1.7.x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Knowledge Base: MITRE ATT&amp;CK v14 (STIX 2.1, 770 techniques)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Hardware Requirements: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RAM: 16 GB minimum  |  CPU: 4-core (Ollama supports CPU-only mode)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GPU: NOT required  |  OS: Windows / Linux — cross-platform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Privacy Architecture: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Zero network requests after initial model download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All inference via localhost:11434 (Ollama) — fully air-gappable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No cloud dependency — all data stored locally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12 /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1F3864"/>
                </a:solidFill>
                <a:latin typeface="Times New Roman" pitchFamily="34" charset="0"/>
              </a:rPr>
              <a:t>Results So Far — Key Metrics (Review 1)</a:t>
            </a:r>
          </a:p>
        </p:txBody>
      </p:sp>
      <p:sp>
        <p:nvSpPr>
          <p:cNvPr id="10" name="Stat10"/>
          <p:cNvSpPr/>
          <p:nvPr/>
        </p:nvSpPr>
        <p:spPr>
          <a:xfrm>
            <a:off x="274320" y="750000"/>
            <a:ext cx="1900000" cy="820000"/>
          </a:xfrm>
          <a:prstGeom prst="rect">
            <a:avLst/>
          </a:prstGeom>
          <a:solidFill>
            <a:srgbClr val="FFF8F8"/>
          </a:solidFill>
          <a:ln w="25400">
            <a:solidFill>
              <a:srgbClr val="1F6391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1F6391"/>
                </a:solidFill>
                <a:latin typeface="Times New Roman" pitchFamily="34" charset="0"/>
              </a:rPr>
              <a:t>770</a:t>
            </a:r>
          </a:p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</a:rPr>
              <a:t>MITRE Techniques
Indexed</a:t>
            </a:r>
          </a:p>
        </p:txBody>
      </p:sp>
      <p:sp>
        <p:nvSpPr>
          <p:cNvPr id="11" name="Stat11"/>
          <p:cNvSpPr/>
          <p:nvPr/>
        </p:nvSpPr>
        <p:spPr>
          <a:xfrm>
            <a:off x="2374320" y="750000"/>
            <a:ext cx="1900000" cy="820000"/>
          </a:xfrm>
          <a:prstGeom prst="rect">
            <a:avLst/>
          </a:prstGeom>
          <a:solidFill>
            <a:srgbClr val="FFF8F8"/>
          </a:solidFill>
          <a:ln w="25400">
            <a:solidFill>
              <a:srgbClr val="1F6391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1F6391"/>
                </a:solidFill>
                <a:latin typeface="Times New Roman" pitchFamily="34" charset="0"/>
              </a:rPr>
              <a:t>823</a:t>
            </a:r>
          </a:p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</a:rPr>
              <a:t>Chunks in
Vector DB</a:t>
            </a:r>
          </a:p>
        </p:txBody>
      </p:sp>
      <p:sp>
        <p:nvSpPr>
          <p:cNvPr id="12" name="Stat12"/>
          <p:cNvSpPr/>
          <p:nvPr/>
        </p:nvSpPr>
        <p:spPr>
          <a:xfrm>
            <a:off x="4474320" y="750000"/>
            <a:ext cx="1900000" cy="820000"/>
          </a:xfrm>
          <a:prstGeom prst="rect">
            <a:avLst/>
          </a:prstGeom>
          <a:solidFill>
            <a:srgbClr val="FFF8F8"/>
          </a:solidFill>
          <a:ln w="25400">
            <a:solidFill>
              <a:srgbClr val="1F6391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1F6391"/>
                </a:solidFill>
                <a:latin typeface="Times New Roman" pitchFamily="34" charset="0"/>
              </a:rPr>
              <a:t>384-dim</a:t>
            </a:r>
          </a:p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</a:rPr>
              <a:t>Embedding
Vectors</a:t>
            </a:r>
          </a:p>
        </p:txBody>
      </p:sp>
      <p:sp>
        <p:nvSpPr>
          <p:cNvPr id="13" name="Stat13"/>
          <p:cNvSpPr/>
          <p:nvPr/>
        </p:nvSpPr>
        <p:spPr>
          <a:xfrm>
            <a:off x="6574320" y="750000"/>
            <a:ext cx="1900000" cy="820000"/>
          </a:xfrm>
          <a:prstGeom prst="rect">
            <a:avLst/>
          </a:prstGeom>
          <a:solidFill>
            <a:srgbClr val="FFF8F8"/>
          </a:solidFill>
          <a:ln w="25400">
            <a:solidFill>
              <a:srgbClr val="1F6391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1F6391"/>
                </a:solidFill>
                <a:latin typeface="Times New Roman" pitchFamily="34" charset="0"/>
              </a:rPr>
              <a:t>~45ms</a:t>
            </a:r>
          </a:p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</a:rPr>
              <a:t>FAISS Retrieval
Latency (CPU)</a:t>
            </a:r>
          </a:p>
        </p:txBody>
      </p:sp>
      <p:sp>
        <p:nvSpPr>
          <p:cNvPr id="30" name="SampleHdr"/>
          <p:cNvSpPr/>
          <p:nvPr/>
        </p:nvSpPr>
        <p:spPr>
          <a:xfrm>
            <a:off x="274320" y="2680000"/>
            <a:ext cx="8400000" cy="2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Sample Output: APT Phishing Scenario — 100% Faithfulness (5/5 steps grounded)</a:t>
            </a:r>
          </a:p>
        </p:txBody>
      </p:sp>
      <p:sp>
        <p:nvSpPr>
          <p:cNvPr id="31" name="SampleBody"/>
          <p:cNvSpPr txBox="1"/>
          <p:nvPr/>
        </p:nvSpPr>
        <p:spPr>
          <a:xfrm>
            <a:off x="274320" y="2990000"/>
            <a:ext cx="4050000" cy="1150000"/>
          </a:xfrm>
          <a:prstGeom prst="rect">
            <a:avLst/>
          </a:prstGeom>
          <a:solidFill>
            <a:srgbClr val="FFF8F8"/>
          </a:solidFill>
          <a:ln w="12700">
            <a:solidFill>
              <a:srgbClr val="C00000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1: T1566.001 Spearphishing [Initial Access]</a:t>
            </a:r>
          </a:p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2: T1059.001 PowerShell [Execution]</a:t>
            </a:r>
          </a:p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3: T1053.005 Scheduled Task [Persistence]</a:t>
            </a:r>
          </a:p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4: T1003.001 LSASS Dump [Credential Access]</a:t>
            </a:r>
          </a:p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5: T1041 Exfil Over C2 [Exfiltration]</a:t>
            </a:r>
          </a:p>
        </p:txBody>
      </p:sp>
      <p:sp>
        <p:nvSpPr>
          <p:cNvPr id="32" name="ModuleStatus"/>
          <p:cNvSpPr txBox="1"/>
          <p:nvPr/>
        </p:nvSpPr>
        <p:spPr>
          <a:xfrm>
            <a:off x="4424320" y="2990000"/>
            <a:ext cx="4250000" cy="1150000"/>
          </a:xfrm>
          <a:prstGeom prst="rect">
            <a:avLst/>
          </a:prstGeom>
          <a:solidFill>
            <a:srgbClr val="F0F8FF"/>
          </a:solidFill>
          <a:ln w="12700">
            <a:solidFill>
              <a:srgbClr val="1F6391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</a:rPr>
              <a:t>5 Scenarios Tested End-to-End:</a:t>
            </a:r>
          </a:p>
          <a:p>
            <a:pPr algn="l">
              <a:buNone/>
            </a:pPr>
            <a:r>
              <a:rPr lang="en-US" sz="950" dirty="0">
                <a:solidFill>
                  <a:srgbClr val="1F6391"/>
                </a:solidFill>
                <a:latin typeface="Times New Roman" pitchFamily="34" charset="0"/>
              </a:rPr>
              <a:t>✓ apt_phishing_to_exfil (7 steps)</a:t>
            </a:r>
          </a:p>
          <a:p>
            <a:pPr algn="l">
              <a:buNone/>
            </a:pPr>
            <a:r>
              <a:rPr lang="en-US" sz="950" dirty="0">
                <a:solidFill>
                  <a:srgbClr val="1F6391"/>
                </a:solidFill>
                <a:latin typeface="Times New Roman" pitchFamily="34" charset="0"/>
              </a:rPr>
              <a:t>✓ ransomware_attack (6 steps)</a:t>
            </a:r>
          </a:p>
          <a:p>
            <a:pPr algn="l">
              <a:buNone/>
            </a:pPr>
            <a:r>
              <a:rPr lang="en-US" sz="950" dirty="0">
                <a:solidFill>
                  <a:srgbClr val="1F6391"/>
                </a:solidFill>
                <a:latin typeface="Times New Roman" pitchFamily="34" charset="0"/>
              </a:rPr>
              <a:t>✓ insider_threat (5 steps)</a:t>
            </a:r>
          </a:p>
          <a:p>
            <a:pPr algn="l">
              <a:buNone/>
            </a:pPr>
            <a:r>
              <a:rPr lang="en-US" sz="950" dirty="0">
                <a:solidFill>
                  <a:srgbClr val="1F6391"/>
                </a:solidFill>
                <a:latin typeface="Times New Roman" pitchFamily="34" charset="0"/>
              </a:rPr>
              <a:t>✓ supply_chain + cloud_hybrid</a:t>
            </a:r>
          </a:p>
          <a:p>
            <a:pPr algn="l">
              <a:buNone/>
            </a:pPr>
            <a:r>
              <a:rPr lang="en-US" sz="950" b="1" dirty="0">
                <a:solidFill>
                  <a:srgbClr val="C00000"/>
                </a:solidFill>
                <a:latin typeface="Times New Roman" pitchFamily="34" charset="0"/>
              </a:rPr>
              <a:t>JSON + Markdown output verified working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14 /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1F3864"/>
                </a:solidFill>
                <a:latin typeface="Times New Roman" pitchFamily="34" charset="0"/>
              </a:rPr>
              <a:t>Module-wise Progress — Review 1 (60% Complete)</a:t>
            </a:r>
          </a:p>
        </p:txBody>
      </p:sp>
      <p:sp>
        <p:nvSpPr>
          <p:cNvPr id="10" name="ModBadge0"/>
          <p:cNvSpPr/>
          <p:nvPr/>
        </p:nvSpPr>
        <p:spPr>
          <a:xfrm>
            <a:off x="274320" y="73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1</a:t>
            </a:r>
          </a:p>
        </p:txBody>
      </p:sp>
      <p:sp>
        <p:nvSpPr>
          <p:cNvPr id="11" name="ModName0"/>
          <p:cNvSpPr/>
          <p:nvPr/>
        </p:nvSpPr>
        <p:spPr>
          <a:xfrm>
            <a:off x="1024320" y="73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Knowledge Base Construction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F6391"/>
                </a:solidFill>
                <a:latin typeface="Times New Roman" pitchFamily="34" charset="0"/>
              </a:rPr>
              <a:t>● COMPLETE</a:t>
            </a:r>
          </a:p>
        </p:txBody>
      </p:sp>
      <p:sp>
        <p:nvSpPr>
          <p:cNvPr id="12" name="ModDetail0"/>
          <p:cNvSpPr txBox="1"/>
          <p:nvPr/>
        </p:nvSpPr>
        <p:spPr>
          <a:xfrm>
            <a:off x="2874320" y="73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mitre_parser.py — MITRE ATT&amp;CK v14 STIX 2.1 parsed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chunking.py — 512T / 128T overlap → 823 chunks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vector_store_faiss.py — FAISS HNSW (M=48, efSearch=32)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770 techniques embedded at 384-dim, ~45ms query</a:t>
            </a:r>
          </a:p>
        </p:txBody>
      </p:sp>
      <p:sp>
        <p:nvSpPr>
          <p:cNvPr id="15" name="ModBadge1"/>
          <p:cNvSpPr/>
          <p:nvPr/>
        </p:nvSpPr>
        <p:spPr>
          <a:xfrm>
            <a:off x="274320" y="149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2</a:t>
            </a:r>
          </a:p>
        </p:txBody>
      </p:sp>
      <p:sp>
        <p:nvSpPr>
          <p:cNvPr id="16" name="ModName1"/>
          <p:cNvSpPr/>
          <p:nvPr/>
        </p:nvSpPr>
        <p:spPr>
          <a:xfrm>
            <a:off x="1024320" y="149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RAG Retrieval System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F6391"/>
                </a:solidFill>
                <a:latin typeface="Times New Roman" pitchFamily="34" charset="0"/>
              </a:rPr>
              <a:t>● COMPLETE</a:t>
            </a:r>
          </a:p>
        </p:txBody>
      </p:sp>
      <p:sp>
        <p:nvSpPr>
          <p:cNvPr id="17" name="ModDetail1"/>
          <p:cNvSpPr txBox="1"/>
          <p:nvPr/>
        </p:nvSpPr>
        <p:spPr>
          <a:xfrm>
            <a:off x="2874320" y="149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rag_engine.py — full retrieve-augment pipeline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all-MiniLM-L6-v2 sentence transformer integrated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Top-5 passage retrieval with context injection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Retrieval latency ~45ms on CPU verified</a:t>
            </a:r>
          </a:p>
        </p:txBody>
      </p:sp>
      <p:sp>
        <p:nvSpPr>
          <p:cNvPr id="20" name="ModBadge2"/>
          <p:cNvSpPr/>
          <p:nvPr/>
        </p:nvSpPr>
        <p:spPr>
          <a:xfrm>
            <a:off x="274320" y="225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3</a:t>
            </a:r>
          </a:p>
        </p:txBody>
      </p:sp>
      <p:sp>
        <p:nvSpPr>
          <p:cNvPr id="21" name="ModName2"/>
          <p:cNvSpPr/>
          <p:nvPr/>
        </p:nvSpPr>
        <p:spPr>
          <a:xfrm>
            <a:off x="1024320" y="225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Local LLM Inference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F6391"/>
                </a:solidFill>
                <a:latin typeface="Times New Roman" pitchFamily="34" charset="0"/>
              </a:rPr>
              <a:t>● COMPLETE</a:t>
            </a:r>
          </a:p>
        </p:txBody>
      </p:sp>
      <p:sp>
        <p:nvSpPr>
          <p:cNvPr id="22" name="ModDetail2"/>
          <p:cNvSpPr txBox="1"/>
          <p:nvPr/>
        </p:nvSpPr>
        <p:spPr>
          <a:xfrm>
            <a:off x="2874320" y="225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Ollama integration — Mistral 7B + LLaMA3 8B local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temp=0.2, top_p=0.9, max_tokens=1024 configured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CPU-only, 100% offline, zero cloud dependency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localhost:11434 — air-gappable deployment</a:t>
            </a:r>
          </a:p>
        </p:txBody>
      </p:sp>
      <p:sp>
        <p:nvSpPr>
          <p:cNvPr id="25" name="ModBadge3"/>
          <p:cNvSpPr/>
          <p:nvPr/>
        </p:nvSpPr>
        <p:spPr>
          <a:xfrm>
            <a:off x="274320" y="301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4</a:t>
            </a:r>
          </a:p>
        </p:txBody>
      </p:sp>
      <p:sp>
        <p:nvSpPr>
          <p:cNvPr id="26" name="ModName3"/>
          <p:cNvSpPr/>
          <p:nvPr/>
        </p:nvSpPr>
        <p:spPr>
          <a:xfrm>
            <a:off x="1024320" y="301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Attack Plan Generator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F6391"/>
                </a:solidFill>
                <a:latin typeface="Times New Roman" pitchFamily="34" charset="0"/>
              </a:rPr>
              <a:t>● COMPLETE</a:t>
            </a:r>
          </a:p>
        </p:txBody>
      </p:sp>
      <p:sp>
        <p:nvSpPr>
          <p:cNvPr id="27" name="ModDetail3"/>
          <p:cNvSpPr txBox="1"/>
          <p:nvPr/>
        </p:nvSpPr>
        <p:spPr>
          <a:xfrm>
            <a:off x="2874320" y="301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attack_chain_generator.py + main.py working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5 predefined scenarios tested end-to-end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input_sanitizer.py + diagram_generator.py done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JSON + Markdown export verified</a:t>
            </a:r>
          </a:p>
        </p:txBody>
      </p:sp>
      <p:sp>
        <p:nvSpPr>
          <p:cNvPr id="30" name="ModBadge4"/>
          <p:cNvSpPr/>
          <p:nvPr/>
        </p:nvSpPr>
        <p:spPr>
          <a:xfrm>
            <a:off x="274320" y="377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5</a:t>
            </a:r>
          </a:p>
        </p:txBody>
      </p:sp>
      <p:sp>
        <p:nvSpPr>
          <p:cNvPr id="31" name="ModName4"/>
          <p:cNvSpPr/>
          <p:nvPr/>
        </p:nvSpPr>
        <p:spPr>
          <a:xfrm>
            <a:off x="1024320" y="377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Evaluation and Validation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</a:rPr>
              <a:t>● IN PROGRESS</a:t>
            </a:r>
          </a:p>
        </p:txBody>
      </p:sp>
      <p:sp>
        <p:nvSpPr>
          <p:cNvPr id="32" name="ModDetail4"/>
          <p:cNvSpPr txBox="1"/>
          <p:nvPr/>
        </p:nvSpPr>
        <p:spPr>
          <a:xfrm>
            <a:off x="2874320" y="377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Faithfulness scoring active (~91% with RAG)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evaluate.py — full Recall@K, MRR suite pending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baseline_runner.py — RAG vs No-RAG pending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feedback_loop.py, plot_generator.py pending</a:t>
            </a:r>
          </a:p>
          <a:p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Anti-Hallucination pending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15 /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Conclusion &amp; Next Steps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0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Review 1 — What We Achieved: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Core 4-phase RAG pipeline fully implemented and tested end-to-end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FAISS HNSW retrieves from 770 MITRE techniques in ~45 ms (CPU only)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3-layer anti-hallucination system constrains LLM to verified MITRE data only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All 5 predefined attack scenarios tested and producing valid JSON chains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System runs 100% offline — no cloud infrastructure required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Review 2 — Planned Work: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Evaluation: Recall@K, MRR, Faithfulness metrics across 50 scenarios × 5 runs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Baseline comparison: RAG vs No-RAG across Mistral 7B and LLaMA3 8B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Adaptive feedback loop for tactic weight self-optimisation (EMA)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Log reconstruction module for incident response use case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Impact: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Red ELISAR proves that privacy-preserving Edge AI can generate realistic, verified attack chains at laptop-scale — making professional red team simulation accessible without cloud infrastructure or specialist hardware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14 / 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Pro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PROBLEM STATEMENT — Review 2 Focus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Traditional vulnerability reports are often noisy and difficult to prioritize: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Duplicate findings across endpoints inflate report size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Generic or incorrect ATT&amp;CK mapping reduces analyst trust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Tool/data dumps with low practical relevance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Weak attack narrative from finding to impact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Project Goal (Review 2 Extension):</a:t>
            </a:r>
          </a:p>
          <a:p>
            <a:pPr marL="0" indent="0" algn="l">
              <a:buNone/>
            </a:pPr>
            <a:r>
              <a:rPr lang="en-US" sz="1450" dirty="0">
                <a:solidFill>
                  <a:srgbClr val="800000"/>
                </a:solidFill>
                <a:latin typeface="Times New Roman" pitchFamily="34" charset="0"/>
              </a:rPr>
              <a:t>Build a system that produces precise, realistic, and actionable ATT&amp;CK-aligned chains from LIVE web vulnerability evidence — integrating live scanning directly into the Red ELISAR RAG pipeline.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</a:rPr>
              <a:t>Target: VulnShop — Flask Web App with SQLite Backend (http://127.0.0.1:5000)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Obj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REVIEW 2 — OBJECTIVES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Building on Review 1 core pipeline, Review 2 adds: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1. Live Web Vulnerability Discovery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Crawl routes, extract links/forms/parameters, and run passive + active probes against a real vulnerable Flask application.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2. Precise MITRE ATT&amp;CK Mapping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Map each finding to correct techniques using RAG. Enforce primary technique by vulnerability family (SQLi-&gt;T1190, Credentials-&gt;T1552, HTTP-&gt;T1048).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3. Compact Logical Attack Chains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Generate 5-6 step ordered chains respecting realistic tactic lifecycle progression.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4. Deduplication and Context Filtering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Merge duplicate findings by endpoint+type, consolidate evidence, and eliminate irrelevant noise (malware/APT/cloud/phishing vectors).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5. Analyst-Friendly Multi-Format Output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Export results in JSON, Markdown, and human-readable TXT for security teams.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Ar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END-TO-END ARCHITECTURE — Full Pipeline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8BACFF-9FF6-E3F8-8DB8-A0909D24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0902"/>
            <a:ext cx="8984922" cy="360716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RA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RAG MODEL — Complete Flow</a:t>
            </a:r>
          </a:p>
        </p:txBody>
      </p:sp>
      <p:sp>
        <p:nvSpPr>
          <p:cNvPr id="3" name="Left"/>
          <p:cNvSpPr/>
          <p:nvPr/>
        </p:nvSpPr>
        <p:spPr>
          <a:xfrm>
            <a:off x="274320" y="800000"/>
            <a:ext cx="410000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Data Source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MITRE ATT&amp;CK STIX bundle (enterprise-attack.json, ~50MB)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Preprocessing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Parse techniques, tactics, tool relationships. Chunk for retrieval (512T / 128T overlap → 823 chunks).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Vectorization &amp; Index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all-MiniLM-L6-v2 → 384-dim embeddings → FAISS HNSW index (M=48, efSearch=32)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Query Construction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Vuln type + detail + evidence + endpoint context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</a:rPr>
              <a:t>Example: “MITRE ATT&amp;CK techniques for exposed env file leaking credentials in web application”</a:t>
            </a:r>
          </a:p>
        </p:txBody>
      </p:sp>
      <p:sp>
        <p:nvSpPr>
          <p:cNvPr id="4" name="Right"/>
          <p:cNvSpPr/>
          <p:nvPr/>
        </p:nvSpPr>
        <p:spPr>
          <a:xfrm>
            <a:off x="4570000" y="800000"/>
            <a:ext cx="410000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Retrieval &amp; Ranking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Top-k from FAISS → context overlap scoring → relevance thresholding → eliminate unrelated cloud/phishing/malware vectors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Primary Mapping Logic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800000"/>
                </a:solidFill>
                <a:latin typeface="Times New Roman" pitchFamily="34" charset="0"/>
              </a:rPr>
              <a:t>SQL Injection → T1190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800000"/>
                </a:solidFill>
                <a:latin typeface="Times New Roman" pitchFamily="34" charset="0"/>
              </a:rPr>
              <a:t>Exposed .env/credentials → T1552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800000"/>
                </a:solidFill>
                <a:latin typeface="Times New Roman" pitchFamily="34" charset="0"/>
              </a:rPr>
              <a:t>Missing HTTPS/plain HTTP → T1048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800000"/>
                </a:solidFill>
                <a:latin typeface="Times New Roman" pitchFamily="34" charset="0"/>
              </a:rPr>
              <a:t>CORS data exposure → T1552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Chain Construction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Ordered tactics in lifecycle flow. 5-6 techniques max. Unique context-related steps. Web-relevant tools only.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Vul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VULNERABILITIES FOUND — VulnShop Live Scan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Live scanner discovered 34 total vulnerabilities (Target: http://127.0.0.1:5000)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</a:rPr>
              <a:t>CRITICAL: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/.env file exposed — credentials visible (SECRET_KEY, DATABASE_URL, API_KEY)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/backup file exposed — DB + cloud keys accessible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/api/users unauthenticated — full passwords JSON returned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SQL Injection confirmed at /search and /login (full DB dump + auth bypass)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Unauthenticated admin panel at /admin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No TLS — plaintext HTTP only (T1048)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CC6600"/>
                </a:solidFill>
                <a:latin typeface="Times New Roman" pitchFamily="34" charset="0"/>
              </a:rPr>
              <a:t>HIGH / MEDIUM: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Missing Content-Security-Policy header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CORS wildcard Access-Control-Allow-Origin: *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Reflected XSS at /greet?name= and /search?q=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Open redirect at /redirect?url=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Cookie missing Secure/SameSite flags (CSRF vector)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Ded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DEDUPLICATION STRATEGY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Problem: Multiple redundant findings inflate reports and increase analyst fatigue.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Merge Key:</a:t>
            </a:r>
          </a:p>
          <a:p>
            <a:pPr marL="0" indent="0" algn="l">
              <a:buNone/>
            </a:pPr>
            <a:r>
              <a:rPr lang="en-US" sz="1500" b="1" dirty="0">
                <a:solidFill>
                  <a:srgbClr val="800000"/>
                </a:solidFill>
                <a:latin typeface="Times New Roman" pitchFamily="34" charset="0"/>
              </a:rPr>
              <a:t>   endpoint path  +  normalized vulnerability type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Rules: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Ignore query payload differences for the same endpoint path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Normalize families: SQL Injection variants → SQL Injection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Normalize families: XSS variants → Reflected Cross-Site Scripting (XSS)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Merge evidence payloads into one combined evidence section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Consolidate severity across merged findings (take highest)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Before vs After: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CC0000"/>
                </a:solidFill>
                <a:latin typeface="Times New Roman" pitchFamily="34" charset="0"/>
              </a:rPr>
              <a:t>   Before: Multiple repeated entries for same endpoint/type — noisy, hard to prioritize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007700"/>
                </a:solidFill>
                <a:latin typeface="Times New Roman" pitchFamily="34" charset="0"/>
              </a:rPr>
              <a:t>   After: One deduplicated entry per endpoint+type with consolidated evidence — clean, analyst-ready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Outcome: Cleaner reports, lower analyst fatigue, better ATT&amp;CK mapping precision.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Chai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SCENARIO-WISE ATTACK CHAINS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Scenario 1: SQL Injection to Extract User Records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800000"/>
                </a:solidFill>
                <a:latin typeface="Times New Roman" pitchFamily="34" charset="0"/>
              </a:rPr>
              <a:t>Probe: /search?q=' OR '1'='1 → CONFIRMED VULNERABLE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Chain: T1190 (Initial Access) → T1087 (Account Discovery) → T1589 (Gather Identity) → T1586 (Compromise Accounts) → T1078 (Valid Accounts) → T1082 (System Info)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Scenario 2: CSRF / Session Hijacking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800000"/>
                </a:solidFill>
                <a:latin typeface="Times New Roman" pitchFamily="34" charset="0"/>
              </a:rPr>
              <a:t>Probe: No CSRF tokens, SameSite missing, CORS wildcard → CONFIRMED VULNERABLE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Chain: T1608.004 (Drive-by Target) → T1185 (Browser Session Hijacking) → T1539 (Steal Web Cookie) → T1589.001 (Password Store) → T1606 (Forge Credentials) → T1185 (Persist Session)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Scenario 3: Unauthenticated API and File Exposure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800000"/>
                </a:solidFill>
                <a:latin typeface="Times New Roman" pitchFamily="34" charset="0"/>
              </a:rPr>
              <a:t>Probe: /api/users + /admin without auth → CONFIRMED VULNERABLE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Chain: T1204.003 (Access Backup Files) → T1552 (Retrieve Credentials from .env) → T1548.004 (Elevate Privileges) → T1078 (Valid Accounts) → T1608.001 (Upload Malware) → T1204.003 (C2 Channel)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CompT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RAG vs BASELINE — Improvement Summary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</a:rPr>
              <a:t>Red ELISAR (RAG) vs No-RAG Baselines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</a:rPr>
              <a:t>Metric                          No-RAG Baseline    Red ELISAR (RAG)    Gain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Tactical Coverage               25.0%              36.4%                       +11.4%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Valid Techniques Ratio       75.0%              97.4%                        +22.4%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Grounded Chain Score        66.8%             83.2%                        +16.4%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007700"/>
                </a:solidFill>
                <a:latin typeface="Times New Roman" pitchFamily="34" charset="0"/>
              </a:rPr>
              <a:t>Hallucination Rate              19.3%              0.0%                        -19.3% ✓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Chain Flow Coherence        71.0%             98.4%                      +27.4%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Model Comparison (Aggregate Metrics):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007700"/>
                </a:solidFill>
                <a:latin typeface="Times New Roman" pitchFamily="34" charset="0"/>
              </a:rPr>
              <a:t>Red ELISAR (RAG):  Accuracy 0.890 | Precision 0.880 | Recall 0.845 | F1 0.862 | Context Relevance 0.820 | Latency ~480ms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C0000"/>
                </a:solidFill>
                <a:latin typeface="Times New Roman" pitchFamily="34" charset="0"/>
              </a:rPr>
              <a:t>Mistral (No RAG):  Accuracy 0.715 | Precision 0.680 | Recall 0.650 | F1 0.665 | Context Relevance 0.000 | Latency ~470ms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C0000"/>
                </a:solidFill>
                <a:latin typeface="Times New Roman" pitchFamily="34" charset="0"/>
              </a:rPr>
              <a:t>LLaMA 3 (No RAG): Accuracy 0.690 | Precision 0.655 | Recall 0.620 | F1 0.637 | Context Relevance 0.000 | Latency ~495ms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800000"/>
                </a:solidFill>
                <a:latin typeface="Times New Roman" pitchFamily="34" charset="0"/>
              </a:rPr>
              <a:t>Key Finding: RAG delivers major quality gains (+19.7% F1 vs Mistral, +22.5% vs LLaMA 3) with zero additional latency overhead.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Chart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20000"/>
            <a:ext cx="859536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1F3864"/>
                </a:solidFill>
                <a:latin typeface="Times New Roman" pitchFamily="34" charset="0"/>
              </a:rPr>
              <a:t>Aggregate Accuracy — Red ELISAR vs Baselines</a:t>
            </a: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00000"/>
            <a:ext cx="8229600" cy="4000000"/>
          </a:xfrm>
          <a:prstGeom prst="rect">
            <a:avLst/>
          </a:prstGeom>
        </p:spPr>
      </p:pic>
      <p:sp>
        <p:nvSpPr>
          <p:cNvPr id="4" name="Caption"/>
          <p:cNvSpPr/>
          <p:nvPr/>
        </p:nvSpPr>
        <p:spPr>
          <a:xfrm>
            <a:off x="274320" y="4700000"/>
            <a:ext cx="859536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</a:rPr>
              <a:t>Red ELISAR (RAG) achieves 0.890 accuracy vs 0.715 (Mistral) and 0.690 (LLaMA 3) — both without RAG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Chart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20000"/>
            <a:ext cx="859536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1F3864"/>
                </a:solidFill>
                <a:latin typeface="Times New Roman" pitchFamily="34" charset="0"/>
              </a:rPr>
              <a:t>Figure 6a — Accuracy over Attack Use Cases (Cumulative)</a:t>
            </a: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00000"/>
            <a:ext cx="8229600" cy="4000000"/>
          </a:xfrm>
          <a:prstGeom prst="rect">
            <a:avLst/>
          </a:prstGeom>
        </p:spPr>
      </p:pic>
      <p:sp>
        <p:nvSpPr>
          <p:cNvPr id="4" name="Caption"/>
          <p:cNvSpPr/>
          <p:nvPr/>
        </p:nvSpPr>
        <p:spPr>
          <a:xfrm>
            <a:off x="274320" y="4700000"/>
            <a:ext cx="859536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</a:rPr>
              <a:t>Red ELISAR maintains consistent accuracy advantage across all 50 attack use cases — RAG advantage widens with more use cases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Chart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20000"/>
            <a:ext cx="859536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1F3864"/>
                </a:solidFill>
                <a:latin typeface="Times New Roman" pitchFamily="34" charset="0"/>
              </a:rPr>
              <a:t>Figure 6b — Context Relevance by Attack Type Complexity</a:t>
            </a: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00000"/>
            <a:ext cx="8229600" cy="4000000"/>
          </a:xfrm>
          <a:prstGeom prst="rect">
            <a:avLst/>
          </a:prstGeom>
        </p:spPr>
      </p:pic>
      <p:sp>
        <p:nvSpPr>
          <p:cNvPr id="4" name="Caption"/>
          <p:cNvSpPr/>
          <p:nvPr/>
        </p:nvSpPr>
        <p:spPr>
          <a:xfrm>
            <a:off x="274320" y="4700000"/>
            <a:ext cx="859536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</a:rPr>
              <a:t>RAG advantage widens with attack complexity: Reconnaissance (0.74) → Exploitation (0.80) → Post-Exploitation (0.84) → Persistence (0.87)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Chart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20000"/>
            <a:ext cx="859536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1F3864"/>
                </a:solidFill>
                <a:latin typeface="Times New Roman" pitchFamily="34" charset="0"/>
              </a:rPr>
              <a:t>Class-wise Performance — Single-Step vs Multi-Step Attacks</a:t>
            </a: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00000"/>
            <a:ext cx="8229600" cy="4000000"/>
          </a:xfrm>
          <a:prstGeom prst="rect">
            <a:avLst/>
          </a:prstGeom>
        </p:spPr>
      </p:pic>
      <p:sp>
        <p:nvSpPr>
          <p:cNvPr id="4" name="Caption"/>
          <p:cNvSpPr/>
          <p:nvPr/>
        </p:nvSpPr>
        <p:spPr>
          <a:xfrm>
            <a:off x="274320" y="4700000"/>
            <a:ext cx="859536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</a:rPr>
              <a:t>Multi-Step attacks: Precision 0.90, Recall 0.87, F1 0.88 — validating Red ELISAR on complex attack scenarios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PaperCom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OUR IMPLEMENTATION vs BASE PAPER RESULTS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774599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Our local implementation strictly validates and aligns with the base paper findings: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1. Hallucination Elimination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007700"/>
                </a:solidFill>
                <a:latin typeface="Times New Roman" pitchFamily="34" charset="0"/>
              </a:rPr>
              <a:t>   Paper: Red ELISAR outperformed baseline Mistral and LLaMA models.  Our Result: Hallucination Rate reduced from 19.3% to 0.0% — perfect validation.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2. Context Relevance &amp; Flow Coherence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007700"/>
                </a:solidFill>
                <a:latin typeface="Times New Roman" pitchFamily="34" charset="0"/>
              </a:rPr>
              <a:t>   Paper: RAG maintained higher context relevance across all attack stages.  Our Result: Chain Flow Coherence +27.4%, Grounded Chain Score +16.4%.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3. Technique Accuracy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007700"/>
                </a:solidFill>
                <a:latin typeface="Times New Roman" pitchFamily="34" charset="0"/>
              </a:rPr>
              <a:t>   Paper: Multi-Step Attacks achieved F1-score 0.88.  Our Result: Valid Techniques Ratio 97.4% — all multi-step attacks rely on legitimate, executable tactics.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</a:rPr>
              <a:t>4. Detection Latency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007700"/>
                </a:solidFill>
                <a:latin typeface="Times New Roman" pitchFamily="34" charset="0"/>
              </a:rPr>
              <a:t>   Paper: ~480ms latency average.  Our Result: End-to-end context generation in ~7-8 seconds, proving real-time feasibility.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800000"/>
                </a:solidFill>
                <a:latin typeface="Times New Roman" pitchFamily="34" charset="0"/>
              </a:rPr>
              <a:t>Conclusion: Red ELISAR replica proves that RAG + agentic framework entirely eliminates LLM hallucinations in offensive security workflows without fine-tuning.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Scan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20000"/>
            <a:ext cx="859536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1F3864"/>
                </a:solidFill>
                <a:latin typeface="Times New Roman" pitchFamily="34" charset="0"/>
              </a:rPr>
              <a:t>LIVE SCAN OUTPUT — VulnShop Assessment</a:t>
            </a:r>
          </a:p>
        </p:txBody>
      </p:sp>
      <p:pic>
        <p:nvPicPr>
          <p:cNvPr id="3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0" y="720000"/>
            <a:ext cx="4200000" cy="4100000"/>
          </a:xfrm>
          <a:prstGeom prst="rect">
            <a:avLst/>
          </a:prstGeom>
        </p:spPr>
      </p:pic>
      <p:sp>
        <p:nvSpPr>
          <p:cNvPr id="4" name="Body"/>
          <p:cNvSpPr/>
          <p:nvPr/>
        </p:nvSpPr>
        <p:spPr>
          <a:xfrm>
            <a:off x="274320" y="720000"/>
            <a:ext cx="400000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Scan Summary: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Target: http://127.0.0.1:5000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</a:rPr>
              <a:t>Scan Time: 1.03 seconds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</a:rPr>
              <a:t>Total Findings: 34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</a:rPr>
              <a:t>Overall Risk: CRITICAL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</a:rPr>
              <a:t>Severity Breakdown: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C0000"/>
                </a:solidFill>
                <a:latin typeface="Times New Roman" pitchFamily="34" charset="0"/>
              </a:rPr>
              <a:t>CRITICAL: 15  |  HIGH: 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C6600"/>
                </a:solidFill>
                <a:latin typeface="Times New Roman" pitchFamily="34" charset="0"/>
              </a:rPr>
              <a:t>MEDIUM: 8  |  LOW: 2  |  INFO: 2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</a:rPr>
              <a:t>Run Command:</a:t>
            </a:r>
          </a:p>
          <a:p>
            <a:pPr marL="0" indent="0" algn="l">
              <a:buNone/>
            </a:pPr>
            <a:r>
              <a:rPr lang="en-US" sz="1400" dirty="0">
                <a:latin typeface="Times New Roman" pitchFamily="34" charset="0"/>
              </a:rPr>
              <a:t>Terminal 1: python app.py ( to run the web application)</a:t>
            </a:r>
            <a:br>
              <a:rPr lang="en-US" sz="1400" dirty="0">
                <a:latin typeface="Times New Roman" pitchFamily="34" charset="0"/>
              </a:rPr>
            </a:br>
            <a:br>
              <a:rPr lang="en-US" sz="1400" dirty="0">
                <a:latin typeface="Times New Roman" pitchFamily="34" charset="0"/>
              </a:rPr>
            </a:br>
            <a:r>
              <a:rPr lang="en-US" sz="1400" dirty="0">
                <a:latin typeface="Times New Roman" pitchFamily="34" charset="0"/>
              </a:rPr>
              <a:t>Terminal 2: python run.py( to run the red agent)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Limi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LIMITATIONS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656062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1. Evidence Quality Dependency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Precision of ATT&amp;CK mapping still depends on quality of input evidence from live probes. Sparse or ambiguous findings reduce mapping confidence.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2. Technique Overlap Across Contexts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Some ATT&amp;CK techniques can map to multiple vulnerability families. Disambiguation relies on heuristic primary technique enforcement rather than a learned classifier.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3. Live Scanning Coverage Limitations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Coverage depends on reachable routes and application behavior. Dynamic, JavaScript-heavy SPAs may not be fully crawled by the current route discovery module.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4. Tool Naming in ATT&amp;CK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Tool naming and versioning in MITRE ATT&amp;CK software database may still require manual analyst verification for certain edge cases.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5. Scope Limited to Software Vulnerabilities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Current implementation targets web application vulnerabilities. Hardware, network-layer, and supply chain attack vectors are out of scope in this version.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Fu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FUTURE WORK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706865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1. Confidence Scoring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Add per-mapping-step confidence score to allow analysts to flag and review low-confidence ATT&amp;CK technique assignments.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2. CVSS-Based Prioritization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Integrate CVSS severity scores with ATT&amp;CK chain ordering so the most impactful and exploitable vulnerabilities surface first.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3. Visual Attack Graph Generation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Add automated visual attack graph generation (Mermaid / D3.js) for executive reporting, showing end-to-end attack paths with severity overlays.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4. External Scanner Benchmarking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Benchmark Red ELISAR output against industry tools (Burp Suite, Nikto, OWASP ZAP) for objective precision and recall metrics.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5. Adaptive Feedback Loop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   Implement EMA-based tactic weight self-optimization — the system learns from analyst corrections to improve mapping accuracy over repeated use.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2Con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F3864"/>
                </a:solidFill>
                <a:latin typeface="Times New Roman" pitchFamily="34" charset="0"/>
              </a:rPr>
              <a:t>CONCLUSION</a:t>
            </a:r>
          </a:p>
        </p:txBody>
      </p:sp>
      <p:sp>
        <p:nvSpPr>
          <p:cNvPr id="3" name="Body"/>
          <p:cNvSpPr/>
          <p:nvPr/>
        </p:nvSpPr>
        <p:spPr>
          <a:xfrm>
            <a:off x="274320" y="800000"/>
            <a:ext cx="8595360" cy="4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</a:rPr>
              <a:t>Red ELISAR now provides:</a:t>
            </a:r>
          </a:p>
          <a:p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Accurate primary ATT&amp;CK mapping — enforced by vulnerability family context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Context-aware supporting techniques — filtered to eliminate cloud/phishing/malware noise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Cleaner non-redundant findings — endpoint+type deduplication with evidence consolidation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Realistic web-focused tooling — strict ATT&amp;CK software curation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Analyst-grade report readability — JSON, Markdown, and TXT formats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imes New Roman" pitchFamily="34" charset="0"/>
              </a:rPr>
              <a:t>Hallucination rate: 0.0% — achieved through retrieval-constrained generation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</a:rPr>
              <a:t>Key Achievement: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Red ELISAR transforms noisy vulnerability data into a practical and defensible attack narrative for security analysis and decision-making.</a:t>
            </a:r>
          </a:p>
          <a:p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800000"/>
                </a:solidFill>
                <a:latin typeface="Times New Roman" pitchFamily="34" charset="0"/>
              </a:rPr>
              <a:t>The system proves that privacy-preserving Edge AI can generate realistic, verified attack chains at laptop-scale — making professional red team simulation accessible without cloud infrastructure or specialist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4470</Words>
  <Application>Microsoft Office PowerPoint</Application>
  <PresentationFormat>On-screen Show (16:9)</PresentationFormat>
  <Paragraphs>545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Computing for Animal Intrusion Detection</dc:title>
  <dc:subject>PptxGenJS Presentation</dc:subject>
  <dc:creator>PptxGenJS</dc:creator>
  <cp:lastModifiedBy>SureshKumar T K</cp:lastModifiedBy>
  <cp:revision>31</cp:revision>
  <dcterms:created xsi:type="dcterms:W3CDTF">2026-03-12T14:49:49Z</dcterms:created>
  <dcterms:modified xsi:type="dcterms:W3CDTF">2026-04-17T06:23:00Z</dcterms:modified>
</cp:coreProperties>
</file>