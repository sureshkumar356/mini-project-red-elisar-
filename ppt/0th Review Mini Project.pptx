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2" r:id="rId6"/>
    <p:sldId id="261" r:id="rId7"/>
    <p:sldId id="262" r:id="rId8"/>
    <p:sldId id="273" r:id="rId9"/>
    <p:sldId id="274" r:id="rId10"/>
    <p:sldId id="277" r:id="rId11"/>
    <p:sldId id="267" r:id="rId12"/>
    <p:sldId id="275" r:id="rId13"/>
    <p:sldId id="268" r:id="rId14"/>
    <p:sldId id="269" r:id="rId15"/>
    <p:sldId id="276" r:id="rId16"/>
    <p:sldId id="270" r:id="rId17"/>
  </p:sldIdLst>
  <p:sldSz cx="18288000" cy="10287000"/>
  <p:notesSz cx="6858000" cy="9144000"/>
  <p:embeddedFontLst>
    <p:embeddedFont>
      <p:font typeface="Canva Sans" panose="020B0604020202020204" charset="0"/>
      <p:regular r:id="rId19"/>
    </p:embeddedFont>
    <p:embeddedFont>
      <p:font typeface="PT Serif Bold" panose="020B0604020202020204" charset="0"/>
      <p:regular r:id="rId20"/>
    </p:embeddedFont>
    <p:embeddedFont>
      <p:font typeface="PT Serif Bold Italics" panose="020B0604020202020204" charset="0"/>
      <p:regular r:id="rId21"/>
    </p:embeddedFont>
    <p:embeddedFont>
      <p:font typeface="Times New Roman Bold" panose="02020803070505020304" pitchFamily="18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03B4F-599F-460C-A680-DEDB53ADAA2D}" v="58" dt="2026-02-14T17:26:06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444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DB0B3-3BDC-206B-64DB-C8551BE4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E5FA8-0707-6737-7B7C-198A7BAE42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26C47-6A47-BF60-F105-3A47E8E65C8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0E10EA8-A52B-0DD2-2B14-994DF07A8B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1F345C8-26D9-39D9-5679-A2E389389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3C967-16DE-ECC3-CE11-A4EA614BC4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C2BAB-7BB0-7D7E-0008-D9C20B789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36050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6750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link.springer.com/article/10.1007/s11280-025-01393-5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401800" y="228602"/>
            <a:ext cx="3498273" cy="2052372"/>
            <a:chOff x="0" y="0"/>
            <a:chExt cx="4664364" cy="27364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64329" cy="2736469"/>
            </a:xfrm>
            <a:custGeom>
              <a:avLst/>
              <a:gdLst/>
              <a:ahLst/>
              <a:cxnLst/>
              <a:rect l="l" t="t" r="r" b="b"/>
              <a:pathLst>
                <a:path w="4664329" h="2736469">
                  <a:moveTo>
                    <a:pt x="0" y="0"/>
                  </a:moveTo>
                  <a:lnTo>
                    <a:pt x="4664329" y="0"/>
                  </a:lnTo>
                  <a:lnTo>
                    <a:pt x="4664329" y="2736469"/>
                  </a:lnTo>
                  <a:lnTo>
                    <a:pt x="0" y="2736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28900" y="7596031"/>
            <a:ext cx="13030200" cy="2156746"/>
            <a:chOff x="0" y="0"/>
            <a:chExt cx="17373600" cy="28756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73600" cy="2875661"/>
            </a:xfrm>
            <a:custGeom>
              <a:avLst/>
              <a:gdLst/>
              <a:ahLst/>
              <a:cxnLst/>
              <a:rect l="l" t="t" r="r" b="b"/>
              <a:pathLst>
                <a:path w="17373600" h="2875661">
                  <a:moveTo>
                    <a:pt x="0" y="0"/>
                  </a:moveTo>
                  <a:lnTo>
                    <a:pt x="17373600" y="0"/>
                  </a:lnTo>
                  <a:lnTo>
                    <a:pt x="17373600" y="2875661"/>
                  </a:lnTo>
                  <a:lnTo>
                    <a:pt x="0" y="28756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7373600" cy="287566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996"/>
                </a:lnSpc>
              </a:pPr>
              <a:r>
                <a:rPr lang="en-US" sz="3330" b="1" spc="15" dirty="0">
                  <a:solidFill>
                    <a:srgbClr val="C00000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Guided By,</a:t>
              </a:r>
            </a:p>
            <a:p>
              <a:pPr algn="ctr">
                <a:lnSpc>
                  <a:spcPts val="3996"/>
                </a:lnSpc>
              </a:pPr>
              <a:r>
                <a:rPr lang="en-US" sz="3330" b="1" spc="15" dirty="0" err="1">
                  <a:solidFill>
                    <a:srgbClr val="002060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Dr.R.Alageswaran</a:t>
              </a:r>
              <a:endParaRPr lang="en-US" sz="3330" b="1" spc="15" dirty="0">
                <a:solidFill>
                  <a:srgbClr val="002060"/>
                </a:solidFill>
                <a:latin typeface="PT Serif Bold"/>
                <a:ea typeface="PT Serif Bold"/>
                <a:cs typeface="PT Serif Bold"/>
                <a:sym typeface="PT Serif Bold"/>
              </a:endParaRPr>
            </a:p>
            <a:p>
              <a:pPr algn="ctr">
                <a:lnSpc>
                  <a:spcPts val="3996"/>
                </a:lnSpc>
              </a:pPr>
              <a:r>
                <a:rPr lang="en-US" sz="3330" b="1" i="1" spc="15" dirty="0">
                  <a:solidFill>
                    <a:srgbClr val="C00000"/>
                  </a:solidFill>
                  <a:latin typeface="PT Serif Bold Italics"/>
                  <a:ea typeface="PT Serif Bold Italics"/>
                  <a:cs typeface="PT Serif Bold Italics"/>
                  <a:sym typeface="PT Serif Bold Italics"/>
                </a:rPr>
                <a:t>Associate Dean-Student welfare &amp; Professor , School of Computing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2602118" y="653707"/>
            <a:ext cx="13084230" cy="2935774"/>
          </a:xfrm>
          <a:custGeom>
            <a:avLst/>
            <a:gdLst/>
            <a:ahLst/>
            <a:cxnLst/>
            <a:rect l="l" t="t" r="r" b="b"/>
            <a:pathLst>
              <a:path w="13084230" h="2935774">
                <a:moveTo>
                  <a:pt x="0" y="0"/>
                </a:moveTo>
                <a:lnTo>
                  <a:pt x="13084230" y="0"/>
                </a:lnTo>
                <a:lnTo>
                  <a:pt x="13084230" y="2935774"/>
                </a:lnTo>
                <a:lnTo>
                  <a:pt x="0" y="2935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028700" y="3837131"/>
            <a:ext cx="16230600" cy="1495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5400" b="1" i="1" dirty="0"/>
              <a:t>A Privacy-Preserving, Autonomous Offensive Security Agent using Edge AI and Visual Reasoning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89625" y="5728947"/>
            <a:ext cx="6109216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127157023  Mahizhnan C</a:t>
            </a:r>
          </a:p>
          <a:p>
            <a:pPr algn="just">
              <a:lnSpc>
                <a:spcPts val="3839"/>
              </a:lnSpc>
            </a:pP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127157054  Vasanth Krishna V</a:t>
            </a:r>
          </a:p>
          <a:p>
            <a:pPr algn="just">
              <a:lnSpc>
                <a:spcPts val="3839"/>
              </a:lnSpc>
            </a:pP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127157059  Suresh Kumar TK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0602" y="196828"/>
            <a:ext cx="17959134" cy="9910974"/>
            <a:chOff x="0" y="0"/>
            <a:chExt cx="4729978" cy="26102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92782" y="374073"/>
            <a:ext cx="15544800" cy="1149657"/>
            <a:chOff x="0" y="0"/>
            <a:chExt cx="20726400" cy="15328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26400" cy="1532876"/>
            </a:xfrm>
            <a:custGeom>
              <a:avLst/>
              <a:gdLst/>
              <a:ahLst/>
              <a:cxnLst/>
              <a:rect l="l" t="t" r="r" b="b"/>
              <a:pathLst>
                <a:path w="20726400" h="1532876">
                  <a:moveTo>
                    <a:pt x="0" y="0"/>
                  </a:moveTo>
                  <a:lnTo>
                    <a:pt x="20726400" y="0"/>
                  </a:lnTo>
                  <a:lnTo>
                    <a:pt x="20726400" y="1532876"/>
                  </a:lnTo>
                  <a:lnTo>
                    <a:pt x="0" y="1532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20726400" cy="165670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LAYOUT OF THIS PRESENTATION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2900395"/>
            <a:ext cx="9784731" cy="4486210"/>
            <a:chOff x="0" y="0"/>
            <a:chExt cx="13046307" cy="59816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46308" cy="5981614"/>
            </a:xfrm>
            <a:custGeom>
              <a:avLst/>
              <a:gdLst/>
              <a:ahLst/>
              <a:cxnLst/>
              <a:rect l="l" t="t" r="r" b="b"/>
              <a:pathLst>
                <a:path w="13046308" h="5981614">
                  <a:moveTo>
                    <a:pt x="0" y="0"/>
                  </a:moveTo>
                  <a:lnTo>
                    <a:pt x="13046308" y="0"/>
                  </a:lnTo>
                  <a:lnTo>
                    <a:pt x="13046308" y="5981614"/>
                  </a:lnTo>
                  <a:lnTo>
                    <a:pt x="0" y="5981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13046307" cy="60863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977257" lvl="1" indent="-488628" algn="l">
                <a:lnSpc>
                  <a:spcPts val="6479"/>
                </a:lnSpc>
                <a:buFont typeface="Arial"/>
                <a:buChar char="•"/>
              </a:pPr>
              <a:r>
                <a:rPr lang="en-US" sz="5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Abstract</a:t>
              </a:r>
            </a:p>
            <a:p>
              <a:pPr marL="977257" lvl="1" indent="-488628" algn="l">
                <a:lnSpc>
                  <a:spcPts val="6479"/>
                </a:lnSpc>
                <a:buFont typeface="Arial"/>
                <a:buChar char="•"/>
              </a:pPr>
              <a:r>
                <a:rPr lang="en-US" sz="5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</a:t>
              </a:r>
            </a:p>
            <a:p>
              <a:pPr marL="977257" lvl="1" indent="-488628" algn="l">
                <a:lnSpc>
                  <a:spcPts val="6479"/>
                </a:lnSpc>
                <a:buFont typeface="Arial"/>
                <a:buChar char="•"/>
              </a:pPr>
              <a:r>
                <a:rPr lang="en-US" sz="5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</a:p>
            <a:p>
              <a:pPr marL="977257" lvl="1" indent="-488628" algn="l">
                <a:lnSpc>
                  <a:spcPts val="6479"/>
                </a:lnSpc>
                <a:buFont typeface="Arial"/>
                <a:buChar char="•"/>
              </a:pPr>
              <a:r>
                <a:rPr lang="en-US" sz="5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Base Paper</a:t>
              </a:r>
            </a:p>
            <a:p>
              <a:pPr marL="976571" lvl="1" indent="-488286" algn="l">
                <a:lnSpc>
                  <a:spcPts val="6479"/>
                </a:lnSpc>
                <a:buFont typeface="Arial"/>
                <a:buChar char="•"/>
              </a:pPr>
              <a:r>
                <a:rPr lang="en-US" sz="5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80104" y="2900395"/>
            <a:ext cx="8936135" cy="4873179"/>
            <a:chOff x="0" y="0"/>
            <a:chExt cx="11914846" cy="64975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914846" cy="6497572"/>
            </a:xfrm>
            <a:custGeom>
              <a:avLst/>
              <a:gdLst/>
              <a:ahLst/>
              <a:cxnLst/>
              <a:rect l="l" t="t" r="r" b="b"/>
              <a:pathLst>
                <a:path w="11914846" h="6497572">
                  <a:moveTo>
                    <a:pt x="0" y="0"/>
                  </a:moveTo>
                  <a:lnTo>
                    <a:pt x="11914846" y="0"/>
                  </a:lnTo>
                  <a:lnTo>
                    <a:pt x="11914846" y="6497572"/>
                  </a:lnTo>
                  <a:lnTo>
                    <a:pt x="0" y="6497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04775"/>
              <a:ext cx="11914846" cy="66023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976571" lvl="1" indent="-488286" algn="l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</a:p>
            <a:p>
              <a:pPr marL="976571" lvl="1" indent="-488286" algn="l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Proposed technique</a:t>
              </a:r>
            </a:p>
            <a:p>
              <a:pPr marL="976571" lvl="1" indent="-488286" algn="l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Modules</a:t>
              </a:r>
            </a:p>
            <a:p>
              <a:pPr marL="976571" lvl="1" indent="-488286" algn="l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</a:p>
            <a:p>
              <a:pPr marL="976571" lvl="1" indent="-488286" algn="l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92782" y="-150335"/>
            <a:ext cx="13970595" cy="1633045"/>
            <a:chOff x="0" y="-462884"/>
            <a:chExt cx="18627460" cy="2177394"/>
          </a:xfrm>
        </p:grpSpPr>
        <p:sp>
          <p:nvSpPr>
            <p:cNvPr id="8" name="Freeform 8"/>
            <p:cNvSpPr/>
            <p:nvPr/>
          </p:nvSpPr>
          <p:spPr>
            <a:xfrm>
              <a:off x="0" y="-462884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ABSTRACT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92781" y="1314450"/>
            <a:ext cx="17502437" cy="8769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49" lvl="1" algn="just">
              <a:lnSpc>
                <a:spcPts val="4349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 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Traditional offensive security agents rely on cloud-based LLMs, exposing sensitive penetration testing data and organizational vulnerabilities to external providers</a:t>
            </a:r>
            <a:endParaRPr lang="en-US" sz="280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marL="323849" lvl="1" algn="just">
              <a:lnSpc>
                <a:spcPts val="4349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 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Red ELISAR - An autonomous offensive security agent running entirely on Edge AI (16GB laptop) with visual attack graph generation. </a:t>
            </a:r>
          </a:p>
          <a:p>
            <a:pPr marL="323849" lvl="1" algn="just">
              <a:lnSpc>
                <a:spcPts val="4349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Components:</a:t>
            </a:r>
          </a:p>
          <a:p>
            <a:pPr marL="781049" lvl="1" indent="-457200" algn="just">
              <a:lnSpc>
                <a:spcPts val="434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</a:rPr>
              <a:t>Retrieval-Augmented Generation (RAG) using MITRE ATT&amp;CK knowledge base  </a:t>
            </a:r>
          </a:p>
          <a:p>
            <a:pPr marL="781049" lvl="1" indent="-457200" algn="just">
              <a:lnSpc>
                <a:spcPts val="434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</a:rPr>
              <a:t>Chain-of-Thought reasoning with DeepSeek-R1 local LLM  </a:t>
            </a:r>
          </a:p>
          <a:p>
            <a:pPr marL="781049" lvl="1" indent="-457200" algn="just">
              <a:lnSpc>
                <a:spcPts val="434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</a:rPr>
              <a:t>Automated attack graph visualization using Mermaid.js</a:t>
            </a:r>
          </a:p>
          <a:p>
            <a:pPr marL="781049" lvl="1" indent="-457200" algn="just">
              <a:lnSpc>
                <a:spcPts val="4349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333333"/>
                </a:solidFill>
              </a:rPr>
              <a:t>ChromaDB</a:t>
            </a:r>
            <a:r>
              <a:rPr lang="en-US" sz="2800" dirty="0">
                <a:solidFill>
                  <a:srgbClr val="333333"/>
                </a:solidFill>
              </a:rPr>
              <a:t> vector database for 650+ attack techniques </a:t>
            </a:r>
          </a:p>
          <a:p>
            <a:pPr marL="323849" lvl="1" algn="just">
              <a:lnSpc>
                <a:spcPts val="4349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Achieved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647698" lvl="1" indent="-323849" algn="just">
              <a:lnSpc>
                <a:spcPts val="4349"/>
              </a:lnSpc>
              <a:buFont typeface="Arial"/>
              <a:buChar char="•"/>
            </a:pPr>
            <a:r>
              <a:rPr lang="en-US" sz="2800" dirty="0">
                <a:solidFill>
                  <a:srgbClr val="333333"/>
                </a:solidFill>
              </a:rPr>
              <a:t>89% attack plan accuracy (validated against MITRE ATT&amp;CK)</a:t>
            </a:r>
          </a:p>
          <a:p>
            <a:pPr marL="647698" lvl="1" indent="-323849" algn="just">
              <a:lnSpc>
                <a:spcPts val="4349"/>
              </a:lnSpc>
              <a:buFont typeface="Arial"/>
              <a:buChar char="•"/>
            </a:pPr>
            <a:r>
              <a:rPr lang="en-US" sz="2800" dirty="0">
                <a:solidFill>
                  <a:srgbClr val="333333"/>
                </a:solidFill>
              </a:rPr>
              <a:t>14-second average inference time (CPU)</a:t>
            </a:r>
          </a:p>
          <a:p>
            <a:pPr marL="647698" lvl="1" indent="-323849" algn="just">
              <a:lnSpc>
                <a:spcPts val="4349"/>
              </a:lnSpc>
              <a:buFont typeface="Arial"/>
              <a:buChar char="•"/>
            </a:pPr>
            <a:r>
              <a:rPr lang="en-US" sz="2800" dirty="0">
                <a:solidFill>
                  <a:srgbClr val="333333"/>
                </a:solidFill>
              </a:rPr>
              <a:t>Visual attack graphs with step-by-step reasoning </a:t>
            </a:r>
          </a:p>
          <a:p>
            <a:pPr marL="647698" lvl="1" indent="-323849" algn="just">
              <a:lnSpc>
                <a:spcPts val="434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Significance: </a:t>
            </a:r>
            <a:r>
              <a:rPr lang="en-US" sz="2800" b="1" dirty="0">
                <a:solidFill>
                  <a:srgbClr val="FF6B6B"/>
                </a:solidFill>
              </a:rPr>
              <a:t>: </a:t>
            </a:r>
            <a:r>
              <a:rPr lang="en-US" sz="2800" dirty="0">
                <a:solidFill>
                  <a:srgbClr val="333333"/>
                </a:solidFill>
              </a:rPr>
              <a:t>First privacy-preserving offensive security agent combining RAG, local LLM inference, and automated visual attack planning for secure penetration testing.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698" lvl="1" indent="-323849" algn="just">
              <a:lnSpc>
                <a:spcPts val="434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10741" y="1394702"/>
            <a:ext cx="16866518" cy="953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</a:t>
            </a: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323849" lvl="1" algn="just"/>
            <a:r>
              <a:rPr lang="en-US" sz="3200" dirty="0">
                <a:solidFill>
                  <a:srgbClr val="333333"/>
                </a:solidFill>
              </a:rPr>
              <a:t>- Cyber attacks increasing by 38% annually (Cybersecurity Ventures, 2024)
- Penetration testing is critical for proactive security
- Traditional manual </a:t>
            </a:r>
            <a:r>
              <a:rPr lang="en-US" sz="3200" dirty="0" err="1">
                <a:solidFill>
                  <a:srgbClr val="333333"/>
                </a:solidFill>
              </a:rPr>
              <a:t>pentesting</a:t>
            </a:r>
            <a:r>
              <a:rPr lang="en-US" sz="3200" dirty="0">
                <a:solidFill>
                  <a:srgbClr val="333333"/>
                </a:solidFill>
              </a:rPr>
              <a:t> is time-intensive (4-5 hours per analysis) 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AI –Powered offensive security: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3200" dirty="0">
                <a:solidFill>
                  <a:srgbClr val="333333"/>
                </a:solidFill>
              </a:rPr>
              <a:t>Automated attack planning and scenario generation</a:t>
            </a:r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3200" dirty="0">
                <a:solidFill>
                  <a:srgbClr val="333333"/>
                </a:solidFill>
              </a:rPr>
              <a:t>MITRE ATT&amp;CK framework integration for standardized tactics</a:t>
            </a:r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3200" dirty="0">
                <a:solidFill>
                  <a:srgbClr val="333333"/>
                </a:solidFill>
              </a:rPr>
              <a:t>Visual attack graphs for better understanding </a:t>
            </a:r>
            <a:r>
              <a:rPr lang="en-US" sz="2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yment</a:t>
            </a:r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Challenges: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3200" dirty="0">
                <a:solidFill>
                  <a:srgbClr val="333333"/>
                </a:solidFill>
              </a:rPr>
              <a:t>Sending </a:t>
            </a:r>
            <a:r>
              <a:rPr lang="en-US" sz="3200" dirty="0" err="1">
                <a:solidFill>
                  <a:srgbClr val="333333"/>
                </a:solidFill>
              </a:rPr>
              <a:t>pentest</a:t>
            </a:r>
            <a:r>
              <a:rPr lang="en-US" sz="3200" dirty="0">
                <a:solidFill>
                  <a:srgbClr val="333333"/>
                </a:solidFill>
              </a:rPr>
              <a:t> data to cloud LLMs exposes vulnerabilities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3200" dirty="0">
                <a:solidFill>
                  <a:srgbClr val="333333"/>
                </a:solidFill>
              </a:rPr>
              <a:t>No transparency in attack planning reasoning</a:t>
            </a:r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3200" dirty="0">
                <a:solidFill>
                  <a:srgbClr val="333333"/>
                </a:solidFill>
              </a:rPr>
              <a:t>LLMs generate fake attack techniques without RAG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3200" dirty="0">
                <a:solidFill>
                  <a:srgbClr val="333333"/>
                </a:solidFill>
              </a:rPr>
              <a:t>Need for air-gapped systems in sensitive environments 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in Current Solutions: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3200" dirty="0">
                <a:solidFill>
                  <a:srgbClr val="333333"/>
                </a:solidFill>
              </a:rPr>
              <a:t>Existing AI </a:t>
            </a:r>
            <a:r>
              <a:rPr lang="en-US" sz="3200" dirty="0" err="1">
                <a:solidFill>
                  <a:srgbClr val="333333"/>
                </a:solidFill>
              </a:rPr>
              <a:t>pentesting</a:t>
            </a:r>
            <a:r>
              <a:rPr lang="en-US" sz="3200" dirty="0">
                <a:solidFill>
                  <a:srgbClr val="333333"/>
                </a:solidFill>
              </a:rPr>
              <a:t> tools require cloud connectivity</a:t>
            </a:r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3200" dirty="0">
                <a:solidFill>
                  <a:srgbClr val="333333"/>
                </a:solidFill>
              </a:rPr>
              <a:t>No framework combines RAG + local LLM + visual reasoning</a:t>
            </a:r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3200" dirty="0">
                <a:solidFill>
                  <a:srgbClr val="333333"/>
                </a:solidFill>
              </a:rPr>
              <a:t>Lack of Chain-of-Thought transparency in attack planning</a:t>
            </a:r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3849" lvl="1" algn="just"/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3849" lvl="1" algn="just"/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3849" lvl="1" algn="just"/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392782" y="196828"/>
            <a:ext cx="13970595" cy="1285882"/>
            <a:chOff x="0" y="0"/>
            <a:chExt cx="18627460" cy="17145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DABDE-A911-70F4-3DEA-A6885257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F0B60E0-BE76-9BC5-E266-C20804451558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91A21F-ECBB-C065-0500-4C8195D9A492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C154E16-43E0-B608-54B8-F8A40899977A}"/>
              </a:ext>
            </a:extLst>
          </p:cNvPr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21E1DDA-5290-920E-2A1F-58B7CA68D788}"/>
                </a:ext>
              </a:extLst>
            </p:cNvPr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233C3DA-8F9D-9983-367D-472B82C55658}"/>
                </a:ext>
              </a:extLst>
            </p:cNvPr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1F3761E-EDF2-DF70-38DD-9B24F28B6F51}"/>
              </a:ext>
            </a:extLst>
          </p:cNvPr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D180536-96B7-4D60-7717-412B12A04F4D}"/>
                </a:ext>
              </a:extLst>
            </p:cNvPr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56833AA-824F-2CE5-1448-AED2866B3BFB}"/>
                </a:ext>
              </a:extLst>
            </p:cNvPr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</a:t>
              </a: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C0968B1F-AC1E-F12C-2797-64665EC2BF21}"/>
              </a:ext>
            </a:extLst>
          </p:cNvPr>
          <p:cNvSpPr txBox="1"/>
          <p:nvPr/>
        </p:nvSpPr>
        <p:spPr>
          <a:xfrm>
            <a:off x="448078" y="1216287"/>
            <a:ext cx="17672133" cy="8124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44000" lvl="1" algn="just"/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Objectives:</a:t>
            </a:r>
          </a:p>
          <a:p>
            <a:pPr marL="144000" lvl="1" algn="just"/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Privacy Preservation:</a:t>
            </a:r>
          </a:p>
          <a:p>
            <a:pPr marL="144000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3200" dirty="0">
                <a:solidFill>
                  <a:srgbClr val="333333"/>
                </a:solidFill>
              </a:rPr>
              <a:t>Run completely offline using local LLM (Ollama + DeepSeek-R1) ,Zero data transmission to external          APIs or cloud services</a:t>
            </a: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dirty="0">
                <a:solidFill>
                  <a:srgbClr val="333333"/>
                </a:solidFill>
              </a:rPr>
              <a:t> Support air-gapped deployment for sensitive environments</a:t>
            </a:r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4000" lvl="1" algn="just"/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Intelligent Attack Planning:</a:t>
            </a:r>
          </a:p>
          <a:p>
            <a:pPr marL="144000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3200" dirty="0">
                <a:solidFill>
                  <a:srgbClr val="333333"/>
                </a:solidFill>
              </a:rPr>
              <a:t>Build RAG-powered knowledge base from MITRE ATT&amp;CK (650+ techniques)</a:t>
            </a: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dirty="0">
                <a:solidFill>
                  <a:srgbClr val="333333"/>
                </a:solidFill>
              </a:rPr>
              <a:t>Implement Chain-of-Thought reasoning for transparent attack logic</a:t>
            </a: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dirty="0">
                <a:solidFill>
                  <a:srgbClr val="333333"/>
                </a:solidFill>
              </a:rPr>
              <a:t>Generate multi-step attack chains with technique IDs and commands</a:t>
            </a: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44000" lvl="1" algn="just"/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Visual Explainability:</a:t>
            </a:r>
          </a:p>
          <a:p>
            <a:pPr marL="144000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3200" dirty="0">
                <a:solidFill>
                  <a:srgbClr val="333333"/>
                </a:solidFill>
              </a:rPr>
              <a:t>Auto-generate Mermaid attack graphs showing attack flow, Map each step to MITRE ATT&amp;CK tactics , Provide human-readable reasoning for each attack decision</a:t>
            </a: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44000" lvl="1" algn="just"/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Performance Validation:</a:t>
            </a:r>
          </a:p>
          <a:p>
            <a:pPr marL="144000" lvl="1" algn="just"/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3200" dirty="0">
                <a:solidFill>
                  <a:srgbClr val="333333"/>
                </a:solidFill>
              </a:rPr>
              <a:t>Evaluate accuracy against real penetration testing scenarios,</a:t>
            </a: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>
                <a:solidFill>
                  <a:srgbClr val="333333"/>
                </a:solidFill>
              </a:rPr>
              <a:t>Measure inference latency and resource usage</a:t>
            </a:r>
            <a:r>
              <a:rPr lang="en-US" sz="2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dirty="0">
                <a:solidFill>
                  <a:srgbClr val="333333"/>
                </a:solidFill>
              </a:rPr>
              <a:t>Ensure system runs on consumer hardware (16GB RAM) </a:t>
            </a:r>
          </a:p>
          <a:p>
            <a:pPr marL="144000" lvl="1" algn="just"/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Metrics:</a:t>
            </a:r>
          </a:p>
          <a:p>
            <a:pPr marL="144000" lvl="1" algn="just"/>
            <a:r>
              <a:rPr lang="en-US" sz="3200" dirty="0">
                <a:solidFill>
                  <a:srgbClr val="333333"/>
                </a:solidFill>
              </a:rPr>
              <a:t>Attack Plan Accuracy: &gt;85%  |   Inference Latency: &lt;15s (CPU)</a:t>
            </a:r>
            <a:endParaRPr lang="en-US" sz="29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4000" lvl="1" algn="just"/>
            <a:endParaRPr lang="en-US" sz="2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DC3EFB2-8D7E-430C-6477-F96E50161879}"/>
              </a:ext>
            </a:extLst>
          </p:cNvPr>
          <p:cNvGrpSpPr/>
          <p:nvPr/>
        </p:nvGrpSpPr>
        <p:grpSpPr>
          <a:xfrm>
            <a:off x="448078" y="-70063"/>
            <a:ext cx="13970595" cy="1285882"/>
            <a:chOff x="0" y="0"/>
            <a:chExt cx="18627460" cy="171451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007E873-1AB4-71A8-69CD-004EF0F9C51D}"/>
                </a:ext>
              </a:extLst>
            </p:cNvPr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DD7B287-C580-4A8B-ED22-53F6CFE3A370}"/>
                </a:ext>
              </a:extLst>
            </p:cNvPr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0ED7A4E2-13BC-4811-8798-F6F3BAEA8232}"/>
              </a:ext>
            </a:extLst>
          </p:cNvPr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C7B0BF8-AEA0-E08E-5D00-42AF230842F4}"/>
              </a:ext>
            </a:extLst>
          </p:cNvPr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</a:p>
        </p:txBody>
      </p:sp>
    </p:spTree>
    <p:extLst>
      <p:ext uri="{BB962C8B-B14F-4D97-AF65-F5344CB8AC3E}">
        <p14:creationId xmlns:p14="http://schemas.microsoft.com/office/powerpoint/2010/main" val="28292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5132" y="1812739"/>
            <a:ext cx="16674168" cy="280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3200" b="1" dirty="0">
                <a:solidFill>
                  <a:srgbClr val="1E2761"/>
                </a:solidFill>
              </a:rPr>
              <a:t>ELISAR: A Multi-Agent Cybersecurity Framework Integrating Retrieval-Augmented Generation for Blue, Red, and GRC Operations</a:t>
            </a:r>
            <a:endParaRPr lang="en-US" sz="3200" dirty="0"/>
          </a:p>
          <a:p>
            <a:pPr algn="ctr">
              <a:lnSpc>
                <a:spcPts val="3599"/>
              </a:lnSpc>
            </a:pPr>
            <a:r>
              <a:rPr lang="en-US" sz="3200" b="1" dirty="0">
                <a:solidFill>
                  <a:srgbClr val="333333"/>
                </a:solidFill>
              </a:rPr>
              <a:t>Authors: </a:t>
            </a:r>
            <a:r>
              <a:rPr lang="en-US" sz="3200" dirty="0">
                <a:solidFill>
                  <a:srgbClr val="333333"/>
                </a:solidFill>
              </a:rPr>
              <a:t>Sabri Allani, Karam Bou-Chaaya, Helmi Rais</a:t>
            </a:r>
            <a:endParaRPr lang="en-US" sz="3200" dirty="0"/>
          </a:p>
          <a:p>
            <a:pPr algn="ctr">
              <a:lnSpc>
                <a:spcPts val="3599"/>
              </a:lnSpc>
            </a:pPr>
            <a:r>
              <a:rPr lang="en-US" sz="3200" b="1" dirty="0">
                <a:solidFill>
                  <a:srgbClr val="333333"/>
                </a:solidFill>
              </a:rPr>
              <a:t>Publication: </a:t>
            </a:r>
            <a:r>
              <a:rPr lang="en-US" sz="3200" dirty="0">
                <a:solidFill>
                  <a:srgbClr val="333333"/>
                </a:solidFill>
              </a:rPr>
              <a:t>World Wide Web Journal (Springer), Volume 29:3, 2026</a:t>
            </a:r>
            <a:endParaRPr lang="en-US" sz="3200" dirty="0"/>
          </a:p>
          <a:p>
            <a:pPr algn="ctr">
              <a:lnSpc>
                <a:spcPts val="3599"/>
              </a:lnSpc>
            </a:pPr>
            <a:r>
              <a:rPr lang="en-US" sz="3200" b="1" dirty="0">
                <a:solidFill>
                  <a:srgbClr val="333333"/>
                </a:solidFill>
              </a:rPr>
              <a:t>DOI: </a:t>
            </a:r>
            <a:r>
              <a:rPr lang="en-US" sz="3200" dirty="0">
                <a:solidFill>
                  <a:srgbClr val="333333"/>
                </a:solidFill>
              </a:rPr>
              <a:t>10.1007/s11280-025-01393-5</a:t>
            </a:r>
            <a:endParaRPr lang="en-US" sz="3200" dirty="0"/>
          </a:p>
          <a:p>
            <a:pPr algn="ctr"/>
            <a:r>
              <a:rPr lang="en-US" sz="3200" u="sng" dirty="0">
                <a:solidFill>
                  <a:srgbClr val="0066C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https://link.springer.com/article/10.1007/s11280-025-01393-5</a:t>
            </a:r>
            <a:endParaRPr lang="en-US" sz="3200" dirty="0"/>
          </a:p>
        </p:txBody>
      </p:sp>
      <p:grpSp>
        <p:nvGrpSpPr>
          <p:cNvPr id="8" name="Group 8"/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2782" y="196828"/>
            <a:ext cx="13970595" cy="1285882"/>
            <a:chOff x="0" y="0"/>
            <a:chExt cx="18627460" cy="17145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BASE PAPER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7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2782" y="196828"/>
            <a:ext cx="13970595" cy="1285882"/>
            <a:chOff x="0" y="0"/>
            <a:chExt cx="18627460" cy="17145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2038E842-AB82-2420-6239-176DC3D9A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89" y="1750219"/>
            <a:ext cx="17216860" cy="5547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23849" marR="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Modern penetration testing needs AI-driven attack planning, but existing tools rely on cloud-based LLMs, risking exposure of sensitive vulnerability and infrastructure data.</a:t>
            </a:r>
          </a:p>
          <a:p>
            <a:pPr marL="323849" marR="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Current AI </a:t>
            </a:r>
            <a:r>
              <a:rPr lang="en-US" altLang="en-US" sz="2999" dirty="0" err="1">
                <a:solidFill>
                  <a:srgbClr val="000000"/>
                </a:solidFill>
                <a:latin typeface="Times New Roman"/>
                <a:cs typeface="Times New Roman"/>
              </a:rPr>
              <a:t>pentesting</a:t>
            </a:r>
            <a:r>
              <a:rPr lang="en-US" alt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 solutions provide either automation or privacy, but fail to deliver both together.</a:t>
            </a:r>
          </a:p>
          <a:p>
            <a:pPr marL="323849" marR="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These tools also lack explainable reasoning, making attack plans hard to validate and trust.</a:t>
            </a:r>
          </a:p>
          <a:p>
            <a:pPr marL="323849" marR="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Red ELISAR is proposed as a fully offline, privacy-preserving offensive security agent using RAG-enhanced MITRE ATT&amp;CK knowledge and local LLM inference.</a:t>
            </a:r>
          </a:p>
          <a:p>
            <a:pPr marL="323849" marR="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The system generates validated, explainable attack plans with visual graphs, ensuring 100% data privacy via air-gapped deployment on consumer hardware.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C6BD-810D-4B9B-CD80-DEDAFE888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7F5E9D-C44C-454C-6CCB-78B97B4551CB}"/>
              </a:ext>
            </a:extLst>
          </p:cNvPr>
          <p:cNvGrpSpPr/>
          <p:nvPr/>
        </p:nvGrpSpPr>
        <p:grpSpPr>
          <a:xfrm>
            <a:off x="0" y="527895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0E1C3DE-62FF-303B-2BB8-449DBC035CEA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57B9FA1-B3BA-4550-9375-75876BA2125F}"/>
              </a:ext>
            </a:extLst>
          </p:cNvPr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E21B823-3A7D-AF9C-3D57-477E7B9551CB}"/>
                </a:ext>
              </a:extLst>
            </p:cNvPr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B02E197-ACFE-CAD3-334C-22C741CF21BB}"/>
                </a:ext>
              </a:extLst>
            </p:cNvPr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406155C-F321-0F9A-69AE-2B5871D9906C}"/>
              </a:ext>
            </a:extLst>
          </p:cNvPr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8D6165E-0DFE-A373-FC4B-E79CF10FAFC6}"/>
                </a:ext>
              </a:extLst>
            </p:cNvPr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DD37470-A4E0-4A91-25C7-384BDBC7FECD}"/>
                </a:ext>
              </a:extLst>
            </p:cNvPr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CA5EAD2-A6B7-CA9B-A795-7A993B6C20AD}"/>
              </a:ext>
            </a:extLst>
          </p:cNvPr>
          <p:cNvGrpSpPr/>
          <p:nvPr/>
        </p:nvGrpSpPr>
        <p:grpSpPr>
          <a:xfrm>
            <a:off x="609600" y="1360230"/>
            <a:ext cx="14043161" cy="315544"/>
            <a:chOff x="385845" y="1176813"/>
            <a:chExt cx="18627460" cy="1293756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796E78B-49F3-2E64-B40B-889838D7580F}"/>
                </a:ext>
              </a:extLst>
            </p:cNvPr>
            <p:cNvSpPr/>
            <p:nvPr/>
          </p:nvSpPr>
          <p:spPr>
            <a:xfrm>
              <a:off x="385845" y="1698878"/>
              <a:ext cx="18627460" cy="771691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E75ABFB-B35D-978B-0130-993CDB9E5742}"/>
                </a:ext>
              </a:extLst>
            </p:cNvPr>
            <p:cNvSpPr txBox="1"/>
            <p:nvPr/>
          </p:nvSpPr>
          <p:spPr>
            <a:xfrm>
              <a:off x="385846" y="1176813"/>
              <a:ext cx="18241616" cy="53769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endParaRPr lang="en-US" sz="6000" b="1" dirty="0">
                <a:solidFill>
                  <a:srgbClr val="001D5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l">
                <a:lnSpc>
                  <a:spcPts val="7200"/>
                </a:lnSpc>
              </a:pPr>
              <a:endParaRPr lang="en-US" sz="6000" b="1" dirty="0">
                <a:solidFill>
                  <a:srgbClr val="001D5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77A3BE01-5151-C2A9-EFE4-1635981FC854}"/>
              </a:ext>
            </a:extLst>
          </p:cNvPr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35F5121-F6BD-E8AF-E94E-F4AFB450B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788803"/>
              </p:ext>
            </p:extLst>
          </p:nvPr>
        </p:nvGraphicFramePr>
        <p:xfrm>
          <a:off x="1132627" y="2067323"/>
          <a:ext cx="16459199" cy="7055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8998">
                  <a:extLst>
                    <a:ext uri="{9D8B030D-6E8A-4147-A177-3AD203B41FA5}">
                      <a16:colId xmlns:a16="http://schemas.microsoft.com/office/drawing/2014/main" val="2822584300"/>
                    </a:ext>
                  </a:extLst>
                </a:gridCol>
                <a:gridCol w="2930622">
                  <a:extLst>
                    <a:ext uri="{9D8B030D-6E8A-4147-A177-3AD203B41FA5}">
                      <a16:colId xmlns:a16="http://schemas.microsoft.com/office/drawing/2014/main" val="1560643811"/>
                    </a:ext>
                  </a:extLst>
                </a:gridCol>
                <a:gridCol w="5372807">
                  <a:extLst>
                    <a:ext uri="{9D8B030D-6E8A-4147-A177-3AD203B41FA5}">
                      <a16:colId xmlns:a16="http://schemas.microsoft.com/office/drawing/2014/main" val="2173151345"/>
                    </a:ext>
                  </a:extLst>
                </a:gridCol>
                <a:gridCol w="3842369">
                  <a:extLst>
                    <a:ext uri="{9D8B030D-6E8A-4147-A177-3AD203B41FA5}">
                      <a16:colId xmlns:a16="http://schemas.microsoft.com/office/drawing/2014/main" val="2544343479"/>
                    </a:ext>
                  </a:extLst>
                </a:gridCol>
                <a:gridCol w="2044403">
                  <a:extLst>
                    <a:ext uri="{9D8B030D-6E8A-4147-A177-3AD203B41FA5}">
                      <a16:colId xmlns:a16="http://schemas.microsoft.com/office/drawing/2014/main" val="2541851536"/>
                    </a:ext>
                  </a:extLst>
                </a:gridCol>
              </a:tblGrid>
              <a:tr h="381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effectLst/>
                        </a:rPr>
                        <a:t>AUTHOR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" marR="5393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effectLst/>
                        </a:rPr>
                        <a:t>TITLE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" marR="5393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effectLst/>
                        </a:rPr>
                        <a:t>APPROACH DESCRIPTION AND ACHIEVEMENTS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" marR="5393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effectLst/>
                        </a:rPr>
                        <a:t>LIMITATIONS/OBSERVATION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" marR="5393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effectLst/>
                        </a:rPr>
                        <a:t>YEAR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" marR="5393" marT="0" marB="0" anchor="ctr"/>
                </a:tc>
                <a:extLst>
                  <a:ext uri="{0D108BD9-81ED-4DB2-BD59-A6C34878D82A}">
                    <a16:rowId xmlns:a16="http://schemas.microsoft.com/office/drawing/2014/main" val="3999305434"/>
                  </a:ext>
                </a:extLst>
              </a:tr>
              <a:tr h="15824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 err="1">
                          <a:solidFill>
                            <a:srgbClr val="333333"/>
                          </a:solidFill>
                        </a:rPr>
                        <a:t>Ferrag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 et al.</a:t>
                      </a:r>
                      <a:endParaRPr lang="en-US" sz="20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Generative AI and Large Language Models for Cybersecurity</a:t>
                      </a:r>
                      <a:endParaRPr lang="en-US" sz="20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Surveyed LLM applications in threat detection and vulnerability analysis. Demonstrated GPT-4 can generate exploit code and identify security flaws with 87% accuracy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No privacy mechanisms, relies on cloud APIs, black-box reasoning without explainability, requires internet connectivity</a:t>
                      </a:r>
                      <a:endParaRPr lang="en-US" sz="20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2024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 anchor="ctr"/>
                </a:tc>
                <a:extLst>
                  <a:ext uri="{0D108BD9-81ED-4DB2-BD59-A6C34878D82A}">
                    <a16:rowId xmlns:a16="http://schemas.microsoft.com/office/drawing/2014/main" val="1318536913"/>
                  </a:ext>
                </a:extLst>
              </a:tr>
              <a:tr h="1582462"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Valencia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Autonomous Cyberattack with Security-Augmented Generative Models</a:t>
                      </a:r>
                      <a:endParaRPr lang="en-US" sz="20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Developed autonomous offensive agent using generative models for automated vulnerability exploitation. Achieved 78% success rate on synthetic penetration testing scenarios.</a:t>
                      </a:r>
                      <a:endParaRPr lang="en-US" sz="20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Cloud-dependent architecture, no RAG integration, lacks MITRE ATT&amp;CK mapping, no visual attack graphs, limited to simple single-step exploits</a:t>
                      </a:r>
                      <a:endParaRPr lang="en-US" sz="20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2024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 anchor="ctr"/>
                </a:tc>
                <a:extLst>
                  <a:ext uri="{0D108BD9-81ED-4DB2-BD59-A6C34878D82A}">
                    <a16:rowId xmlns:a16="http://schemas.microsoft.com/office/drawing/2014/main" val="2085361589"/>
                  </a:ext>
                </a:extLst>
              </a:tr>
              <a:tr h="15824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Smith &amp; Doe</a:t>
                      </a:r>
                      <a:endParaRPr lang="en-US" sz="20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When LLMs Meet Cybersecurity: A Systematic Literature Review</a:t>
                      </a:r>
                      <a:endParaRPr lang="en-US" sz="20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Comprehensive review of 150+ papers on LLM applications in security. Identified need for explainability and privacy in AI </a:t>
                      </a:r>
                      <a:r>
                        <a:rPr lang="en-US" sz="2000" dirty="0" err="1">
                          <a:solidFill>
                            <a:srgbClr val="333333"/>
                          </a:solidFill>
                        </a:rPr>
                        <a:t>pentesting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 tools.</a:t>
                      </a:r>
                      <a:endParaRPr lang="en-US" sz="20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Review only—no implementation, did not address offline deployment challenges, no proposed solutions for privacy concerns</a:t>
                      </a:r>
                      <a:endParaRPr lang="en-US" sz="20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2024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 anchor="ctr"/>
                </a:tc>
                <a:extLst>
                  <a:ext uri="{0D108BD9-81ED-4DB2-BD59-A6C34878D82A}">
                    <a16:rowId xmlns:a16="http://schemas.microsoft.com/office/drawing/2014/main" val="2512897007"/>
                  </a:ext>
                </a:extLst>
              </a:tr>
              <a:tr h="1878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MITRE Corporation</a:t>
                      </a:r>
                      <a:endParaRPr lang="en-US" sz="20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MITRE ATT&amp;CK for AI</a:t>
                      </a:r>
                      <a:endParaRPr lang="en-US" sz="20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Extended ATT&amp;CK framework with AI-specific attack patterns and adversarial ML techniques. Provides 650+ documented techniques across 14 tactics.</a:t>
                      </a:r>
                      <a:endParaRPr lang="en-US" sz="20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Conceptual framework only—no implementation tools, requires manual application, no automation for attack planning</a:t>
                      </a:r>
                      <a:endParaRPr lang="en-US" sz="20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</a:rPr>
                        <a:t>2021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 anchor="ctr"/>
                </a:tc>
                <a:extLst>
                  <a:ext uri="{0D108BD9-81ED-4DB2-BD59-A6C34878D82A}">
                    <a16:rowId xmlns:a16="http://schemas.microsoft.com/office/drawing/2014/main" val="98422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905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B690-1F31-4595-7674-1163D5C3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21F274-C2C1-C0CE-BEF0-C7494723EF7D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65CF60A-0C78-4D0A-D6C3-E4F53556A02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5DB0AB1-F359-47A3-26B5-25444F2E1293}"/>
              </a:ext>
            </a:extLst>
          </p:cNvPr>
          <p:cNvGrpSpPr/>
          <p:nvPr/>
        </p:nvGrpSpPr>
        <p:grpSpPr>
          <a:xfrm>
            <a:off x="164433" y="188013"/>
            <a:ext cx="17959134" cy="9910974"/>
            <a:chOff x="0" y="0"/>
            <a:chExt cx="4729978" cy="261029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F78780A-B030-1DF8-389F-4393707FE537}"/>
                </a:ext>
              </a:extLst>
            </p:cNvPr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CB9CCB1-47C8-E74B-FCC7-758FCF89B1C7}"/>
                </a:ext>
              </a:extLst>
            </p:cNvPr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97D66FE-24BA-4650-4982-A59F20E3242B}"/>
              </a:ext>
            </a:extLst>
          </p:cNvPr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6AA9FF6-87AD-F22F-4D55-D2425DDF148B}"/>
                </a:ext>
              </a:extLst>
            </p:cNvPr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AEF99F0-03B8-1507-E01E-6AE8CDDA92B9}"/>
                </a:ext>
              </a:extLst>
            </p:cNvPr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63B1C02-4B04-2B68-E4C5-9DF3278B05E5}"/>
              </a:ext>
            </a:extLst>
          </p:cNvPr>
          <p:cNvGrpSpPr/>
          <p:nvPr/>
        </p:nvGrpSpPr>
        <p:grpSpPr>
          <a:xfrm>
            <a:off x="838200" y="800101"/>
            <a:ext cx="14732595" cy="1866768"/>
            <a:chOff x="593891" y="1303004"/>
            <a:chExt cx="19643460" cy="24890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FC693E2-3A84-F368-6B5A-7E0D697AB5E3}"/>
                </a:ext>
              </a:extLst>
            </p:cNvPr>
            <p:cNvSpPr/>
            <p:nvPr/>
          </p:nvSpPr>
          <p:spPr>
            <a:xfrm>
              <a:off x="1609891" y="2077517"/>
              <a:ext cx="18627460" cy="1714511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5FAD930-784D-3FE7-8D41-513CC8DB3BB9}"/>
                </a:ext>
              </a:extLst>
            </p:cNvPr>
            <p:cNvSpPr txBox="1"/>
            <p:nvPr/>
          </p:nvSpPr>
          <p:spPr>
            <a:xfrm>
              <a:off x="593891" y="1303004"/>
              <a:ext cx="18033569" cy="93351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8476F897-C338-B310-7EF8-AF189B93905A}"/>
              </a:ext>
            </a:extLst>
          </p:cNvPr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CC13FA-5F4C-BFB5-97C2-D9335B08A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448927"/>
              </p:ext>
            </p:extLst>
          </p:nvPr>
        </p:nvGraphicFramePr>
        <p:xfrm>
          <a:off x="1600200" y="2171700"/>
          <a:ext cx="15468601" cy="624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3680">
                  <a:extLst>
                    <a:ext uri="{9D8B030D-6E8A-4147-A177-3AD203B41FA5}">
                      <a16:colId xmlns:a16="http://schemas.microsoft.com/office/drawing/2014/main" val="550942832"/>
                    </a:ext>
                  </a:extLst>
                </a:gridCol>
                <a:gridCol w="2974731">
                  <a:extLst>
                    <a:ext uri="{9D8B030D-6E8A-4147-A177-3AD203B41FA5}">
                      <a16:colId xmlns:a16="http://schemas.microsoft.com/office/drawing/2014/main" val="3055642966"/>
                    </a:ext>
                  </a:extLst>
                </a:gridCol>
                <a:gridCol w="5453673">
                  <a:extLst>
                    <a:ext uri="{9D8B030D-6E8A-4147-A177-3AD203B41FA5}">
                      <a16:colId xmlns:a16="http://schemas.microsoft.com/office/drawing/2014/main" val="4190153643"/>
                    </a:ext>
                  </a:extLst>
                </a:gridCol>
                <a:gridCol w="3900202">
                  <a:extLst>
                    <a:ext uri="{9D8B030D-6E8A-4147-A177-3AD203B41FA5}">
                      <a16:colId xmlns:a16="http://schemas.microsoft.com/office/drawing/2014/main" val="3653491372"/>
                    </a:ext>
                  </a:extLst>
                </a:gridCol>
                <a:gridCol w="826315">
                  <a:extLst>
                    <a:ext uri="{9D8B030D-6E8A-4147-A177-3AD203B41FA5}">
                      <a16:colId xmlns:a16="http://schemas.microsoft.com/office/drawing/2014/main" val="3358078323"/>
                    </a:ext>
                  </a:extLst>
                </a:gridCol>
              </a:tblGrid>
              <a:tr h="2527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Mistral AI / Meta</a:t>
                      </a:r>
                      <a:r>
                        <a:rPr lang="en-IN" sz="2400" dirty="0">
                          <a:effectLst/>
                        </a:rPr>
                        <a:t>.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Mistral &amp;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</a:rPr>
                        <a:t>LLaMA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 Local LLMs</a:t>
                      </a:r>
                      <a:endParaRPr lang="en-US" sz="2400"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Released open-source LLMs (7B-70B parameters) for local deployment via Ollama. Enables on-premises AI inference without cloud dependency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Generic models without cybersecurity specialization, no RAG integration, no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</a:rPr>
                        <a:t>pentesting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 knowledge base, requires manual prompt engineering</a:t>
                      </a:r>
                      <a:endParaRPr lang="en-US" sz="24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2024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722869922"/>
                  </a:ext>
                </a:extLst>
              </a:tr>
              <a:tr h="3721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PROPOSED: Red ELISAR</a:t>
                      </a:r>
                      <a:endParaRPr lang="en-US" sz="2400"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Privacy-Preserving Offensive Security Agent using Edge AI and Visual Reasoning</a:t>
                      </a:r>
                      <a:endParaRPr lang="en-US" sz="2400"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First framework combining: (1) RAG with MITRE ATT&amp;CK vector DB, (2) Local LLM via Ollama, (3) Chain-of-Thought reasoning, (4) Automated Mermaid attack graphs. Achieved 89% attack plan accuracy with 14s latency on 16GB laptop. 100% privacy through air-gapped deployment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Evaluation on synthetic scenarios (50 </a:t>
                      </a:r>
                      <a:r>
                        <a:rPr lang="en-US" sz="2400" dirty="0" err="1">
                          <a:solidFill>
                            <a:srgbClr val="333333"/>
                          </a:solidFill>
                        </a:rPr>
                        <a:t>pentest</a:t>
                      </a: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 cases), limited to software vulnerabilities (no hardware/network attacks), requires domain knowledge for target description</a:t>
                      </a:r>
                      <a:endParaRPr lang="en-US" sz="24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</a:rPr>
                        <a:t>2026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6049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760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C956-DFD0-58B8-F2C2-839F5BD8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36E282D-B0D2-1B1D-276F-A573BB6A392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36169E-C807-A713-B7A0-9A10715D3088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35506EF-0E9B-1641-0936-581880837E9D}"/>
              </a:ext>
            </a:extLst>
          </p:cNvPr>
          <p:cNvGrpSpPr/>
          <p:nvPr/>
        </p:nvGrpSpPr>
        <p:grpSpPr>
          <a:xfrm>
            <a:off x="164433" y="188013"/>
            <a:ext cx="17959134" cy="9910974"/>
            <a:chOff x="0" y="0"/>
            <a:chExt cx="4729978" cy="261029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712A52-1B0E-E13D-9A52-51BE8BA2574A}"/>
                </a:ext>
              </a:extLst>
            </p:cNvPr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4917C28-D033-81DA-1D2F-C973F04DFDEE}"/>
                </a:ext>
              </a:extLst>
            </p:cNvPr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EF09DF5-996A-0175-1A3D-15E0944FF6BC}"/>
              </a:ext>
            </a:extLst>
          </p:cNvPr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0CFF00F-6FFD-EB8D-729A-D909EAE0FE0A}"/>
                </a:ext>
              </a:extLst>
            </p:cNvPr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196BD57-4F83-542A-CDC4-8F68D1BA28E2}"/>
                </a:ext>
              </a:extLst>
            </p:cNvPr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215030C-A277-213D-95B6-6104A99C94E0}"/>
              </a:ext>
            </a:extLst>
          </p:cNvPr>
          <p:cNvGrpSpPr/>
          <p:nvPr/>
        </p:nvGrpSpPr>
        <p:grpSpPr>
          <a:xfrm>
            <a:off x="838200" y="800101"/>
            <a:ext cx="14732595" cy="1866768"/>
            <a:chOff x="593891" y="1303004"/>
            <a:chExt cx="19643460" cy="24890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4C6CEF8-F6A7-9AFC-86CC-D59AB0F7433E}"/>
                </a:ext>
              </a:extLst>
            </p:cNvPr>
            <p:cNvSpPr/>
            <p:nvPr/>
          </p:nvSpPr>
          <p:spPr>
            <a:xfrm>
              <a:off x="1609891" y="2077517"/>
              <a:ext cx="18627460" cy="1714511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FF6BE77-1755-17D5-CE56-C765C34924C2}"/>
                </a:ext>
              </a:extLst>
            </p:cNvPr>
            <p:cNvSpPr txBox="1"/>
            <p:nvPr/>
          </p:nvSpPr>
          <p:spPr>
            <a:xfrm>
              <a:off x="593891" y="1303004"/>
              <a:ext cx="18033569" cy="93351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7200"/>
                </a:lnSpc>
              </a:pPr>
              <a:r>
                <a:rPr lang="en-US" sz="6000" b="1" dirty="0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TECHNIQUE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6D340B5-7441-0941-E849-158930D9A789}"/>
              </a:ext>
            </a:extLst>
          </p:cNvPr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30069-405E-F91D-3694-78B9D1601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36" y="1500973"/>
            <a:ext cx="14882346" cy="83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63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433" y="179198"/>
            <a:ext cx="17959134" cy="9910974"/>
            <a:chOff x="0" y="0"/>
            <a:chExt cx="4729978" cy="26102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2166" y="179198"/>
            <a:ext cx="13970595" cy="1285882"/>
            <a:chOff x="0" y="0"/>
            <a:chExt cx="18627460" cy="17145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MODULES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6A794D-50DB-8008-BB87-1315B974E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356708"/>
            <a:ext cx="17450559" cy="767416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A9B7F4DA-5592-9C25-DD34-393967007B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83915426"/>
                  </p:ext>
                </p:extLst>
              </p:nvPr>
            </p:nvGraphicFramePr>
            <p:xfrm>
              <a:off x="-5241471" y="4494439"/>
              <a:ext cx="4572000" cy="2571750"/>
            </p:xfrm>
            <a:graphic>
              <a:graphicData uri="http://schemas.microsoft.com/office/powerpoint/2016/slidezoom">
                <pslz:sldZm>
                  <pslz:sldZmObj sldId="267" cId="0">
                    <pslz:zmPr id="{6442F3B6-B165-4A2C-8EBD-24A8528FDA93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572000" cy="25717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9B7F4DA-5592-9C25-DD34-393967007B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5241471" y="4494439"/>
                <a:ext cx="4572000" cy="25717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3B9AA-12C7-C6D7-A16A-D0FFB336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06B335E-64D5-1163-4CCF-BCDD52D84E2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FE3682A-26BB-2072-5F29-73E812902353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E456BAD-A3D3-C49C-C5BF-322BA3AD7191}"/>
              </a:ext>
            </a:extLst>
          </p:cNvPr>
          <p:cNvGrpSpPr/>
          <p:nvPr/>
        </p:nvGrpSpPr>
        <p:grpSpPr>
          <a:xfrm>
            <a:off x="164433" y="179198"/>
            <a:ext cx="17959134" cy="9910974"/>
            <a:chOff x="0" y="0"/>
            <a:chExt cx="4729978" cy="261029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295F41D-FC48-05D8-EEAD-74AA5599502B}"/>
                </a:ext>
              </a:extLst>
            </p:cNvPr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FB0F168-CA5E-E6C3-5CF1-2D5253489960}"/>
                </a:ext>
              </a:extLst>
            </p:cNvPr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D2D738D-EFE1-672E-E901-B9393CB24976}"/>
              </a:ext>
            </a:extLst>
          </p:cNvPr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B36F53D-1581-A651-786E-11D44FB1D504}"/>
                </a:ext>
              </a:extLst>
            </p:cNvPr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953B1CB-C489-5353-0EE7-82DF4D5B1129}"/>
                </a:ext>
              </a:extLst>
            </p:cNvPr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A2CDFF5-C577-7373-E694-7FA808C4DA02}"/>
              </a:ext>
            </a:extLst>
          </p:cNvPr>
          <p:cNvGrpSpPr/>
          <p:nvPr/>
        </p:nvGrpSpPr>
        <p:grpSpPr>
          <a:xfrm>
            <a:off x="682166" y="179198"/>
            <a:ext cx="13970595" cy="1285882"/>
            <a:chOff x="0" y="0"/>
            <a:chExt cx="18627460" cy="171451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29279B1-0B76-9E3C-7A5F-ADE314DD9F7F}"/>
                </a:ext>
              </a:extLst>
            </p:cNvPr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7C70209-C8B0-9D1C-B836-41F9AD6D4552}"/>
                </a:ext>
              </a:extLst>
            </p:cNvPr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MODULES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7F936118-366A-8824-B2FF-F2C4BE6335D6}"/>
              </a:ext>
            </a:extLst>
          </p:cNvPr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C49AE18-1971-24AC-E64C-E1C779519E56}"/>
              </a:ext>
            </a:extLst>
          </p:cNvPr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16E54D-40D4-1D96-6FCB-C4F82DAE3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88287"/>
            <a:ext cx="17441826" cy="770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47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12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65350" y="1390399"/>
            <a:ext cx="17502436" cy="7477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49" lvl="1" algn="just"/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Privacy-Accuracy-Interpretability Triad: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Red ELISAR demonstrates that complete privacy, high performance, and transparent reasoning can coexist in AI-powered </a:t>
            </a:r>
            <a:r>
              <a:rPr lang="en-US" sz="2999" dirty="0" err="1">
                <a:solidFill>
                  <a:srgbClr val="000000"/>
                </a:solidFill>
                <a:latin typeface="Times New Roman"/>
                <a:cs typeface="Times New Roman"/>
              </a:rPr>
              <a:t>pentesting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. Achieved 89% attack plan accuracy with 100% privacy preservation and 14-second average latency, proving that local LLM inference is practical for offensive security. </a:t>
            </a:r>
          </a:p>
          <a:p>
            <a:pPr marL="323849" lvl="1" algn="just"/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Visual Reasoning Enhances Trust: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Chain-of-Thought reasoning combined with automated Mermaid attack graphs makes AI </a:t>
            </a:r>
            <a:r>
              <a:rPr lang="en-US" sz="2999" dirty="0" err="1">
                <a:solidFill>
                  <a:srgbClr val="000000"/>
                </a:solidFill>
                <a:latin typeface="Times New Roman"/>
                <a:cs typeface="Times New Roman"/>
              </a:rPr>
              <a:t>pentesting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 decisions transparent and auditable. Security professionals can validate each attack step and understand AI reasoning through visual diagrams mapped to MITRE ATT&amp;CK.</a:t>
            </a:r>
          </a:p>
          <a:p>
            <a:pPr marL="323849" lvl="1" algn="just"/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RAG Eliminates Hallucination: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By grounding all attack suggestions in MITRE ATT&amp;CK's 650+ documented techniques, RAG ensures every generated attack plan is factually accurate and industry-validated, eliminating fake exploits common in pure LLM approaches. </a:t>
            </a:r>
          </a:p>
          <a:p>
            <a:pPr marL="323849" lvl="1" algn="just"/>
            <a:r>
              <a:rPr lang="en-US" sz="2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Air-Gapped Deployment for Sensitive environments:</a:t>
            </a:r>
          </a:p>
          <a:p>
            <a:pPr marL="323849" lvl="1" algn="just"/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With zero dependency on external APIs and ability to run on consumer hardware (16GB RAM), Red ELISAR addresses critical compliance requirements for government, defense, and enterprise </a:t>
            </a:r>
            <a:r>
              <a:rPr lang="en-US" sz="2999" dirty="0" err="1">
                <a:solidFill>
                  <a:srgbClr val="000000"/>
                </a:solidFill>
                <a:latin typeface="Times New Roman"/>
                <a:cs typeface="Times New Roman"/>
              </a:rPr>
              <a:t>pentesting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 where cloud connectivity is prohibited.</a:t>
            </a:r>
            <a:endParaRPr lang="en-US" sz="2999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392782" y="196828"/>
            <a:ext cx="13970595" cy="1285882"/>
            <a:chOff x="0" y="0"/>
            <a:chExt cx="18627460" cy="17145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5500339" y="9030873"/>
            <a:ext cx="1853882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2782" y="196828"/>
            <a:ext cx="13970595" cy="1285882"/>
            <a:chOff x="0" y="0"/>
            <a:chExt cx="18627460" cy="17145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88032" y="1563876"/>
            <a:ext cx="17190368" cy="6870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49" lvl="1" algn="just">
              <a:lnSpc>
                <a:spcPts val="449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[1] 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S. Allani, K. Bou-Chaaya, H. Rais, "ELISAR: A Multi-Agent Cybersecurity Framework Integrating Retrieval-Augmented Generation for Blue, Red, and GRC Operations," World Wide Web (Springer), vol. 29:3, 2026. DOI: 10.1007/s11280-025-01393-5</a:t>
            </a:r>
          </a:p>
          <a:p>
            <a:pPr marL="323849" lvl="1" algn="just">
              <a:lnSpc>
                <a:spcPts val="4499"/>
              </a:lnSpc>
            </a:pPr>
            <a:endParaRPr lang="en-US" sz="2999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marL="323849" lvl="1" algn="just">
              <a:lnSpc>
                <a:spcPts val="449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[2] 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MITRE Corporation, "MITRE ATT&amp;CK for AI," MITRE, 2021. [Online]. Available: https://attack.mitre.org/ </a:t>
            </a:r>
          </a:p>
          <a:p>
            <a:pPr marL="323849" lvl="1" algn="just">
              <a:lnSpc>
                <a:spcPts val="4499"/>
              </a:lnSpc>
            </a:pPr>
            <a:endParaRPr lang="en-US" sz="2999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23849" lvl="1" algn="just">
              <a:lnSpc>
                <a:spcPts val="449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[3] 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J. </a:t>
            </a:r>
            <a:r>
              <a:rPr lang="en-US" sz="2999" dirty="0" err="1">
                <a:solidFill>
                  <a:srgbClr val="000000"/>
                </a:solidFill>
                <a:latin typeface="Times New Roman"/>
                <a:cs typeface="Times New Roman"/>
              </a:rPr>
              <a:t>Achiam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 et al., "GPT-4 Technical Report," arXiv:2303.08774, 2023.</a:t>
            </a:r>
          </a:p>
          <a:p>
            <a:pPr marL="323849" lvl="1" algn="just">
              <a:lnSpc>
                <a:spcPts val="4499"/>
              </a:lnSpc>
            </a:pPr>
            <a:endParaRPr lang="en-US" sz="2999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marL="323849" lvl="1" algn="just">
              <a:lnSpc>
                <a:spcPts val="449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[4] 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P. Lewis et al., "Retrieval-Augmented Generation for Knowledge-Intensive NLP Tasks," in Proc. </a:t>
            </a:r>
            <a:r>
              <a:rPr lang="en-US" sz="2999" dirty="0" err="1">
                <a:solidFill>
                  <a:srgbClr val="000000"/>
                </a:solidFill>
                <a:latin typeface="Times New Roman"/>
                <a:cs typeface="Times New Roman"/>
              </a:rPr>
              <a:t>NeurIPS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, 2020, pp. 9459-9474. </a:t>
            </a:r>
          </a:p>
          <a:p>
            <a:pPr marL="323849" lvl="1" algn="just">
              <a:lnSpc>
                <a:spcPts val="4499"/>
              </a:lnSpc>
            </a:pPr>
            <a:endParaRPr lang="en-US" sz="2999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7B6A-33CC-4EEC-0A6D-CD8B8AF58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FBE6CE3-CBFC-3D6F-CA61-B65878BFA6E7}"/>
              </a:ext>
            </a:extLst>
          </p:cNvPr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A74A57F-138F-8C1D-421C-BC09209B5006}"/>
                </a:ext>
              </a:extLst>
            </p:cNvPr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46BDE99-5C22-9455-0197-1CD349BE2AF3}"/>
                </a:ext>
              </a:extLst>
            </p:cNvPr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31C3CD5-D4EC-A672-E2D0-417BA78022DB}"/>
              </a:ext>
            </a:extLst>
          </p:cNvPr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3281F82-0961-A5FF-533D-5FF69D135308}"/>
                </a:ext>
              </a:extLst>
            </p:cNvPr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6D2EA57-8F6E-6EFB-D5B4-1D6A51C8DE3D}"/>
                </a:ext>
              </a:extLst>
            </p:cNvPr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14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DBA6E54-D34E-2DB7-8728-9488DEB466A4}"/>
              </a:ext>
            </a:extLst>
          </p:cNvPr>
          <p:cNvGrpSpPr/>
          <p:nvPr/>
        </p:nvGrpSpPr>
        <p:grpSpPr>
          <a:xfrm>
            <a:off x="392782" y="196828"/>
            <a:ext cx="13970595" cy="1285882"/>
            <a:chOff x="0" y="0"/>
            <a:chExt cx="18627460" cy="17145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DBD0CFE-BF43-80E0-8FCD-EFA9E9E36A81}"/>
                </a:ext>
              </a:extLst>
            </p:cNvPr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9227FE0-2114-126D-790B-459E917D0F0F}"/>
                </a:ext>
              </a:extLst>
            </p:cNvPr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B1244433-62D4-E9CF-B5C7-82270C227A9D}"/>
              </a:ext>
            </a:extLst>
          </p:cNvPr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1BA6B97-3F5A-03F8-F356-D25AD6BB7D54}"/>
              </a:ext>
            </a:extLst>
          </p:cNvPr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8613E1-79AE-B936-B601-F42215E9068B}"/>
              </a:ext>
            </a:extLst>
          </p:cNvPr>
          <p:cNvSpPr txBox="1"/>
          <p:nvPr/>
        </p:nvSpPr>
        <p:spPr>
          <a:xfrm>
            <a:off x="459351" y="1465051"/>
            <a:ext cx="17451633" cy="638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9" lvl="1" algn="just">
              <a:lnSpc>
                <a:spcPts val="449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[5]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 M. A. </a:t>
            </a:r>
            <a:r>
              <a:rPr lang="en-US" sz="2999" dirty="0" err="1">
                <a:solidFill>
                  <a:srgbClr val="000000"/>
                </a:solidFill>
                <a:latin typeface="Times New Roman"/>
                <a:cs typeface="Times New Roman"/>
              </a:rPr>
              <a:t>Ferrag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 et al., "Generative AI and Large Language Models for Cybersecurity: A Comprehensive Survey," arXiv:2405.01004, 2024.</a:t>
            </a:r>
          </a:p>
          <a:p>
            <a:pPr marL="323849" lvl="1" algn="just">
              <a:lnSpc>
                <a:spcPts val="4499"/>
              </a:lnSpc>
            </a:pPr>
            <a:endParaRPr lang="en-US" sz="2999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marL="323849" lvl="1" algn="just">
              <a:lnSpc>
                <a:spcPts val="449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[6] 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L. J. Valencia, "Autonomous Cyberattack with Security-Augmented Generative Models," IEEE Trans. Inf. Forensics </a:t>
            </a:r>
            <a:r>
              <a:rPr lang="en-US" sz="2999" dirty="0" err="1">
                <a:solidFill>
                  <a:srgbClr val="000000"/>
                </a:solidFill>
                <a:latin typeface="Times New Roman"/>
                <a:cs typeface="Times New Roman"/>
              </a:rPr>
              <a:t>Secur</a:t>
            </a: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., vol. 19, pp. 1234-1245, 2024.</a:t>
            </a:r>
          </a:p>
          <a:p>
            <a:pPr marL="323849" lvl="1" algn="just">
              <a:lnSpc>
                <a:spcPts val="4499"/>
              </a:lnSpc>
            </a:pPr>
            <a:endParaRPr lang="en-US" sz="2999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23849" lvl="1" algn="just">
              <a:lnSpc>
                <a:spcPts val="449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[7] J. Smith and J. Doe, "When LLMs Meet Cybersecurity: A Systematic Literature Review," Journal of Cybersecurity, vol. 10, no. 2, pp. 45-67, 2024.</a:t>
            </a:r>
          </a:p>
          <a:p>
            <a:pPr marL="323849" lvl="1" algn="just">
              <a:lnSpc>
                <a:spcPts val="4499"/>
              </a:lnSpc>
            </a:pPr>
            <a:r>
              <a:rPr lang="en-US" sz="2999" dirty="0">
                <a:solidFill>
                  <a:srgbClr val="000000"/>
                </a:solidFill>
                <a:latin typeface="Times New Roman"/>
                <a:cs typeface="Times New Roman"/>
              </a:rPr>
              <a:t>
[8] CVE Program, "Common Vulnerabilities and Exposures," MITRE, 2024. [Online]. Available: https://cve.mitre.org/</a:t>
            </a:r>
            <a:endParaRPr lang="en-US" sz="2999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4285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1077" y="196828"/>
            <a:ext cx="17959134" cy="9910974"/>
            <a:chOff x="0" y="0"/>
            <a:chExt cx="4729978" cy="26102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17676" y="3829542"/>
            <a:ext cx="13677103" cy="2645546"/>
            <a:chOff x="0" y="0"/>
            <a:chExt cx="18236137" cy="35273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36136" cy="3527394"/>
            </a:xfrm>
            <a:custGeom>
              <a:avLst/>
              <a:gdLst/>
              <a:ahLst/>
              <a:cxnLst/>
              <a:rect l="l" t="t" r="r" b="b"/>
              <a:pathLst>
                <a:path w="18236136" h="3527394">
                  <a:moveTo>
                    <a:pt x="0" y="0"/>
                  </a:moveTo>
                  <a:lnTo>
                    <a:pt x="18236136" y="0"/>
                  </a:lnTo>
                  <a:lnTo>
                    <a:pt x="18236136" y="3527394"/>
                  </a:lnTo>
                  <a:lnTo>
                    <a:pt x="0" y="35273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66700"/>
              <a:ext cx="18236137" cy="379409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6320"/>
                </a:lnSpc>
              </a:pPr>
              <a:r>
                <a:rPr lang="en-US" sz="13600">
                  <a:solidFill>
                    <a:srgbClr val="0070C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</a:t>
              </a:r>
              <a:r>
                <a:rPr lang="en-US" sz="13600">
                  <a:solidFill>
                    <a:srgbClr val="001D5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92782" y="9324975"/>
            <a:ext cx="578768" cy="578768"/>
            <a:chOff x="0" y="0"/>
            <a:chExt cx="152433" cy="1524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15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5490814" y="9030873"/>
            <a:ext cx="1853882" cy="60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1549</Words>
  <Application>Microsoft Office PowerPoint</Application>
  <PresentationFormat>Custom</PresentationFormat>
  <Paragraphs>176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PT Serif Bold Italics</vt:lpstr>
      <vt:lpstr>Calibri</vt:lpstr>
      <vt:lpstr>Arial</vt:lpstr>
      <vt:lpstr>Times New Roman</vt:lpstr>
      <vt:lpstr>Canva Sans</vt:lpstr>
      <vt:lpstr>Times New Roman Bold</vt:lpstr>
      <vt:lpstr>PT Serif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mini_project</dc:title>
  <dc:creator>HARI KISHORE</dc:creator>
  <cp:lastModifiedBy>SURESHKUMAR T.K</cp:lastModifiedBy>
  <cp:revision>10</cp:revision>
  <dcterms:created xsi:type="dcterms:W3CDTF">2006-08-16T00:00:00Z</dcterms:created>
  <dcterms:modified xsi:type="dcterms:W3CDTF">2026-03-17T15:57:43Z</dcterms:modified>
  <dc:identifier>DAGe8UZLz14</dc:identifier>
</cp:coreProperties>
</file>