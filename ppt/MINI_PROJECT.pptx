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56" r:id="rId2"/>
    <p:sldId id="257" r:id="rId3"/>
    <p:sldId id="258" r:id="rId4"/>
    <p:sldId id="276" r:id="rId5"/>
    <p:sldId id="259" r:id="rId6"/>
    <p:sldId id="272" r:id="rId7"/>
    <p:sldId id="261" r:id="rId8"/>
    <p:sldId id="262" r:id="rId9"/>
    <p:sldId id="273" r:id="rId10"/>
    <p:sldId id="274" r:id="rId11"/>
    <p:sldId id="266" r:id="rId12"/>
    <p:sldId id="267" r:id="rId13"/>
    <p:sldId id="275" r:id="rId14"/>
    <p:sldId id="268" r:id="rId15"/>
    <p:sldId id="269" r:id="rId16"/>
    <p:sldId id="270" r:id="rId17"/>
  </p:sldIdLst>
  <p:sldSz cx="18288000" cy="10287000"/>
  <p:notesSz cx="6858000" cy="9144000"/>
  <p:embeddedFontLst>
    <p:embeddedFont>
      <p:font typeface="Canva Sans" panose="020B0604020202020204" charset="0"/>
      <p:regular r:id="rId19"/>
    </p:embeddedFont>
    <p:embeddedFont>
      <p:font typeface="PT Serif" panose="020A0603040505020204" pitchFamily="18" charset="0"/>
      <p:regular r:id="rId20"/>
      <p:bold r:id="rId21"/>
      <p:italic r:id="rId22"/>
      <p:boldItalic r:id="rId23"/>
    </p:embeddedFont>
    <p:embeddedFont>
      <p:font typeface="PT Serif Bold" panose="020A0703040505020204" charset="0"/>
      <p:regular r:id="rId24"/>
    </p:embeddedFont>
    <p:embeddedFont>
      <p:font typeface="PT Serif Bold Italics" panose="020B0604020202020204" charset="0"/>
      <p:regular r:id="rId25"/>
    </p:embeddedFont>
    <p:embeddedFont>
      <p:font typeface="Times New Roman Bold" panose="02020803070505020304" pitchFamily="18" charset="0"/>
      <p:regular r:id="rId26"/>
      <p:bold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32F9FAD-A281-45D3-9BE3-109E0B446274}">
          <p14:sldIdLst>
            <p14:sldId id="256"/>
            <p14:sldId id="257"/>
            <p14:sldId id="258"/>
          </p14:sldIdLst>
        </p14:section>
        <p14:section name="Untitled Section" id="{D73B5716-1DBB-4686-BC11-26E2E85E0C39}">
          <p14:sldIdLst>
            <p14:sldId id="276"/>
            <p14:sldId id="259"/>
            <p14:sldId id="272"/>
            <p14:sldId id="261"/>
            <p14:sldId id="262"/>
            <p14:sldId id="273"/>
            <p14:sldId id="274"/>
            <p14:sldId id="266"/>
            <p14:sldId id="267"/>
            <p14:sldId id="275"/>
            <p14:sldId id="268"/>
            <p14:sldId id="269"/>
            <p14:sldId id="270"/>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D03B4F-599F-460C-A680-DEDB53ADAA2D}" v="58" dt="2026-02-14T17:26:06.5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39" d="100"/>
          <a:sy n="39" d="100"/>
        </p:scale>
        <p:origin x="940"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DB0B3-3BDC-206B-64DB-C8551BE4284E}"/>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7F2E5FA8-0707-6737-7B7C-198A7BAE422C}"/>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B8726C47-6A47-BF60-F105-3A47E8E65C8A}"/>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20E10EA8-A52B-0DD2-2B14-994DF07A8B7B}"/>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31F345C8-26D9-39D9-5679-A2E389389EF2}"/>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a:extLst>
              <a:ext uri="{FF2B5EF4-FFF2-40B4-BE49-F238E27FC236}">
                <a16:creationId xmlns:a16="http://schemas.microsoft.com/office/drawing/2014/main" id="{80A3C967-16DE-ECC3-CE11-A4EA614BC4CD}"/>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A97C2BAB-7BB0-7D7E-0008-D9C20B789424}"/>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6360500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file:///D:\MINI%20PROJECT\Explainable_AI_With_Homomorphic_Encryption_for_Secure_Cloud-Based_ECG_Analysis_in_Heart_Disease_Diagnosis.pdf" TargetMode="External"/><Relationship Id="rId2" Type="http://schemas.openxmlformats.org/officeDocument/2006/relationships/hyperlink" Target="https://doi.org/10.1007/s11042-020-09625-8" TargetMode="External"/><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grpSp>
        <p:nvGrpSpPr>
          <p:cNvPr id="4" name="Group 4"/>
          <p:cNvGrpSpPr/>
          <p:nvPr/>
        </p:nvGrpSpPr>
        <p:grpSpPr>
          <a:xfrm>
            <a:off x="14401800" y="228602"/>
            <a:ext cx="3498273" cy="2052372"/>
            <a:chOff x="0" y="0"/>
            <a:chExt cx="4664364" cy="2736496"/>
          </a:xfrm>
        </p:grpSpPr>
        <p:sp>
          <p:nvSpPr>
            <p:cNvPr id="5" name="Freeform 5"/>
            <p:cNvSpPr/>
            <p:nvPr/>
          </p:nvSpPr>
          <p:spPr>
            <a:xfrm>
              <a:off x="0" y="0"/>
              <a:ext cx="4664329" cy="2736469"/>
            </a:xfrm>
            <a:custGeom>
              <a:avLst/>
              <a:gdLst/>
              <a:ahLst/>
              <a:cxnLst/>
              <a:rect l="l" t="t" r="r" b="b"/>
              <a:pathLst>
                <a:path w="4664329" h="2736469">
                  <a:moveTo>
                    <a:pt x="0" y="0"/>
                  </a:moveTo>
                  <a:lnTo>
                    <a:pt x="4664329" y="0"/>
                  </a:lnTo>
                  <a:lnTo>
                    <a:pt x="4664329" y="2736469"/>
                  </a:lnTo>
                  <a:lnTo>
                    <a:pt x="0" y="2736469"/>
                  </a:lnTo>
                  <a:close/>
                </a:path>
              </a:pathLst>
            </a:custGeom>
            <a:solidFill>
              <a:srgbClr val="FFFFFF"/>
            </a:solidFill>
          </p:spPr>
        </p:sp>
      </p:grpSp>
      <p:grpSp>
        <p:nvGrpSpPr>
          <p:cNvPr id="6" name="Group 6"/>
          <p:cNvGrpSpPr/>
          <p:nvPr/>
        </p:nvGrpSpPr>
        <p:grpSpPr>
          <a:xfrm>
            <a:off x="161077" y="196828"/>
            <a:ext cx="17959134" cy="9910974"/>
            <a:chOff x="0" y="0"/>
            <a:chExt cx="4729978" cy="2610298"/>
          </a:xfrm>
        </p:grpSpPr>
        <p:sp>
          <p:nvSpPr>
            <p:cNvPr id="7" name="Freeform 7"/>
            <p:cNvSpPr/>
            <p:nvPr/>
          </p:nvSpPr>
          <p:spPr>
            <a:xfrm>
              <a:off x="0" y="0"/>
              <a:ext cx="4729978" cy="2610298"/>
            </a:xfrm>
            <a:custGeom>
              <a:avLst/>
              <a:gdLst/>
              <a:ahLst/>
              <a:cxnLst/>
              <a:rect l="l" t="t" r="r" b="b"/>
              <a:pathLst>
                <a:path w="4729978" h="2610298">
                  <a:moveTo>
                    <a:pt x="0" y="0"/>
                  </a:moveTo>
                  <a:lnTo>
                    <a:pt x="4729978" y="0"/>
                  </a:lnTo>
                  <a:lnTo>
                    <a:pt x="4729978" y="2610298"/>
                  </a:lnTo>
                  <a:lnTo>
                    <a:pt x="0" y="2610298"/>
                  </a:lnTo>
                  <a:close/>
                </a:path>
              </a:pathLst>
            </a:custGeom>
            <a:solidFill>
              <a:srgbClr val="000000">
                <a:alpha val="0"/>
              </a:srgbClr>
            </a:solidFill>
            <a:ln w="28575" cap="sq">
              <a:solidFill>
                <a:srgbClr val="000000"/>
              </a:solidFill>
              <a:prstDash val="solid"/>
              <a:miter/>
            </a:ln>
          </p:spPr>
        </p:sp>
        <p:sp>
          <p:nvSpPr>
            <p:cNvPr id="8" name="TextBox 8"/>
            <p:cNvSpPr txBox="1"/>
            <p:nvPr/>
          </p:nvSpPr>
          <p:spPr>
            <a:xfrm>
              <a:off x="0" y="-38100"/>
              <a:ext cx="4729978" cy="2648398"/>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2628900" y="7596031"/>
            <a:ext cx="13030200" cy="2156746"/>
            <a:chOff x="0" y="0"/>
            <a:chExt cx="17373600" cy="2875661"/>
          </a:xfrm>
        </p:grpSpPr>
        <p:sp>
          <p:nvSpPr>
            <p:cNvPr id="10" name="Freeform 10"/>
            <p:cNvSpPr/>
            <p:nvPr/>
          </p:nvSpPr>
          <p:spPr>
            <a:xfrm>
              <a:off x="0" y="0"/>
              <a:ext cx="17373600" cy="2875661"/>
            </a:xfrm>
            <a:custGeom>
              <a:avLst/>
              <a:gdLst/>
              <a:ahLst/>
              <a:cxnLst/>
              <a:rect l="l" t="t" r="r" b="b"/>
              <a:pathLst>
                <a:path w="17373600" h="2875661">
                  <a:moveTo>
                    <a:pt x="0" y="0"/>
                  </a:moveTo>
                  <a:lnTo>
                    <a:pt x="17373600" y="0"/>
                  </a:lnTo>
                  <a:lnTo>
                    <a:pt x="17373600" y="2875661"/>
                  </a:lnTo>
                  <a:lnTo>
                    <a:pt x="0" y="2875661"/>
                  </a:lnTo>
                  <a:close/>
                </a:path>
              </a:pathLst>
            </a:custGeom>
            <a:solidFill>
              <a:srgbClr val="000000">
                <a:alpha val="0"/>
              </a:srgbClr>
            </a:solidFill>
          </p:spPr>
        </p:sp>
        <p:sp>
          <p:nvSpPr>
            <p:cNvPr id="11" name="TextBox 11"/>
            <p:cNvSpPr txBox="1"/>
            <p:nvPr/>
          </p:nvSpPr>
          <p:spPr>
            <a:xfrm>
              <a:off x="0" y="0"/>
              <a:ext cx="17373600" cy="2875661"/>
            </a:xfrm>
            <a:prstGeom prst="rect">
              <a:avLst/>
            </a:prstGeom>
          </p:spPr>
          <p:txBody>
            <a:bodyPr lIns="0" tIns="0" rIns="0" bIns="0" rtlCol="0" anchor="b"/>
            <a:lstStyle/>
            <a:p>
              <a:pPr algn="ctr">
                <a:lnSpc>
                  <a:spcPts val="3996"/>
                </a:lnSpc>
              </a:pPr>
              <a:r>
                <a:rPr lang="en-US" sz="3330" b="1" spc="15" dirty="0">
                  <a:solidFill>
                    <a:srgbClr val="C00000"/>
                  </a:solidFill>
                  <a:latin typeface="PT Serif Bold"/>
                  <a:ea typeface="PT Serif Bold"/>
                  <a:cs typeface="PT Serif Bold"/>
                  <a:sym typeface="PT Serif Bold"/>
                </a:rPr>
                <a:t>Guided By,</a:t>
              </a:r>
            </a:p>
            <a:p>
              <a:pPr algn="ctr">
                <a:lnSpc>
                  <a:spcPts val="3996"/>
                </a:lnSpc>
              </a:pPr>
              <a:r>
                <a:rPr lang="en-US" sz="3330" b="1" spc="15" dirty="0">
                  <a:solidFill>
                    <a:srgbClr val="002060"/>
                  </a:solidFill>
                  <a:latin typeface="PT Serif Bold"/>
                  <a:ea typeface="PT Serif Bold"/>
                  <a:cs typeface="PT Serif Bold"/>
                  <a:sym typeface="PT Serif Bold"/>
                </a:rPr>
                <a:t>Dr. </a:t>
              </a:r>
              <a:r>
                <a:rPr lang="en-US" sz="3330" b="1" spc="15" dirty="0" err="1">
                  <a:solidFill>
                    <a:srgbClr val="002060"/>
                  </a:solidFill>
                  <a:latin typeface="PT Serif Bold"/>
                  <a:ea typeface="PT Serif Bold"/>
                  <a:cs typeface="PT Serif Bold"/>
                  <a:sym typeface="PT Serif Bold"/>
                </a:rPr>
                <a:t>Alageswaran</a:t>
              </a:r>
              <a:r>
                <a:rPr lang="en-US" sz="3330" b="1" spc="15" dirty="0">
                  <a:solidFill>
                    <a:srgbClr val="002060"/>
                  </a:solidFill>
                  <a:latin typeface="PT Serif Bold"/>
                  <a:ea typeface="PT Serif Bold"/>
                  <a:cs typeface="PT Serif Bold"/>
                  <a:sym typeface="PT Serif Bold"/>
                </a:rPr>
                <a:t> R</a:t>
              </a:r>
            </a:p>
            <a:p>
              <a:pPr algn="ctr">
                <a:lnSpc>
                  <a:spcPts val="3996"/>
                </a:lnSpc>
              </a:pPr>
              <a:r>
                <a:rPr lang="en-US" sz="3330" spc="15" dirty="0">
                  <a:solidFill>
                    <a:srgbClr val="FFFF00"/>
                  </a:solidFill>
                  <a:latin typeface="PT Serif"/>
                  <a:ea typeface="PT Serif"/>
                  <a:cs typeface="PT Serif"/>
                  <a:sym typeface="PT Serif"/>
                </a:rPr>
                <a:t> </a:t>
              </a:r>
              <a:r>
                <a:rPr lang="en-US" sz="3330" b="1" i="1" spc="15" dirty="0">
                  <a:solidFill>
                    <a:srgbClr val="C00000"/>
                  </a:solidFill>
                  <a:latin typeface="PT Serif Bold Italics"/>
                  <a:ea typeface="PT Serif Bold Italics"/>
                  <a:cs typeface="PT Serif Bold Italics"/>
                  <a:sym typeface="PT Serif Bold Italics"/>
                </a:rPr>
                <a:t>Associate Dean , School of Computing</a:t>
              </a:r>
            </a:p>
          </p:txBody>
        </p:sp>
      </p:grpSp>
      <p:grpSp>
        <p:nvGrpSpPr>
          <p:cNvPr id="12" name="Group 12"/>
          <p:cNvGrpSpPr/>
          <p:nvPr/>
        </p:nvGrpSpPr>
        <p:grpSpPr>
          <a:xfrm>
            <a:off x="392782" y="9324975"/>
            <a:ext cx="578768" cy="578768"/>
            <a:chOff x="0" y="0"/>
            <a:chExt cx="152433" cy="152433"/>
          </a:xfrm>
        </p:grpSpPr>
        <p:sp>
          <p:nvSpPr>
            <p:cNvPr id="13" name="Freeform 13"/>
            <p:cNvSpPr/>
            <p:nvPr/>
          </p:nvSpPr>
          <p:spPr>
            <a:xfrm>
              <a:off x="0" y="0"/>
              <a:ext cx="152433" cy="152433"/>
            </a:xfrm>
            <a:custGeom>
              <a:avLst/>
              <a:gdLst/>
              <a:ahLst/>
              <a:cxnLst/>
              <a:rect l="l" t="t" r="r" b="b"/>
              <a:pathLst>
                <a:path w="152433" h="152433">
                  <a:moveTo>
                    <a:pt x="0" y="0"/>
                  </a:moveTo>
                  <a:lnTo>
                    <a:pt x="152433" y="0"/>
                  </a:lnTo>
                  <a:lnTo>
                    <a:pt x="152433" y="152433"/>
                  </a:lnTo>
                  <a:lnTo>
                    <a:pt x="0" y="152433"/>
                  </a:lnTo>
                  <a:close/>
                </a:path>
              </a:pathLst>
            </a:custGeom>
            <a:solidFill>
              <a:srgbClr val="FF4500"/>
            </a:solidFill>
          </p:spPr>
        </p:sp>
        <p:sp>
          <p:nvSpPr>
            <p:cNvPr id="14" name="TextBox 14"/>
            <p:cNvSpPr txBox="1"/>
            <p:nvPr/>
          </p:nvSpPr>
          <p:spPr>
            <a:xfrm>
              <a:off x="0" y="-47625"/>
              <a:ext cx="152433" cy="200058"/>
            </a:xfrm>
            <a:prstGeom prst="rect">
              <a:avLst/>
            </a:prstGeom>
          </p:spPr>
          <p:txBody>
            <a:bodyPr lIns="50800" tIns="50800" rIns="50800" bIns="50800" rtlCol="0" anchor="ctr"/>
            <a:lstStyle/>
            <a:p>
              <a:pPr algn="ctr">
                <a:lnSpc>
                  <a:spcPts val="3499"/>
                </a:lnSpc>
              </a:pPr>
              <a:r>
                <a:rPr lang="en-US" sz="2499">
                  <a:solidFill>
                    <a:srgbClr val="FFFFFF"/>
                  </a:solidFill>
                  <a:latin typeface="Canva Sans"/>
                  <a:ea typeface="Canva Sans"/>
                  <a:cs typeface="Canva Sans"/>
                  <a:sym typeface="Canva Sans"/>
                </a:rPr>
                <a:t>1</a:t>
              </a:r>
            </a:p>
          </p:txBody>
        </p:sp>
      </p:grpSp>
      <p:sp>
        <p:nvSpPr>
          <p:cNvPr id="15" name="Freeform 15"/>
          <p:cNvSpPr/>
          <p:nvPr/>
        </p:nvSpPr>
        <p:spPr>
          <a:xfrm>
            <a:off x="2602118" y="653707"/>
            <a:ext cx="13084230" cy="2935774"/>
          </a:xfrm>
          <a:custGeom>
            <a:avLst/>
            <a:gdLst/>
            <a:ahLst/>
            <a:cxnLst/>
            <a:rect l="l" t="t" r="r" b="b"/>
            <a:pathLst>
              <a:path w="13084230" h="2935774">
                <a:moveTo>
                  <a:pt x="0" y="0"/>
                </a:moveTo>
                <a:lnTo>
                  <a:pt x="13084230" y="0"/>
                </a:lnTo>
                <a:lnTo>
                  <a:pt x="13084230" y="2935774"/>
                </a:lnTo>
                <a:lnTo>
                  <a:pt x="0" y="2935774"/>
                </a:lnTo>
                <a:lnTo>
                  <a:pt x="0" y="0"/>
                </a:lnTo>
                <a:close/>
              </a:path>
            </a:pathLst>
          </a:custGeom>
          <a:blipFill>
            <a:blip r:embed="rId3"/>
            <a:stretch>
              <a:fillRect/>
            </a:stretch>
          </a:blipFill>
        </p:spPr>
      </p:sp>
      <p:sp>
        <p:nvSpPr>
          <p:cNvPr id="16" name="TextBox 16"/>
          <p:cNvSpPr txBox="1"/>
          <p:nvPr/>
        </p:nvSpPr>
        <p:spPr>
          <a:xfrm>
            <a:off x="1028700" y="3837131"/>
            <a:ext cx="16230600" cy="1538883"/>
          </a:xfrm>
          <a:prstGeom prst="rect">
            <a:avLst/>
          </a:prstGeom>
        </p:spPr>
        <p:txBody>
          <a:bodyPr lIns="0" tIns="0" rIns="0" bIns="0" rtlCol="0" anchor="t">
            <a:spAutoFit/>
          </a:bodyPr>
          <a:lstStyle/>
          <a:p>
            <a:pPr algn="ctr">
              <a:lnSpc>
                <a:spcPts val="6040"/>
              </a:lnSpc>
            </a:pPr>
            <a:r>
              <a:rPr lang="en-US" sz="5400" dirty="0"/>
              <a:t>A Privacy-Preserving, Autonomous Offensive Security Agent using Edge AI and Visual Reasoning</a:t>
            </a:r>
            <a:endParaRPr lang="en-US" sz="5033" dirty="0">
              <a:solidFill>
                <a:srgbClr val="000000"/>
              </a:solidFill>
              <a:latin typeface="Times New Roman"/>
              <a:ea typeface="Times New Roman"/>
              <a:cs typeface="Times New Roman"/>
              <a:sym typeface="Times New Roman"/>
            </a:endParaRPr>
          </a:p>
        </p:txBody>
      </p:sp>
      <p:sp>
        <p:nvSpPr>
          <p:cNvPr id="17" name="TextBox 17"/>
          <p:cNvSpPr txBox="1"/>
          <p:nvPr/>
        </p:nvSpPr>
        <p:spPr>
          <a:xfrm>
            <a:off x="6089625" y="5728947"/>
            <a:ext cx="6109216" cy="1461939"/>
          </a:xfrm>
          <a:prstGeom prst="rect">
            <a:avLst/>
          </a:prstGeom>
        </p:spPr>
        <p:txBody>
          <a:bodyPr lIns="0" tIns="0" rIns="0" bIns="0" rtlCol="0" anchor="t">
            <a:spAutoFit/>
          </a:bodyPr>
          <a:lstStyle/>
          <a:p>
            <a:pPr algn="just">
              <a:lnSpc>
                <a:spcPts val="3839"/>
              </a:lnSpc>
            </a:pPr>
            <a:r>
              <a:rPr lang="en-US" sz="3199" dirty="0">
                <a:solidFill>
                  <a:srgbClr val="000000"/>
                </a:solidFill>
                <a:latin typeface="Times New Roman"/>
                <a:ea typeface="Times New Roman"/>
                <a:cs typeface="Times New Roman"/>
                <a:sym typeface="Times New Roman"/>
              </a:rPr>
              <a:t>127157059  Vasanth Krishna V</a:t>
            </a:r>
          </a:p>
          <a:p>
            <a:pPr algn="just">
              <a:lnSpc>
                <a:spcPts val="3839"/>
              </a:lnSpc>
            </a:pPr>
            <a:r>
              <a:rPr lang="en-US" sz="3199" dirty="0">
                <a:solidFill>
                  <a:srgbClr val="000000"/>
                </a:solidFill>
                <a:latin typeface="Times New Roman"/>
                <a:ea typeface="Times New Roman"/>
                <a:cs typeface="Times New Roman"/>
                <a:sym typeface="Times New Roman"/>
              </a:rPr>
              <a:t>127157023  Mahizhnan C</a:t>
            </a:r>
          </a:p>
          <a:p>
            <a:pPr algn="just">
              <a:lnSpc>
                <a:spcPts val="3839"/>
              </a:lnSpc>
            </a:pPr>
            <a:r>
              <a:rPr lang="en-US" sz="3199" dirty="0">
                <a:solidFill>
                  <a:srgbClr val="000000"/>
                </a:solidFill>
                <a:latin typeface="Times New Roman"/>
                <a:ea typeface="Times New Roman"/>
                <a:cs typeface="Times New Roman"/>
                <a:sym typeface="Times New Roman"/>
              </a:rPr>
              <a:t>127157054  Suresh Kumar TK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grpSp>
        <p:nvGrpSpPr>
          <p:cNvPr id="4" name="Group 4"/>
          <p:cNvGrpSpPr/>
          <p:nvPr/>
        </p:nvGrpSpPr>
        <p:grpSpPr>
          <a:xfrm>
            <a:off x="170602" y="196828"/>
            <a:ext cx="17959134" cy="9910974"/>
            <a:chOff x="0" y="0"/>
            <a:chExt cx="4729978" cy="2610298"/>
          </a:xfrm>
        </p:grpSpPr>
        <p:sp>
          <p:nvSpPr>
            <p:cNvPr id="5" name="Freeform 5"/>
            <p:cNvSpPr/>
            <p:nvPr/>
          </p:nvSpPr>
          <p:spPr>
            <a:xfrm>
              <a:off x="0" y="0"/>
              <a:ext cx="4729978" cy="2610298"/>
            </a:xfrm>
            <a:custGeom>
              <a:avLst/>
              <a:gdLst/>
              <a:ahLst/>
              <a:cxnLst/>
              <a:rect l="l" t="t" r="r" b="b"/>
              <a:pathLst>
                <a:path w="4729978" h="2610298">
                  <a:moveTo>
                    <a:pt x="0" y="0"/>
                  </a:moveTo>
                  <a:lnTo>
                    <a:pt x="4729978" y="0"/>
                  </a:lnTo>
                  <a:lnTo>
                    <a:pt x="4729978" y="2610298"/>
                  </a:lnTo>
                  <a:lnTo>
                    <a:pt x="0" y="2610298"/>
                  </a:lnTo>
                  <a:close/>
                </a:path>
              </a:pathLst>
            </a:custGeom>
            <a:solidFill>
              <a:srgbClr val="000000">
                <a:alpha val="0"/>
              </a:srgbClr>
            </a:solidFill>
            <a:ln w="28575" cap="sq">
              <a:solidFill>
                <a:srgbClr val="000000"/>
              </a:solidFill>
              <a:prstDash val="solid"/>
              <a:miter/>
            </a:ln>
          </p:spPr>
        </p:sp>
        <p:sp>
          <p:nvSpPr>
            <p:cNvPr id="6" name="TextBox 6"/>
            <p:cNvSpPr txBox="1"/>
            <p:nvPr/>
          </p:nvSpPr>
          <p:spPr>
            <a:xfrm>
              <a:off x="0" y="-38100"/>
              <a:ext cx="4729978" cy="2648398"/>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392782" y="374073"/>
            <a:ext cx="15544800" cy="1149657"/>
            <a:chOff x="0" y="0"/>
            <a:chExt cx="20726400" cy="1532876"/>
          </a:xfrm>
        </p:grpSpPr>
        <p:sp>
          <p:nvSpPr>
            <p:cNvPr id="8" name="Freeform 8"/>
            <p:cNvSpPr/>
            <p:nvPr/>
          </p:nvSpPr>
          <p:spPr>
            <a:xfrm>
              <a:off x="0" y="0"/>
              <a:ext cx="20726400" cy="1532876"/>
            </a:xfrm>
            <a:custGeom>
              <a:avLst/>
              <a:gdLst/>
              <a:ahLst/>
              <a:cxnLst/>
              <a:rect l="l" t="t" r="r" b="b"/>
              <a:pathLst>
                <a:path w="20726400" h="1532876">
                  <a:moveTo>
                    <a:pt x="0" y="0"/>
                  </a:moveTo>
                  <a:lnTo>
                    <a:pt x="20726400" y="0"/>
                  </a:lnTo>
                  <a:lnTo>
                    <a:pt x="20726400" y="1532876"/>
                  </a:lnTo>
                  <a:lnTo>
                    <a:pt x="0" y="1532876"/>
                  </a:lnTo>
                  <a:close/>
                </a:path>
              </a:pathLst>
            </a:custGeom>
            <a:solidFill>
              <a:srgbClr val="000000">
                <a:alpha val="0"/>
              </a:srgbClr>
            </a:solidFill>
          </p:spPr>
        </p:sp>
        <p:sp>
          <p:nvSpPr>
            <p:cNvPr id="9" name="TextBox 9"/>
            <p:cNvSpPr txBox="1"/>
            <p:nvPr/>
          </p:nvSpPr>
          <p:spPr>
            <a:xfrm>
              <a:off x="0" y="-123825"/>
              <a:ext cx="20726400" cy="1656701"/>
            </a:xfrm>
            <a:prstGeom prst="rect">
              <a:avLst/>
            </a:prstGeom>
          </p:spPr>
          <p:txBody>
            <a:bodyPr lIns="0" tIns="0" rIns="0" bIns="0" rtlCol="0" anchor="b"/>
            <a:lstStyle/>
            <a:p>
              <a:pPr algn="l">
                <a:lnSpc>
                  <a:spcPts val="7200"/>
                </a:lnSpc>
              </a:pPr>
              <a:r>
                <a:rPr lang="en-US" sz="6000" b="1">
                  <a:solidFill>
                    <a:srgbClr val="001D58"/>
                  </a:solidFill>
                  <a:latin typeface="Times New Roman Bold"/>
                  <a:ea typeface="Times New Roman Bold"/>
                  <a:cs typeface="Times New Roman Bold"/>
                  <a:sym typeface="Times New Roman Bold"/>
                </a:rPr>
                <a:t>LAYOUT OF THIS PRESENTATION</a:t>
              </a:r>
            </a:p>
          </p:txBody>
        </p:sp>
      </p:grpSp>
      <p:grpSp>
        <p:nvGrpSpPr>
          <p:cNvPr id="10" name="Group 10"/>
          <p:cNvGrpSpPr/>
          <p:nvPr/>
        </p:nvGrpSpPr>
        <p:grpSpPr>
          <a:xfrm>
            <a:off x="1028700" y="2900395"/>
            <a:ext cx="9784731" cy="4486210"/>
            <a:chOff x="0" y="0"/>
            <a:chExt cx="13046307" cy="5981614"/>
          </a:xfrm>
        </p:grpSpPr>
        <p:sp>
          <p:nvSpPr>
            <p:cNvPr id="11" name="Freeform 11"/>
            <p:cNvSpPr/>
            <p:nvPr/>
          </p:nvSpPr>
          <p:spPr>
            <a:xfrm>
              <a:off x="0" y="0"/>
              <a:ext cx="13046308" cy="5981614"/>
            </a:xfrm>
            <a:custGeom>
              <a:avLst/>
              <a:gdLst/>
              <a:ahLst/>
              <a:cxnLst/>
              <a:rect l="l" t="t" r="r" b="b"/>
              <a:pathLst>
                <a:path w="13046308" h="5981614">
                  <a:moveTo>
                    <a:pt x="0" y="0"/>
                  </a:moveTo>
                  <a:lnTo>
                    <a:pt x="13046308" y="0"/>
                  </a:lnTo>
                  <a:lnTo>
                    <a:pt x="13046308" y="5981614"/>
                  </a:lnTo>
                  <a:lnTo>
                    <a:pt x="0" y="5981614"/>
                  </a:lnTo>
                  <a:close/>
                </a:path>
              </a:pathLst>
            </a:custGeom>
            <a:solidFill>
              <a:srgbClr val="000000">
                <a:alpha val="0"/>
              </a:srgbClr>
            </a:solidFill>
          </p:spPr>
        </p:sp>
        <p:sp>
          <p:nvSpPr>
            <p:cNvPr id="12" name="TextBox 12"/>
            <p:cNvSpPr txBox="1"/>
            <p:nvPr/>
          </p:nvSpPr>
          <p:spPr>
            <a:xfrm>
              <a:off x="0" y="-104775"/>
              <a:ext cx="13046307" cy="6086389"/>
            </a:xfrm>
            <a:prstGeom prst="rect">
              <a:avLst/>
            </a:prstGeom>
          </p:spPr>
          <p:txBody>
            <a:bodyPr lIns="0" tIns="0" rIns="0" bIns="0" rtlCol="0" anchor="t"/>
            <a:lstStyle/>
            <a:p>
              <a:pPr marL="977257" lvl="1" indent="-488628" algn="l">
                <a:lnSpc>
                  <a:spcPts val="6479"/>
                </a:lnSpc>
                <a:buFont typeface="Arial"/>
                <a:buChar char="•"/>
              </a:pPr>
              <a:r>
                <a:rPr lang="en-US" sz="5399" dirty="0">
                  <a:solidFill>
                    <a:srgbClr val="000000"/>
                  </a:solidFill>
                  <a:latin typeface="Times New Roman"/>
                  <a:ea typeface="Times New Roman"/>
                  <a:cs typeface="Times New Roman"/>
                  <a:sym typeface="Times New Roman"/>
                </a:rPr>
                <a:t>Abstract</a:t>
              </a:r>
            </a:p>
            <a:p>
              <a:pPr marL="977257" lvl="1" indent="-488628" algn="l">
                <a:lnSpc>
                  <a:spcPts val="6479"/>
                </a:lnSpc>
                <a:buFont typeface="Arial"/>
                <a:buChar char="•"/>
              </a:pPr>
              <a:r>
                <a:rPr lang="en-US" sz="5399" dirty="0">
                  <a:solidFill>
                    <a:srgbClr val="000000"/>
                  </a:solidFill>
                  <a:latin typeface="Times New Roman"/>
                  <a:ea typeface="Times New Roman"/>
                  <a:cs typeface="Times New Roman"/>
                  <a:sym typeface="Times New Roman"/>
                </a:rPr>
                <a:t>Introduction</a:t>
              </a:r>
            </a:p>
            <a:p>
              <a:pPr marL="977257" lvl="1" indent="-488628" algn="l">
                <a:lnSpc>
                  <a:spcPts val="6479"/>
                </a:lnSpc>
                <a:buFont typeface="Arial"/>
                <a:buChar char="•"/>
              </a:pPr>
              <a:r>
                <a:rPr lang="en-US" sz="5399" dirty="0">
                  <a:solidFill>
                    <a:srgbClr val="000000"/>
                  </a:solidFill>
                  <a:latin typeface="Times New Roman"/>
                  <a:ea typeface="Times New Roman"/>
                  <a:cs typeface="Times New Roman"/>
                  <a:sym typeface="Times New Roman"/>
                </a:rPr>
                <a:t>Objective</a:t>
              </a:r>
            </a:p>
            <a:p>
              <a:pPr marL="977257" lvl="1" indent="-488628" algn="l">
                <a:lnSpc>
                  <a:spcPts val="6479"/>
                </a:lnSpc>
                <a:buFont typeface="Arial"/>
                <a:buChar char="•"/>
              </a:pPr>
              <a:r>
                <a:rPr lang="en-US" sz="5399" dirty="0">
                  <a:solidFill>
                    <a:srgbClr val="000000"/>
                  </a:solidFill>
                  <a:latin typeface="Times New Roman"/>
                  <a:ea typeface="Times New Roman"/>
                  <a:cs typeface="Times New Roman"/>
                  <a:sym typeface="Times New Roman"/>
                </a:rPr>
                <a:t>Base Paper</a:t>
              </a:r>
            </a:p>
            <a:p>
              <a:pPr marL="976571" lvl="1" indent="-488286" algn="l">
                <a:lnSpc>
                  <a:spcPts val="6479"/>
                </a:lnSpc>
                <a:buFont typeface="Arial"/>
                <a:buChar char="•"/>
              </a:pPr>
              <a:r>
                <a:rPr lang="en-US" sz="5399" dirty="0">
                  <a:solidFill>
                    <a:srgbClr val="000000"/>
                  </a:solidFill>
                  <a:latin typeface="Times New Roman"/>
                  <a:ea typeface="Times New Roman"/>
                  <a:cs typeface="Times New Roman"/>
                  <a:sym typeface="Times New Roman"/>
                </a:rPr>
                <a:t>Problem Statement</a:t>
              </a:r>
            </a:p>
          </p:txBody>
        </p:sp>
      </p:grpSp>
      <p:grpSp>
        <p:nvGrpSpPr>
          <p:cNvPr id="13" name="Group 13"/>
          <p:cNvGrpSpPr/>
          <p:nvPr/>
        </p:nvGrpSpPr>
        <p:grpSpPr>
          <a:xfrm>
            <a:off x="392782" y="9324975"/>
            <a:ext cx="578768" cy="578768"/>
            <a:chOff x="0" y="0"/>
            <a:chExt cx="152433" cy="152433"/>
          </a:xfrm>
        </p:grpSpPr>
        <p:sp>
          <p:nvSpPr>
            <p:cNvPr id="14" name="Freeform 14"/>
            <p:cNvSpPr/>
            <p:nvPr/>
          </p:nvSpPr>
          <p:spPr>
            <a:xfrm>
              <a:off x="0" y="0"/>
              <a:ext cx="152433" cy="152433"/>
            </a:xfrm>
            <a:custGeom>
              <a:avLst/>
              <a:gdLst/>
              <a:ahLst/>
              <a:cxnLst/>
              <a:rect l="l" t="t" r="r" b="b"/>
              <a:pathLst>
                <a:path w="152433" h="152433">
                  <a:moveTo>
                    <a:pt x="0" y="0"/>
                  </a:moveTo>
                  <a:lnTo>
                    <a:pt x="152433" y="0"/>
                  </a:lnTo>
                  <a:lnTo>
                    <a:pt x="152433" y="152433"/>
                  </a:lnTo>
                  <a:lnTo>
                    <a:pt x="0" y="152433"/>
                  </a:lnTo>
                  <a:close/>
                </a:path>
              </a:pathLst>
            </a:custGeom>
            <a:solidFill>
              <a:srgbClr val="FF4500"/>
            </a:solidFill>
          </p:spPr>
        </p:sp>
        <p:sp>
          <p:nvSpPr>
            <p:cNvPr id="15" name="TextBox 15"/>
            <p:cNvSpPr txBox="1"/>
            <p:nvPr/>
          </p:nvSpPr>
          <p:spPr>
            <a:xfrm>
              <a:off x="0" y="-47625"/>
              <a:ext cx="152433" cy="200058"/>
            </a:xfrm>
            <a:prstGeom prst="rect">
              <a:avLst/>
            </a:prstGeom>
          </p:spPr>
          <p:txBody>
            <a:bodyPr lIns="50800" tIns="50800" rIns="50800" bIns="50800" rtlCol="0" anchor="ctr"/>
            <a:lstStyle/>
            <a:p>
              <a:pPr algn="ctr">
                <a:lnSpc>
                  <a:spcPts val="3499"/>
                </a:lnSpc>
              </a:pPr>
              <a:r>
                <a:rPr lang="en-US" sz="2499">
                  <a:solidFill>
                    <a:srgbClr val="FFFFFF"/>
                  </a:solidFill>
                  <a:latin typeface="Canva Sans"/>
                  <a:ea typeface="Canva Sans"/>
                  <a:cs typeface="Canva Sans"/>
                  <a:sym typeface="Canva Sans"/>
                </a:rPr>
                <a:t>2</a:t>
              </a:r>
            </a:p>
          </p:txBody>
        </p:sp>
      </p:grpSp>
      <p:grpSp>
        <p:nvGrpSpPr>
          <p:cNvPr id="16" name="Group 16"/>
          <p:cNvGrpSpPr/>
          <p:nvPr/>
        </p:nvGrpSpPr>
        <p:grpSpPr>
          <a:xfrm>
            <a:off x="8680104" y="2900395"/>
            <a:ext cx="8936135" cy="4873179"/>
            <a:chOff x="0" y="0"/>
            <a:chExt cx="11914846" cy="6497571"/>
          </a:xfrm>
        </p:grpSpPr>
        <p:sp>
          <p:nvSpPr>
            <p:cNvPr id="17" name="Freeform 17"/>
            <p:cNvSpPr/>
            <p:nvPr/>
          </p:nvSpPr>
          <p:spPr>
            <a:xfrm>
              <a:off x="0" y="0"/>
              <a:ext cx="11914846" cy="6497572"/>
            </a:xfrm>
            <a:custGeom>
              <a:avLst/>
              <a:gdLst/>
              <a:ahLst/>
              <a:cxnLst/>
              <a:rect l="l" t="t" r="r" b="b"/>
              <a:pathLst>
                <a:path w="11914846" h="6497572">
                  <a:moveTo>
                    <a:pt x="0" y="0"/>
                  </a:moveTo>
                  <a:lnTo>
                    <a:pt x="11914846" y="0"/>
                  </a:lnTo>
                  <a:lnTo>
                    <a:pt x="11914846" y="6497572"/>
                  </a:lnTo>
                  <a:lnTo>
                    <a:pt x="0" y="6497572"/>
                  </a:lnTo>
                  <a:close/>
                </a:path>
              </a:pathLst>
            </a:custGeom>
            <a:solidFill>
              <a:srgbClr val="000000">
                <a:alpha val="0"/>
              </a:srgbClr>
            </a:solidFill>
          </p:spPr>
        </p:sp>
        <p:sp>
          <p:nvSpPr>
            <p:cNvPr id="18" name="TextBox 18"/>
            <p:cNvSpPr txBox="1"/>
            <p:nvPr/>
          </p:nvSpPr>
          <p:spPr>
            <a:xfrm>
              <a:off x="0" y="-104775"/>
              <a:ext cx="11914846" cy="6602346"/>
            </a:xfrm>
            <a:prstGeom prst="rect">
              <a:avLst/>
            </a:prstGeom>
          </p:spPr>
          <p:txBody>
            <a:bodyPr lIns="0" tIns="0" rIns="0" bIns="0" rtlCol="0" anchor="t"/>
            <a:lstStyle/>
            <a:p>
              <a:pPr marL="976571" lvl="1" indent="-488286" algn="l">
                <a:lnSpc>
                  <a:spcPts val="6479"/>
                </a:lnSpc>
                <a:buFont typeface="Arial"/>
                <a:buChar char="•"/>
              </a:pPr>
              <a:r>
                <a:rPr lang="en-US" sz="5399">
                  <a:solidFill>
                    <a:srgbClr val="000000"/>
                  </a:solidFill>
                  <a:latin typeface="Times New Roman"/>
                  <a:ea typeface="Times New Roman"/>
                  <a:cs typeface="Times New Roman"/>
                  <a:sym typeface="Times New Roman"/>
                </a:rPr>
                <a:t>Literature survey</a:t>
              </a:r>
            </a:p>
            <a:p>
              <a:pPr marL="976571" lvl="1" indent="-488286" algn="l">
                <a:lnSpc>
                  <a:spcPts val="6479"/>
                </a:lnSpc>
                <a:buFont typeface="Arial"/>
                <a:buChar char="•"/>
              </a:pPr>
              <a:r>
                <a:rPr lang="en-US" sz="5399">
                  <a:solidFill>
                    <a:srgbClr val="000000"/>
                  </a:solidFill>
                  <a:latin typeface="Times New Roman"/>
                  <a:ea typeface="Times New Roman"/>
                  <a:cs typeface="Times New Roman"/>
                  <a:sym typeface="Times New Roman"/>
                </a:rPr>
                <a:t>Proposed technique</a:t>
              </a:r>
            </a:p>
            <a:p>
              <a:pPr marL="976571" lvl="1" indent="-488286" algn="l">
                <a:lnSpc>
                  <a:spcPts val="6479"/>
                </a:lnSpc>
                <a:buFont typeface="Arial"/>
                <a:buChar char="•"/>
              </a:pPr>
              <a:r>
                <a:rPr lang="en-US" sz="5399">
                  <a:solidFill>
                    <a:srgbClr val="000000"/>
                  </a:solidFill>
                  <a:latin typeface="Times New Roman"/>
                  <a:ea typeface="Times New Roman"/>
                  <a:cs typeface="Times New Roman"/>
                  <a:sym typeface="Times New Roman"/>
                </a:rPr>
                <a:t>Modules</a:t>
              </a:r>
            </a:p>
            <a:p>
              <a:pPr marL="976571" lvl="1" indent="-488286" algn="l">
                <a:lnSpc>
                  <a:spcPts val="6479"/>
                </a:lnSpc>
                <a:buFont typeface="Arial"/>
                <a:buChar char="•"/>
              </a:pPr>
              <a:r>
                <a:rPr lang="en-US" sz="5399">
                  <a:solidFill>
                    <a:srgbClr val="000000"/>
                  </a:solidFill>
                  <a:latin typeface="Times New Roman"/>
                  <a:ea typeface="Times New Roman"/>
                  <a:cs typeface="Times New Roman"/>
                  <a:sym typeface="Times New Roman"/>
                </a:rPr>
                <a:t>Conclusion</a:t>
              </a:r>
            </a:p>
            <a:p>
              <a:pPr marL="976571" lvl="1" indent="-488286" algn="l">
                <a:lnSpc>
                  <a:spcPts val="6479"/>
                </a:lnSpc>
                <a:buFont typeface="Arial"/>
                <a:buChar char="•"/>
              </a:pPr>
              <a:r>
                <a:rPr lang="en-US" sz="5399">
                  <a:solidFill>
                    <a:srgbClr val="000000"/>
                  </a:solidFill>
                  <a:latin typeface="Times New Roman"/>
                  <a:ea typeface="Times New Roman"/>
                  <a:cs typeface="Times New Roman"/>
                  <a:sym typeface="Times New Roman"/>
                </a:rPr>
                <a:t>References</a:t>
              </a:r>
            </a:p>
          </p:txBody>
        </p:sp>
      </p:grpSp>
      <p:sp>
        <p:nvSpPr>
          <p:cNvPr id="19" name="Freeform 19"/>
          <p:cNvSpPr/>
          <p:nvPr/>
        </p:nvSpPr>
        <p:spPr>
          <a:xfrm>
            <a:off x="13976138" y="404027"/>
            <a:ext cx="3922888" cy="880198"/>
          </a:xfrm>
          <a:custGeom>
            <a:avLst/>
            <a:gdLst/>
            <a:ahLst/>
            <a:cxnLst/>
            <a:rect l="l" t="t" r="r" b="b"/>
            <a:pathLst>
              <a:path w="3922888" h="880198">
                <a:moveTo>
                  <a:pt x="0" y="0"/>
                </a:moveTo>
                <a:lnTo>
                  <a:pt x="3922888" y="0"/>
                </a:lnTo>
                <a:lnTo>
                  <a:pt x="3922888" y="880199"/>
                </a:lnTo>
                <a:lnTo>
                  <a:pt x="0" y="880199"/>
                </a:lnTo>
                <a:lnTo>
                  <a:pt x="0" y="0"/>
                </a:lnTo>
                <a:close/>
              </a:path>
            </a:pathLst>
          </a:custGeom>
          <a:blipFill>
            <a:blip r:embed="rId2"/>
            <a:stretch>
              <a:fillRect/>
            </a:stretch>
          </a:blipFill>
        </p:spPr>
      </p:sp>
      <p:sp>
        <p:nvSpPr>
          <p:cNvPr id="20" name="TextBox 20"/>
          <p:cNvSpPr txBox="1"/>
          <p:nvPr/>
        </p:nvSpPr>
        <p:spPr>
          <a:xfrm>
            <a:off x="15490814" y="9030873"/>
            <a:ext cx="1853882" cy="528991"/>
          </a:xfrm>
          <a:prstGeom prst="rect">
            <a:avLst/>
          </a:prstGeom>
        </p:spPr>
        <p:txBody>
          <a:bodyPr lIns="0" tIns="0" rIns="0" bIns="0" rtlCol="0" anchor="t">
            <a:spAutoFit/>
          </a:bodyPr>
          <a:lstStyle/>
          <a:p>
            <a:pPr algn="ctr">
              <a:lnSpc>
                <a:spcPts val="4480"/>
              </a:lnSpc>
            </a:pPr>
            <a:r>
              <a:rPr lang="en-US" sz="3200" dirty="0">
                <a:solidFill>
                  <a:srgbClr val="000000"/>
                </a:solidFill>
                <a:latin typeface="Times New Roman"/>
                <a:ea typeface="Times New Roman"/>
                <a:cs typeface="Times New Roman"/>
                <a:sym typeface="Times New Roman"/>
              </a:rPr>
              <a:t>16/02/2026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grpSp>
        <p:nvGrpSpPr>
          <p:cNvPr id="4" name="Group 4"/>
          <p:cNvGrpSpPr/>
          <p:nvPr/>
        </p:nvGrpSpPr>
        <p:grpSpPr>
          <a:xfrm>
            <a:off x="161077" y="196828"/>
            <a:ext cx="17959134" cy="9910974"/>
            <a:chOff x="0" y="0"/>
            <a:chExt cx="4729978" cy="2610298"/>
          </a:xfrm>
        </p:grpSpPr>
        <p:sp>
          <p:nvSpPr>
            <p:cNvPr id="5" name="Freeform 5"/>
            <p:cNvSpPr/>
            <p:nvPr/>
          </p:nvSpPr>
          <p:spPr>
            <a:xfrm>
              <a:off x="0" y="0"/>
              <a:ext cx="4729978" cy="2610298"/>
            </a:xfrm>
            <a:custGeom>
              <a:avLst/>
              <a:gdLst/>
              <a:ahLst/>
              <a:cxnLst/>
              <a:rect l="l" t="t" r="r" b="b"/>
              <a:pathLst>
                <a:path w="4729978" h="2610298">
                  <a:moveTo>
                    <a:pt x="0" y="0"/>
                  </a:moveTo>
                  <a:lnTo>
                    <a:pt x="4729978" y="0"/>
                  </a:lnTo>
                  <a:lnTo>
                    <a:pt x="4729978" y="2610298"/>
                  </a:lnTo>
                  <a:lnTo>
                    <a:pt x="0" y="2610298"/>
                  </a:lnTo>
                  <a:close/>
                </a:path>
              </a:pathLst>
            </a:custGeom>
            <a:solidFill>
              <a:srgbClr val="000000">
                <a:alpha val="0"/>
              </a:srgbClr>
            </a:solidFill>
            <a:ln w="28575" cap="sq">
              <a:solidFill>
                <a:srgbClr val="000000"/>
              </a:solidFill>
              <a:prstDash val="solid"/>
              <a:miter/>
            </a:ln>
          </p:spPr>
        </p:sp>
        <p:sp>
          <p:nvSpPr>
            <p:cNvPr id="6" name="TextBox 6"/>
            <p:cNvSpPr txBox="1"/>
            <p:nvPr/>
          </p:nvSpPr>
          <p:spPr>
            <a:xfrm>
              <a:off x="0" y="-38100"/>
              <a:ext cx="4729978" cy="2648398"/>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392782" y="-150335"/>
            <a:ext cx="13970595" cy="1633045"/>
            <a:chOff x="0" y="-462884"/>
            <a:chExt cx="18627460" cy="2177394"/>
          </a:xfrm>
        </p:grpSpPr>
        <p:sp>
          <p:nvSpPr>
            <p:cNvPr id="8" name="Freeform 8"/>
            <p:cNvSpPr/>
            <p:nvPr/>
          </p:nvSpPr>
          <p:spPr>
            <a:xfrm>
              <a:off x="0" y="-462884"/>
              <a:ext cx="18627460" cy="1714510"/>
            </a:xfrm>
            <a:custGeom>
              <a:avLst/>
              <a:gdLst/>
              <a:ahLst/>
              <a:cxnLst/>
              <a:rect l="l" t="t" r="r" b="b"/>
              <a:pathLst>
                <a:path w="18627460" h="1714510">
                  <a:moveTo>
                    <a:pt x="0" y="0"/>
                  </a:moveTo>
                  <a:lnTo>
                    <a:pt x="18627460" y="0"/>
                  </a:lnTo>
                  <a:lnTo>
                    <a:pt x="18627460" y="1714510"/>
                  </a:lnTo>
                  <a:lnTo>
                    <a:pt x="0" y="1714510"/>
                  </a:lnTo>
                  <a:close/>
                </a:path>
              </a:pathLst>
            </a:custGeom>
            <a:solidFill>
              <a:srgbClr val="000000">
                <a:alpha val="0"/>
              </a:srgbClr>
            </a:solidFill>
          </p:spPr>
        </p:sp>
        <p:sp>
          <p:nvSpPr>
            <p:cNvPr id="9" name="TextBox 9"/>
            <p:cNvSpPr txBox="1"/>
            <p:nvPr/>
          </p:nvSpPr>
          <p:spPr>
            <a:xfrm>
              <a:off x="0" y="-123825"/>
              <a:ext cx="18627460" cy="1838335"/>
            </a:xfrm>
            <a:prstGeom prst="rect">
              <a:avLst/>
            </a:prstGeom>
          </p:spPr>
          <p:txBody>
            <a:bodyPr lIns="0" tIns="0" rIns="0" bIns="0" rtlCol="0" anchor="b"/>
            <a:lstStyle/>
            <a:p>
              <a:pPr algn="l">
                <a:lnSpc>
                  <a:spcPts val="7200"/>
                </a:lnSpc>
              </a:pPr>
              <a:r>
                <a:rPr lang="en-US" sz="6000" b="1" dirty="0">
                  <a:solidFill>
                    <a:srgbClr val="001D58"/>
                  </a:solidFill>
                  <a:latin typeface="Times New Roman Bold"/>
                  <a:ea typeface="Times New Roman Bold"/>
                  <a:cs typeface="Times New Roman Bold"/>
                  <a:sym typeface="Times New Roman Bold"/>
                </a:rPr>
                <a:t>ABSTRACT</a:t>
              </a:r>
            </a:p>
          </p:txBody>
        </p:sp>
      </p:grpSp>
      <p:sp>
        <p:nvSpPr>
          <p:cNvPr id="10" name="TextBox 10"/>
          <p:cNvSpPr txBox="1"/>
          <p:nvPr/>
        </p:nvSpPr>
        <p:spPr>
          <a:xfrm>
            <a:off x="392781" y="1314450"/>
            <a:ext cx="17502437" cy="7666329"/>
          </a:xfrm>
          <a:prstGeom prst="rect">
            <a:avLst/>
          </a:prstGeom>
        </p:spPr>
        <p:txBody>
          <a:bodyPr wrap="square" lIns="0" tIns="0" rIns="0" bIns="0" rtlCol="0" anchor="t">
            <a:spAutoFit/>
          </a:bodyPr>
          <a:lstStyle/>
          <a:p>
            <a:pPr marL="647698" lvl="1" indent="-323849" algn="just">
              <a:lnSpc>
                <a:spcPts val="4349"/>
              </a:lnSpc>
              <a:buFont typeface="Arial"/>
              <a:buChar char="•"/>
            </a:pPr>
            <a:r>
              <a:rPr lang="en-US" sz="2800" dirty="0">
                <a:solidFill>
                  <a:srgbClr val="000000"/>
                </a:solidFill>
                <a:latin typeface="Times New Roman"/>
                <a:ea typeface="Times New Roman"/>
                <a:cs typeface="Times New Roman"/>
                <a:sym typeface="Times New Roman"/>
              </a:rPr>
              <a:t> </a:t>
            </a:r>
            <a:r>
              <a:rPr lang="en-US" sz="2800" b="1" dirty="0">
                <a:solidFill>
                  <a:srgbClr val="000000"/>
                </a:solidFill>
                <a:latin typeface="Times New Roman"/>
                <a:ea typeface="Times New Roman"/>
                <a:cs typeface="Times New Roman"/>
                <a:sym typeface="Times New Roman"/>
              </a:rPr>
              <a:t>Problem: </a:t>
            </a:r>
            <a:r>
              <a:rPr lang="en-US" sz="2800" dirty="0">
                <a:latin typeface="Times New Roman" panose="02020603050405020304" pitchFamily="18" charset="0"/>
                <a:cs typeface="Times New Roman" panose="02020603050405020304" pitchFamily="18" charset="0"/>
              </a:rPr>
              <a:t>Traditional red-teaming and offensive security tools are either cloud-dependent, opaque, or limited to text-based outputs, raising concerns about </a:t>
            </a:r>
            <a:r>
              <a:rPr lang="en-US" sz="2800" b="1" dirty="0">
                <a:latin typeface="Times New Roman" panose="02020603050405020304" pitchFamily="18" charset="0"/>
                <a:cs typeface="Times New Roman" panose="02020603050405020304" pitchFamily="18" charset="0"/>
              </a:rPr>
              <a:t>privacy, explainability, and accessibility</a:t>
            </a:r>
            <a:r>
              <a:rPr lang="en-US" sz="2800" dirty="0">
                <a:latin typeface="Times New Roman" panose="02020603050405020304" pitchFamily="18" charset="0"/>
                <a:cs typeface="Times New Roman" panose="02020603050405020304" pitchFamily="18" charset="0"/>
              </a:rPr>
              <a:t> in early-stage security risk assessment, especially in air-gapped or resource-constrained environments.</a:t>
            </a:r>
            <a:r>
              <a:rPr lang="en-US" sz="2800"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p>
          <a:p>
            <a:pPr marL="647698" lvl="1" indent="-323849" algn="just">
              <a:lnSpc>
                <a:spcPts val="4349"/>
              </a:lnSpc>
              <a:buFont typeface="Arial"/>
              <a:buChar char="•"/>
            </a:pPr>
            <a:r>
              <a:rPr lang="en-US" sz="2800" b="1" dirty="0">
                <a:solidFill>
                  <a:srgbClr val="000000"/>
                </a:solidFill>
                <a:latin typeface="Times New Roman" panose="02020603050405020304" pitchFamily="18" charset="0"/>
                <a:ea typeface="Times New Roman"/>
                <a:cs typeface="Times New Roman" panose="02020603050405020304" pitchFamily="18" charset="0"/>
                <a:sym typeface="Times New Roman"/>
              </a:rPr>
              <a:t>Solution: </a:t>
            </a:r>
            <a:r>
              <a:rPr lang="en-IN" sz="2800" dirty="0">
                <a:latin typeface="Times New Roman" panose="02020603050405020304" pitchFamily="18" charset="0"/>
                <a:cs typeface="Times New Roman" panose="02020603050405020304" pitchFamily="18" charset="0"/>
              </a:rPr>
              <a:t>A </a:t>
            </a:r>
            <a:r>
              <a:rPr lang="en-IN" sz="2800" b="1" dirty="0">
                <a:latin typeface="Times New Roman" panose="02020603050405020304" pitchFamily="18" charset="0"/>
                <a:cs typeface="Times New Roman" panose="02020603050405020304" pitchFamily="18" charset="0"/>
              </a:rPr>
              <a:t>privacy-preserving, autonomous offensive security agent</a:t>
            </a:r>
            <a:r>
              <a:rPr lang="en-IN" sz="2800" dirty="0">
                <a:latin typeface="Times New Roman" panose="02020603050405020304" pitchFamily="18" charset="0"/>
                <a:cs typeface="Times New Roman" panose="02020603050405020304" pitchFamily="18" charset="0"/>
              </a:rPr>
              <a:t> built using </a:t>
            </a:r>
            <a:r>
              <a:rPr lang="en-IN" sz="2800" b="1" dirty="0">
                <a:latin typeface="Times New Roman" panose="02020603050405020304" pitchFamily="18" charset="0"/>
                <a:cs typeface="Times New Roman" panose="02020603050405020304" pitchFamily="18" charset="0"/>
              </a:rPr>
              <a:t>Edge AI</a:t>
            </a:r>
            <a:r>
              <a:rPr lang="en-IN" sz="2800" dirty="0">
                <a:latin typeface="Times New Roman" panose="02020603050405020304" pitchFamily="18" charset="0"/>
                <a:cs typeface="Times New Roman" panose="02020603050405020304" pitchFamily="18" charset="0"/>
              </a:rPr>
              <a:t>, integrating </a:t>
            </a:r>
            <a:r>
              <a:rPr lang="en-IN" sz="2800" b="1" dirty="0">
                <a:latin typeface="Times New Roman" panose="02020603050405020304" pitchFamily="18" charset="0"/>
                <a:cs typeface="Times New Roman" panose="02020603050405020304" pitchFamily="18" charset="0"/>
              </a:rPr>
              <a:t>Retrieval-Augmented Generation (RAG)</a:t>
            </a:r>
            <a:r>
              <a:rPr lang="en-IN" sz="2800" dirty="0">
                <a:latin typeface="Times New Roman" panose="02020603050405020304" pitchFamily="18" charset="0"/>
                <a:cs typeface="Times New Roman" panose="02020603050405020304" pitchFamily="18" charset="0"/>
              </a:rPr>
              <a:t> with the </a:t>
            </a:r>
            <a:r>
              <a:rPr lang="en-IN" sz="2800" b="1" dirty="0">
                <a:latin typeface="Times New Roman" panose="02020603050405020304" pitchFamily="18" charset="0"/>
                <a:cs typeface="Times New Roman" panose="02020603050405020304" pitchFamily="18" charset="0"/>
              </a:rPr>
              <a:t>MITRE ATT&amp;CK knowledge base</a:t>
            </a:r>
            <a:r>
              <a:rPr lang="en-IN" sz="2800" dirty="0">
                <a:latin typeface="Times New Roman" panose="02020603050405020304" pitchFamily="18" charset="0"/>
                <a:cs typeface="Times New Roman" panose="02020603050405020304" pitchFamily="18" charset="0"/>
              </a:rPr>
              <a:t> to emulate adversarial </a:t>
            </a:r>
            <a:r>
              <a:rPr lang="en-IN" sz="2800" dirty="0" err="1">
                <a:latin typeface="Times New Roman" panose="02020603050405020304" pitchFamily="18" charset="0"/>
                <a:cs typeface="Times New Roman" panose="02020603050405020304" pitchFamily="18" charset="0"/>
              </a:rPr>
              <a:t>behavior</a:t>
            </a:r>
            <a:r>
              <a:rPr lang="en-IN" sz="2800" dirty="0">
                <a:latin typeface="Times New Roman" panose="02020603050405020304" pitchFamily="18" charset="0"/>
                <a:cs typeface="Times New Roman" panose="02020603050405020304" pitchFamily="18" charset="0"/>
              </a:rPr>
              <a:t> and generate </a:t>
            </a:r>
            <a:r>
              <a:rPr lang="en-IN" sz="2800" b="1" dirty="0">
                <a:latin typeface="Times New Roman" panose="02020603050405020304" pitchFamily="18" charset="0"/>
                <a:cs typeface="Times New Roman" panose="02020603050405020304" pitchFamily="18" charset="0"/>
              </a:rPr>
              <a:t>explainable, visual attack strategies</a:t>
            </a:r>
            <a:r>
              <a:rPr lang="en-IN" sz="2800" dirty="0">
                <a:latin typeface="Times New Roman" panose="02020603050405020304" pitchFamily="18" charset="0"/>
                <a:cs typeface="Times New Roman" panose="02020603050405020304" pitchFamily="18" charset="0"/>
              </a:rPr>
              <a:t> directly on consumer-grade hardware.</a:t>
            </a:r>
          </a:p>
          <a:p>
            <a:pPr marL="647698" lvl="1" indent="-323849" algn="just">
              <a:lnSpc>
                <a:spcPts val="4349"/>
              </a:lnSpc>
              <a:buFont typeface="Arial"/>
              <a:buChar char="•"/>
            </a:pPr>
            <a:r>
              <a:rPr lang="en-US" sz="2800" b="1" dirty="0">
                <a:solidFill>
                  <a:srgbClr val="000000"/>
                </a:solidFill>
                <a:latin typeface="Times New Roman"/>
                <a:ea typeface="Times New Roman"/>
                <a:cs typeface="Times New Roman"/>
                <a:sym typeface="Times New Roman"/>
              </a:rPr>
              <a:t>Key Components:</a:t>
            </a:r>
          </a:p>
          <a:p>
            <a:pPr marL="647698" lvl="1" indent="-323849" algn="just">
              <a:lnSpc>
                <a:spcPts val="4349"/>
              </a:lnSpc>
              <a:buFont typeface="Arial"/>
              <a:buChar char="•"/>
            </a:pPr>
            <a:r>
              <a:rPr lang="en-US" sz="2800" b="1" dirty="0"/>
              <a:t>Autonomous Red Agent (ELISAR framework)</a:t>
            </a:r>
            <a:r>
              <a:rPr lang="en-US" sz="2800" dirty="0"/>
              <a:t> for adversarial reasoning</a:t>
            </a:r>
          </a:p>
          <a:p>
            <a:pPr marL="647698" lvl="1" indent="-323849" algn="just">
              <a:lnSpc>
                <a:spcPts val="4349"/>
              </a:lnSpc>
              <a:buFont typeface="Arial"/>
              <a:buChar char="•"/>
            </a:pPr>
            <a:r>
              <a:rPr lang="en-US" sz="2800" b="1" dirty="0"/>
              <a:t>Retrieval-Augmented Generation (RAG)</a:t>
            </a:r>
            <a:r>
              <a:rPr lang="en-US" sz="2800" dirty="0"/>
              <a:t> over MITRE ATT&amp;CK knowledge</a:t>
            </a:r>
          </a:p>
          <a:p>
            <a:pPr marL="647698" lvl="1" indent="-323849" algn="just">
              <a:lnSpc>
                <a:spcPts val="4349"/>
              </a:lnSpc>
              <a:buFont typeface="Arial"/>
              <a:buChar char="•"/>
            </a:pPr>
            <a:r>
              <a:rPr lang="en-IN" sz="2800" b="1" dirty="0"/>
              <a:t>Local vector database (</a:t>
            </a:r>
            <a:r>
              <a:rPr lang="en-IN" sz="2800" b="1" dirty="0" err="1"/>
              <a:t>ChromaDB</a:t>
            </a:r>
            <a:r>
              <a:rPr lang="en-IN" sz="2800" b="1" dirty="0"/>
              <a:t>)</a:t>
            </a:r>
            <a:r>
              <a:rPr lang="en-IN" sz="2800" dirty="0"/>
              <a:t> for attack technique retrieval</a:t>
            </a:r>
          </a:p>
          <a:p>
            <a:pPr marL="647698" lvl="1" indent="-323849" algn="just">
              <a:lnSpc>
                <a:spcPts val="4349"/>
              </a:lnSpc>
              <a:buFont typeface="Arial"/>
              <a:buChar char="•"/>
            </a:pPr>
            <a:r>
              <a:rPr lang="en-US" sz="2800" b="1" dirty="0"/>
              <a:t>On-device LLM reasoning</a:t>
            </a:r>
            <a:r>
              <a:rPr lang="en-US" sz="2800" dirty="0"/>
              <a:t> using DeepSeek-R1 via Ollama</a:t>
            </a:r>
          </a:p>
          <a:p>
            <a:pPr marL="647698" lvl="1" indent="-323849" algn="just">
              <a:lnSpc>
                <a:spcPts val="4349"/>
              </a:lnSpc>
              <a:buFont typeface="Arial"/>
              <a:buChar char="•"/>
            </a:pPr>
            <a:r>
              <a:rPr lang="en-US" sz="2800" b="1" dirty="0"/>
              <a:t>Chain-of-Thought attack planning</a:t>
            </a:r>
            <a:r>
              <a:rPr lang="en-US" sz="2800" dirty="0"/>
              <a:t> for structured adversarial workflows</a:t>
            </a:r>
          </a:p>
          <a:p>
            <a:pPr marL="647698" lvl="1" indent="-323849" algn="just">
              <a:lnSpc>
                <a:spcPts val="4349"/>
              </a:lnSpc>
              <a:buFont typeface="Arial"/>
              <a:buChar char="•"/>
            </a:pPr>
            <a:r>
              <a:rPr lang="en-US" sz="2800" b="1" dirty="0"/>
              <a:t>Automated Attack Graph Visualization</a:t>
            </a:r>
            <a:r>
              <a:rPr lang="en-US" sz="2800" dirty="0"/>
              <a:t> using Mermaid.js (XAI)</a:t>
            </a:r>
          </a:p>
          <a:p>
            <a:pPr marL="647698" lvl="1" indent="-323849" algn="just">
              <a:lnSpc>
                <a:spcPts val="4349"/>
              </a:lnSpc>
              <a:buFont typeface="Arial"/>
              <a:buChar char="•"/>
            </a:pPr>
            <a:endParaRPr lang="en-US" sz="2800" b="1" dirty="0">
              <a:solidFill>
                <a:srgbClr val="000000"/>
              </a:solidFill>
              <a:latin typeface="Times New Roman"/>
              <a:ea typeface="Times New Roman"/>
              <a:cs typeface="Times New Roman"/>
              <a:sym typeface="Times New Roman"/>
            </a:endParaRPr>
          </a:p>
        </p:txBody>
      </p:sp>
      <p:grpSp>
        <p:nvGrpSpPr>
          <p:cNvPr id="11" name="Group 11"/>
          <p:cNvGrpSpPr/>
          <p:nvPr/>
        </p:nvGrpSpPr>
        <p:grpSpPr>
          <a:xfrm>
            <a:off x="392782" y="9324975"/>
            <a:ext cx="578768" cy="578768"/>
            <a:chOff x="0" y="0"/>
            <a:chExt cx="152433" cy="152433"/>
          </a:xfrm>
        </p:grpSpPr>
        <p:sp>
          <p:nvSpPr>
            <p:cNvPr id="12" name="Freeform 12"/>
            <p:cNvSpPr/>
            <p:nvPr/>
          </p:nvSpPr>
          <p:spPr>
            <a:xfrm>
              <a:off x="0" y="0"/>
              <a:ext cx="152433" cy="152433"/>
            </a:xfrm>
            <a:custGeom>
              <a:avLst/>
              <a:gdLst/>
              <a:ahLst/>
              <a:cxnLst/>
              <a:rect l="l" t="t" r="r" b="b"/>
              <a:pathLst>
                <a:path w="152433" h="152433">
                  <a:moveTo>
                    <a:pt x="0" y="0"/>
                  </a:moveTo>
                  <a:lnTo>
                    <a:pt x="152433" y="0"/>
                  </a:lnTo>
                  <a:lnTo>
                    <a:pt x="152433" y="152433"/>
                  </a:lnTo>
                  <a:lnTo>
                    <a:pt x="0" y="152433"/>
                  </a:lnTo>
                  <a:close/>
                </a:path>
              </a:pathLst>
            </a:custGeom>
            <a:solidFill>
              <a:srgbClr val="FF4500"/>
            </a:solidFill>
          </p:spPr>
        </p:sp>
        <p:sp>
          <p:nvSpPr>
            <p:cNvPr id="13" name="TextBox 13"/>
            <p:cNvSpPr txBox="1"/>
            <p:nvPr/>
          </p:nvSpPr>
          <p:spPr>
            <a:xfrm>
              <a:off x="0" y="-47625"/>
              <a:ext cx="152433" cy="200058"/>
            </a:xfrm>
            <a:prstGeom prst="rect">
              <a:avLst/>
            </a:prstGeom>
          </p:spPr>
          <p:txBody>
            <a:bodyPr lIns="50800" tIns="50800" rIns="50800" bIns="50800" rtlCol="0" anchor="ctr"/>
            <a:lstStyle/>
            <a:p>
              <a:pPr algn="ctr">
                <a:lnSpc>
                  <a:spcPts val="3499"/>
                </a:lnSpc>
              </a:pPr>
              <a:r>
                <a:rPr lang="en-US" sz="2499">
                  <a:solidFill>
                    <a:srgbClr val="FFFFFF"/>
                  </a:solidFill>
                  <a:latin typeface="Canva Sans"/>
                  <a:ea typeface="Canva Sans"/>
                  <a:cs typeface="Canva Sans"/>
                  <a:sym typeface="Canva Sans"/>
                </a:rPr>
                <a:t>3</a:t>
              </a:r>
            </a:p>
          </p:txBody>
        </p:sp>
      </p:grpSp>
      <p:sp>
        <p:nvSpPr>
          <p:cNvPr id="14" name="Freeform 14"/>
          <p:cNvSpPr/>
          <p:nvPr/>
        </p:nvSpPr>
        <p:spPr>
          <a:xfrm>
            <a:off x="13976138" y="404027"/>
            <a:ext cx="3922888" cy="880198"/>
          </a:xfrm>
          <a:custGeom>
            <a:avLst/>
            <a:gdLst/>
            <a:ahLst/>
            <a:cxnLst/>
            <a:rect l="l" t="t" r="r" b="b"/>
            <a:pathLst>
              <a:path w="3922888" h="880198">
                <a:moveTo>
                  <a:pt x="0" y="0"/>
                </a:moveTo>
                <a:lnTo>
                  <a:pt x="3922888" y="0"/>
                </a:lnTo>
                <a:lnTo>
                  <a:pt x="3922888" y="880199"/>
                </a:lnTo>
                <a:lnTo>
                  <a:pt x="0" y="880199"/>
                </a:lnTo>
                <a:lnTo>
                  <a:pt x="0" y="0"/>
                </a:lnTo>
                <a:close/>
              </a:path>
            </a:pathLst>
          </a:custGeom>
          <a:blipFill>
            <a:blip r:embed="rId2"/>
            <a:stretch>
              <a:fillRect/>
            </a:stretch>
          </a:blipFill>
        </p:spPr>
      </p:sp>
      <p:sp>
        <p:nvSpPr>
          <p:cNvPr id="15" name="TextBox 15"/>
          <p:cNvSpPr txBox="1"/>
          <p:nvPr/>
        </p:nvSpPr>
        <p:spPr>
          <a:xfrm>
            <a:off x="15490814" y="9030873"/>
            <a:ext cx="1853882" cy="528991"/>
          </a:xfrm>
          <a:prstGeom prst="rect">
            <a:avLst/>
          </a:prstGeom>
        </p:spPr>
        <p:txBody>
          <a:bodyPr lIns="0" tIns="0" rIns="0" bIns="0" rtlCol="0" anchor="t">
            <a:spAutoFit/>
          </a:bodyPr>
          <a:lstStyle/>
          <a:p>
            <a:pPr algn="ctr">
              <a:lnSpc>
                <a:spcPts val="4480"/>
              </a:lnSpc>
            </a:pPr>
            <a:r>
              <a:rPr lang="en-US" sz="3200" dirty="0">
                <a:solidFill>
                  <a:srgbClr val="000000"/>
                </a:solidFill>
                <a:latin typeface="Times New Roman"/>
                <a:ea typeface="Times New Roman"/>
                <a:cs typeface="Times New Roman"/>
                <a:sym typeface="Times New Roman"/>
              </a:rPr>
              <a:t>16/02/2026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0A997A-23E6-18B4-953C-783FF8685648}"/>
              </a:ext>
            </a:extLst>
          </p:cNvPr>
          <p:cNvSpPr>
            <a:spLocks noGrp="1"/>
          </p:cNvSpPr>
          <p:nvPr>
            <p:ph idx="1"/>
          </p:nvPr>
        </p:nvSpPr>
        <p:spPr>
          <a:xfrm>
            <a:off x="457200" y="723900"/>
            <a:ext cx="17145000" cy="8839200"/>
          </a:xfrm>
        </p:spPr>
        <p:txBody>
          <a:bodyPr/>
          <a:lstStyle/>
          <a:p>
            <a:r>
              <a:rPr lang="en-US" b="1" dirty="0">
                <a:latin typeface="Times New Roman" panose="02020603050405020304" pitchFamily="18" charset="0"/>
                <a:cs typeface="Times New Roman" panose="02020603050405020304" pitchFamily="18" charset="0"/>
              </a:rPr>
              <a:t>Results Achieved:</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Fully </a:t>
            </a:r>
            <a:r>
              <a:rPr lang="en-US" b="1" dirty="0">
                <a:latin typeface="Times New Roman" panose="02020603050405020304" pitchFamily="18" charset="0"/>
                <a:cs typeface="Times New Roman" panose="02020603050405020304" pitchFamily="18" charset="0"/>
              </a:rPr>
              <a:t>on-device deployment</a:t>
            </a:r>
            <a:r>
              <a:rPr lang="en-US" dirty="0">
                <a:latin typeface="Times New Roman" panose="02020603050405020304" pitchFamily="18" charset="0"/>
                <a:cs typeface="Times New Roman" panose="02020603050405020304" pitchFamily="18" charset="0"/>
              </a:rPr>
              <a:t> on a standard laptop (16GB RAM)</a:t>
            </a:r>
          </a:p>
          <a:p>
            <a:r>
              <a:rPr lang="en-US" dirty="0">
                <a:latin typeface="Times New Roman" panose="02020603050405020304" pitchFamily="18" charset="0"/>
                <a:cs typeface="Times New Roman" panose="02020603050405020304" pitchFamily="18" charset="0"/>
              </a:rPr>
              <a:t>Successful </a:t>
            </a:r>
            <a:r>
              <a:rPr lang="en-US" b="1" dirty="0">
                <a:latin typeface="Times New Roman" panose="02020603050405020304" pitchFamily="18" charset="0"/>
                <a:cs typeface="Times New Roman" panose="02020603050405020304" pitchFamily="18" charset="0"/>
              </a:rPr>
              <a:t>end-to-end attack path synthesis</a:t>
            </a:r>
            <a:r>
              <a:rPr lang="en-US" dirty="0">
                <a:latin typeface="Times New Roman" panose="02020603050405020304" pitchFamily="18" charset="0"/>
                <a:cs typeface="Times New Roman" panose="02020603050405020304" pitchFamily="18" charset="0"/>
              </a:rPr>
              <a:t> from Initial Access to Impact</a:t>
            </a:r>
          </a:p>
          <a:p>
            <a:r>
              <a:rPr lang="en-US" dirty="0">
                <a:latin typeface="Times New Roman" panose="02020603050405020304" pitchFamily="18" charset="0"/>
                <a:cs typeface="Times New Roman" panose="02020603050405020304" pitchFamily="18" charset="0"/>
              </a:rPr>
              <a:t>Generation of </a:t>
            </a:r>
            <a:r>
              <a:rPr lang="en-US" b="1" dirty="0">
                <a:latin typeface="Times New Roman" panose="02020603050405020304" pitchFamily="18" charset="0"/>
                <a:cs typeface="Times New Roman" panose="02020603050405020304" pitchFamily="18" charset="0"/>
              </a:rPr>
              <a:t>interpretable visual attack graphs</a:t>
            </a:r>
            <a:r>
              <a:rPr lang="en-US" dirty="0">
                <a:latin typeface="Times New Roman" panose="02020603050405020304" pitchFamily="18" charset="0"/>
                <a:cs typeface="Times New Roman" panose="02020603050405020304" pitchFamily="18" charset="0"/>
              </a:rPr>
              <a:t> alongside textual plans</a:t>
            </a:r>
          </a:p>
          <a:p>
            <a:r>
              <a:rPr lang="en-US" b="1" dirty="0">
                <a:latin typeface="Times New Roman" panose="02020603050405020304" pitchFamily="18" charset="0"/>
                <a:cs typeface="Times New Roman" panose="02020603050405020304" pitchFamily="18" charset="0"/>
              </a:rPr>
              <a:t>No cloud dependency</a:t>
            </a:r>
            <a:r>
              <a:rPr lang="en-US" dirty="0">
                <a:latin typeface="Times New Roman" panose="02020603050405020304" pitchFamily="18" charset="0"/>
                <a:cs typeface="Times New Roman" panose="02020603050405020304" pitchFamily="18" charset="0"/>
              </a:rPr>
              <a:t>, enabling air-gapped and privacy-sensitive usage</a:t>
            </a:r>
          </a:p>
          <a:p>
            <a:endParaRPr lang="en-US" dirty="0">
              <a:latin typeface="Times New Roman" panose="02020603050405020304" pitchFamily="18" charset="0"/>
              <a:cs typeface="Times New Roman" panose="02020603050405020304" pitchFamily="18" charset="0"/>
            </a:endParaRPr>
          </a:p>
          <a:p>
            <a:r>
              <a:rPr lang="en-US" b="1" dirty="0"/>
              <a:t>Significance:</a:t>
            </a:r>
            <a:br>
              <a:rPr lang="en-US" dirty="0"/>
            </a:br>
            <a:r>
              <a:rPr lang="en-US" dirty="0"/>
              <a:t>The proposed system demonstrates that </a:t>
            </a:r>
            <a:r>
              <a:rPr lang="en-US" b="1" dirty="0"/>
              <a:t>advanced red-teaming intelligence can be decentralized, explainable, and privacy-preserving</a:t>
            </a:r>
            <a:r>
              <a:rPr lang="en-US" dirty="0"/>
              <a:t>, enabling early detection of security weaknesses and democratizing offensive security analysis at the edge.</a:t>
            </a:r>
            <a:endParaRPr lang="en-US"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543753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1077" y="196828"/>
            <a:ext cx="17959134" cy="9910974"/>
            <a:chOff x="0" y="0"/>
            <a:chExt cx="4729978" cy="2610298"/>
          </a:xfrm>
        </p:grpSpPr>
        <p:sp>
          <p:nvSpPr>
            <p:cNvPr id="3" name="Freeform 3"/>
            <p:cNvSpPr/>
            <p:nvPr/>
          </p:nvSpPr>
          <p:spPr>
            <a:xfrm>
              <a:off x="0" y="0"/>
              <a:ext cx="4729978" cy="2610298"/>
            </a:xfrm>
            <a:custGeom>
              <a:avLst/>
              <a:gdLst/>
              <a:ahLst/>
              <a:cxnLst/>
              <a:rect l="l" t="t" r="r" b="b"/>
              <a:pathLst>
                <a:path w="4729978" h="2610298">
                  <a:moveTo>
                    <a:pt x="0" y="0"/>
                  </a:moveTo>
                  <a:lnTo>
                    <a:pt x="4729978" y="0"/>
                  </a:lnTo>
                  <a:lnTo>
                    <a:pt x="4729978" y="2610298"/>
                  </a:lnTo>
                  <a:lnTo>
                    <a:pt x="0" y="2610298"/>
                  </a:lnTo>
                  <a:close/>
                </a:path>
              </a:pathLst>
            </a:custGeom>
            <a:solidFill>
              <a:srgbClr val="000000">
                <a:alpha val="0"/>
              </a:srgbClr>
            </a:solidFill>
            <a:ln w="28575" cap="sq">
              <a:solidFill>
                <a:srgbClr val="000000"/>
              </a:solidFill>
              <a:prstDash val="solid"/>
              <a:miter/>
            </a:ln>
          </p:spPr>
        </p:sp>
        <p:sp>
          <p:nvSpPr>
            <p:cNvPr id="4" name="TextBox 4"/>
            <p:cNvSpPr txBox="1"/>
            <p:nvPr/>
          </p:nvSpPr>
          <p:spPr>
            <a:xfrm>
              <a:off x="0" y="-38100"/>
              <a:ext cx="4729978" cy="2648398"/>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392782" y="9324975"/>
            <a:ext cx="578768" cy="578768"/>
            <a:chOff x="0" y="0"/>
            <a:chExt cx="152433" cy="152433"/>
          </a:xfrm>
        </p:grpSpPr>
        <p:sp>
          <p:nvSpPr>
            <p:cNvPr id="6" name="Freeform 6"/>
            <p:cNvSpPr/>
            <p:nvPr/>
          </p:nvSpPr>
          <p:spPr>
            <a:xfrm>
              <a:off x="0" y="0"/>
              <a:ext cx="152433" cy="152433"/>
            </a:xfrm>
            <a:custGeom>
              <a:avLst/>
              <a:gdLst/>
              <a:ahLst/>
              <a:cxnLst/>
              <a:rect l="l" t="t" r="r" b="b"/>
              <a:pathLst>
                <a:path w="152433" h="152433">
                  <a:moveTo>
                    <a:pt x="0" y="0"/>
                  </a:moveTo>
                  <a:lnTo>
                    <a:pt x="152433" y="0"/>
                  </a:lnTo>
                  <a:lnTo>
                    <a:pt x="152433" y="152433"/>
                  </a:lnTo>
                  <a:lnTo>
                    <a:pt x="0" y="152433"/>
                  </a:lnTo>
                  <a:close/>
                </a:path>
              </a:pathLst>
            </a:custGeom>
            <a:solidFill>
              <a:srgbClr val="FF4500"/>
            </a:solidFill>
          </p:spPr>
        </p:sp>
        <p:sp>
          <p:nvSpPr>
            <p:cNvPr id="7" name="TextBox 7"/>
            <p:cNvSpPr txBox="1"/>
            <p:nvPr/>
          </p:nvSpPr>
          <p:spPr>
            <a:xfrm>
              <a:off x="0" y="-47625"/>
              <a:ext cx="152433" cy="200058"/>
            </a:xfrm>
            <a:prstGeom prst="rect">
              <a:avLst/>
            </a:prstGeom>
          </p:spPr>
          <p:txBody>
            <a:bodyPr lIns="50800" tIns="50800" rIns="50800" bIns="50800" rtlCol="0" anchor="ctr"/>
            <a:lstStyle/>
            <a:p>
              <a:pPr algn="ctr">
                <a:lnSpc>
                  <a:spcPts val="3499"/>
                </a:lnSpc>
              </a:pPr>
              <a:r>
                <a:rPr lang="en-US" sz="2499">
                  <a:solidFill>
                    <a:srgbClr val="FFFFFF"/>
                  </a:solidFill>
                  <a:latin typeface="Canva Sans"/>
                  <a:ea typeface="Canva Sans"/>
                  <a:cs typeface="Canva Sans"/>
                  <a:sym typeface="Canva Sans"/>
                </a:rPr>
                <a:t>4</a:t>
              </a:r>
            </a:p>
          </p:txBody>
        </p:sp>
      </p:grpSp>
      <p:sp>
        <p:nvSpPr>
          <p:cNvPr id="8" name="TextBox 8"/>
          <p:cNvSpPr txBox="1"/>
          <p:nvPr/>
        </p:nvSpPr>
        <p:spPr>
          <a:xfrm>
            <a:off x="710741" y="1394702"/>
            <a:ext cx="16866518" cy="9230732"/>
          </a:xfrm>
          <a:prstGeom prst="rect">
            <a:avLst/>
          </a:prstGeom>
        </p:spPr>
        <p:txBody>
          <a:bodyPr lIns="0" tIns="0" rIns="0" bIns="0" rtlCol="0" anchor="t">
            <a:spAutoFit/>
          </a:bodyPr>
          <a:lstStyle/>
          <a:p>
            <a:pPr marL="323849" lvl="1" algn="just"/>
            <a:r>
              <a:rPr lang="en-US" sz="2999" dirty="0">
                <a:solidFill>
                  <a:srgbClr val="000000"/>
                </a:solidFill>
                <a:latin typeface="Times New Roman"/>
                <a:ea typeface="Times New Roman"/>
                <a:cs typeface="Times New Roman"/>
                <a:sym typeface="Times New Roman"/>
              </a:rPr>
              <a:t>• Context:</a:t>
            </a:r>
          </a:p>
          <a:p>
            <a:pPr marL="323849" lvl="1" algn="just"/>
            <a:r>
              <a:rPr lang="en-US" sz="2999" dirty="0">
                <a:solidFill>
                  <a:srgbClr val="000000"/>
                </a:solidFill>
                <a:latin typeface="Times New Roman"/>
                <a:ea typeface="Times New Roman"/>
                <a:cs typeface="Times New Roman"/>
                <a:sym typeface="Times New Roman"/>
              </a:rPr>
              <a:t>  - Cardiovascular diseases (CVDs) cause ~17.9 million deaths annually (WHO)</a:t>
            </a:r>
          </a:p>
          <a:p>
            <a:pPr marL="323849" lvl="1" algn="just"/>
            <a:r>
              <a:rPr lang="en-US" sz="2999" dirty="0">
                <a:solidFill>
                  <a:srgbClr val="000000"/>
                </a:solidFill>
                <a:latin typeface="Times New Roman"/>
                <a:ea typeface="Times New Roman"/>
                <a:cs typeface="Times New Roman"/>
                <a:sym typeface="Times New Roman"/>
              </a:rPr>
              <a:t>  - </a:t>
            </a:r>
            <a:r>
              <a:rPr lang="en-US" sz="2999" b="1" dirty="0">
                <a:solidFill>
                  <a:srgbClr val="000000"/>
                </a:solidFill>
                <a:latin typeface="Times New Roman"/>
                <a:ea typeface="Times New Roman"/>
                <a:cs typeface="Times New Roman"/>
                <a:sym typeface="Times New Roman"/>
              </a:rPr>
              <a:t>ECG signals</a:t>
            </a:r>
            <a:r>
              <a:rPr lang="en-US" sz="2999" dirty="0">
                <a:solidFill>
                  <a:srgbClr val="000000"/>
                </a:solidFill>
                <a:latin typeface="Times New Roman"/>
                <a:ea typeface="Times New Roman"/>
                <a:cs typeface="Times New Roman"/>
                <a:sym typeface="Times New Roman"/>
              </a:rPr>
              <a:t> are critical </a:t>
            </a:r>
            <a:r>
              <a:rPr lang="en-US" sz="2999" b="1" dirty="0">
                <a:solidFill>
                  <a:srgbClr val="000000"/>
                </a:solidFill>
                <a:latin typeface="Times New Roman"/>
                <a:ea typeface="Times New Roman"/>
                <a:cs typeface="Times New Roman"/>
                <a:sym typeface="Times New Roman"/>
              </a:rPr>
              <a:t>diagnostic tools </a:t>
            </a:r>
            <a:r>
              <a:rPr lang="en-US" sz="2999" dirty="0">
                <a:solidFill>
                  <a:srgbClr val="000000"/>
                </a:solidFill>
                <a:latin typeface="Times New Roman"/>
                <a:ea typeface="Times New Roman"/>
                <a:cs typeface="Times New Roman"/>
                <a:sym typeface="Times New Roman"/>
              </a:rPr>
              <a:t>for </a:t>
            </a:r>
            <a:r>
              <a:rPr lang="en-US" sz="2999" b="1" dirty="0">
                <a:solidFill>
                  <a:srgbClr val="000000"/>
                </a:solidFill>
                <a:latin typeface="Times New Roman"/>
                <a:ea typeface="Times New Roman"/>
                <a:cs typeface="Times New Roman"/>
                <a:sym typeface="Times New Roman"/>
              </a:rPr>
              <a:t>heart disease detection</a:t>
            </a:r>
          </a:p>
          <a:p>
            <a:pPr marL="323849" lvl="1" algn="just"/>
            <a:r>
              <a:rPr lang="en-US" sz="2999" dirty="0">
                <a:solidFill>
                  <a:srgbClr val="000000"/>
                </a:solidFill>
                <a:latin typeface="Times New Roman"/>
                <a:ea typeface="Times New Roman"/>
                <a:cs typeface="Times New Roman"/>
                <a:sym typeface="Times New Roman"/>
              </a:rPr>
              <a:t>  - Wearable devices and remote monitoring generate massive ECG data</a:t>
            </a:r>
          </a:p>
          <a:p>
            <a:pPr marL="323849" lvl="1" algn="just"/>
            <a:r>
              <a:rPr lang="en-US" sz="2999" dirty="0">
                <a:solidFill>
                  <a:srgbClr val="000000"/>
                </a:solidFill>
                <a:latin typeface="Times New Roman"/>
                <a:ea typeface="Times New Roman"/>
                <a:cs typeface="Times New Roman"/>
                <a:sym typeface="Times New Roman"/>
              </a:rPr>
              <a:t>• Need for </a:t>
            </a:r>
            <a:r>
              <a:rPr lang="en-US" sz="2999" b="1" dirty="0">
                <a:solidFill>
                  <a:srgbClr val="000000"/>
                </a:solidFill>
                <a:latin typeface="Times New Roman"/>
                <a:ea typeface="Times New Roman"/>
                <a:cs typeface="Times New Roman"/>
                <a:sym typeface="Times New Roman"/>
              </a:rPr>
              <a:t>Cloud Computing:</a:t>
            </a:r>
          </a:p>
          <a:p>
            <a:pPr marL="323849" lvl="1" algn="just"/>
            <a:r>
              <a:rPr lang="en-US" sz="2999" dirty="0">
                <a:solidFill>
                  <a:srgbClr val="000000"/>
                </a:solidFill>
                <a:latin typeface="Times New Roman"/>
                <a:ea typeface="Times New Roman"/>
                <a:cs typeface="Times New Roman"/>
                <a:sym typeface="Times New Roman"/>
              </a:rPr>
              <a:t>  - </a:t>
            </a:r>
            <a:r>
              <a:rPr lang="en-US" sz="2999" b="1" dirty="0">
                <a:solidFill>
                  <a:srgbClr val="000000"/>
                </a:solidFill>
                <a:latin typeface="Times New Roman"/>
                <a:ea typeface="Times New Roman"/>
                <a:cs typeface="Times New Roman"/>
                <a:sym typeface="Times New Roman"/>
              </a:rPr>
              <a:t>Large-scale data storage </a:t>
            </a:r>
            <a:r>
              <a:rPr lang="en-US" sz="2999" dirty="0">
                <a:solidFill>
                  <a:srgbClr val="000000"/>
                </a:solidFill>
                <a:latin typeface="Times New Roman"/>
                <a:ea typeface="Times New Roman"/>
                <a:cs typeface="Times New Roman"/>
                <a:sym typeface="Times New Roman"/>
              </a:rPr>
              <a:t>capacity</a:t>
            </a:r>
          </a:p>
          <a:p>
            <a:pPr marL="323849" lvl="1" algn="just"/>
            <a:r>
              <a:rPr lang="en-US" sz="2999" dirty="0">
                <a:solidFill>
                  <a:srgbClr val="000000"/>
                </a:solidFill>
                <a:latin typeface="Times New Roman"/>
                <a:ea typeface="Times New Roman"/>
                <a:cs typeface="Times New Roman"/>
                <a:sym typeface="Times New Roman"/>
              </a:rPr>
              <a:t>  - Real-time diagnosis capabilities</a:t>
            </a:r>
          </a:p>
          <a:p>
            <a:pPr marL="323849" lvl="1" algn="just"/>
            <a:r>
              <a:rPr lang="en-US" sz="2999" dirty="0">
                <a:solidFill>
                  <a:srgbClr val="000000"/>
                </a:solidFill>
                <a:latin typeface="Times New Roman"/>
                <a:ea typeface="Times New Roman"/>
                <a:cs typeface="Times New Roman"/>
                <a:sym typeface="Times New Roman"/>
              </a:rPr>
              <a:t>  - </a:t>
            </a:r>
            <a:r>
              <a:rPr lang="en-US" sz="2999" b="1" dirty="0">
                <a:solidFill>
                  <a:srgbClr val="000000"/>
                </a:solidFill>
                <a:latin typeface="Times New Roman"/>
                <a:ea typeface="Times New Roman"/>
                <a:cs typeface="Times New Roman"/>
                <a:sym typeface="Times New Roman"/>
              </a:rPr>
              <a:t>Machine learning </a:t>
            </a:r>
            <a:r>
              <a:rPr lang="en-US" sz="2999" dirty="0">
                <a:solidFill>
                  <a:srgbClr val="000000"/>
                </a:solidFill>
                <a:latin typeface="Times New Roman"/>
                <a:ea typeface="Times New Roman"/>
                <a:cs typeface="Times New Roman"/>
                <a:sym typeface="Times New Roman"/>
              </a:rPr>
              <a:t>model deployment</a:t>
            </a:r>
          </a:p>
          <a:p>
            <a:pPr marL="323849" lvl="1" algn="just"/>
            <a:r>
              <a:rPr lang="en-US" sz="2999" dirty="0">
                <a:solidFill>
                  <a:srgbClr val="000000"/>
                </a:solidFill>
                <a:latin typeface="Times New Roman"/>
                <a:ea typeface="Times New Roman"/>
                <a:cs typeface="Times New Roman"/>
                <a:sym typeface="Times New Roman"/>
              </a:rPr>
              <a:t>• </a:t>
            </a:r>
            <a:r>
              <a:rPr lang="en-US" sz="2999" b="1" dirty="0">
                <a:solidFill>
                  <a:srgbClr val="000000"/>
                </a:solidFill>
                <a:latin typeface="Times New Roman"/>
                <a:ea typeface="Times New Roman"/>
                <a:cs typeface="Times New Roman"/>
                <a:sym typeface="Times New Roman"/>
              </a:rPr>
              <a:t>Critical Challenges:</a:t>
            </a:r>
          </a:p>
          <a:p>
            <a:pPr marL="323849" lvl="1" algn="just"/>
            <a:r>
              <a:rPr lang="en-US" sz="2999" dirty="0">
                <a:solidFill>
                  <a:srgbClr val="000000"/>
                </a:solidFill>
                <a:latin typeface="Times New Roman"/>
                <a:ea typeface="Times New Roman"/>
                <a:cs typeface="Times New Roman"/>
                <a:sym typeface="Times New Roman"/>
              </a:rPr>
              <a:t>  - </a:t>
            </a:r>
            <a:r>
              <a:rPr lang="en-US" sz="2999" b="1" dirty="0">
                <a:solidFill>
                  <a:srgbClr val="000000"/>
                </a:solidFill>
                <a:latin typeface="Times New Roman"/>
                <a:ea typeface="Times New Roman"/>
                <a:cs typeface="Times New Roman"/>
                <a:sym typeface="Times New Roman"/>
              </a:rPr>
              <a:t>Privacy and security risks </a:t>
            </a:r>
            <a:r>
              <a:rPr lang="en-US" sz="2999" dirty="0">
                <a:solidFill>
                  <a:srgbClr val="000000"/>
                </a:solidFill>
                <a:latin typeface="Times New Roman"/>
                <a:ea typeface="Times New Roman"/>
                <a:cs typeface="Times New Roman"/>
                <a:sym typeface="Times New Roman"/>
              </a:rPr>
              <a:t>of storing sensitive patient data in cloud.</a:t>
            </a:r>
          </a:p>
          <a:p>
            <a:pPr marL="323849" lvl="1" algn="just"/>
            <a:r>
              <a:rPr lang="en-US" sz="2999" dirty="0">
                <a:solidFill>
                  <a:srgbClr val="000000"/>
                </a:solidFill>
                <a:latin typeface="Times New Roman"/>
                <a:ea typeface="Times New Roman"/>
                <a:cs typeface="Times New Roman"/>
                <a:sym typeface="Times New Roman"/>
              </a:rPr>
              <a:t>  - Unauthorized access and data breaches</a:t>
            </a:r>
          </a:p>
          <a:p>
            <a:pPr marL="323849" lvl="1" algn="just"/>
            <a:r>
              <a:rPr lang="en-US" sz="2999" dirty="0">
                <a:solidFill>
                  <a:srgbClr val="000000"/>
                </a:solidFill>
                <a:latin typeface="Times New Roman"/>
                <a:ea typeface="Times New Roman"/>
                <a:cs typeface="Times New Roman"/>
                <a:sym typeface="Times New Roman"/>
              </a:rPr>
              <a:t>  - Lack of interpretability in AI models ("black box" problem)</a:t>
            </a:r>
          </a:p>
          <a:p>
            <a:pPr marL="323849" lvl="1" algn="just"/>
            <a:r>
              <a:rPr lang="en-US" sz="2999" dirty="0">
                <a:solidFill>
                  <a:srgbClr val="000000"/>
                </a:solidFill>
                <a:latin typeface="Times New Roman"/>
                <a:ea typeface="Times New Roman"/>
                <a:cs typeface="Times New Roman"/>
                <a:sym typeface="Times New Roman"/>
              </a:rPr>
              <a:t>  - Need for clinician trust and regulatory compliance (HIPAA, GDPR)</a:t>
            </a:r>
          </a:p>
          <a:p>
            <a:pPr marL="323849" lvl="1" algn="just"/>
            <a:r>
              <a:rPr lang="en-US" sz="2999" dirty="0">
                <a:solidFill>
                  <a:srgbClr val="000000"/>
                </a:solidFill>
                <a:latin typeface="Times New Roman"/>
                <a:ea typeface="Times New Roman"/>
                <a:cs typeface="Times New Roman"/>
                <a:sym typeface="Times New Roman"/>
              </a:rPr>
              <a:t>• Gap in Current Solutions:</a:t>
            </a:r>
          </a:p>
          <a:p>
            <a:pPr marL="323849" lvl="1" algn="just"/>
            <a:r>
              <a:rPr lang="en-US" sz="2999" dirty="0">
                <a:solidFill>
                  <a:srgbClr val="000000"/>
                </a:solidFill>
                <a:latin typeface="Times New Roman"/>
                <a:ea typeface="Times New Roman"/>
                <a:cs typeface="Times New Roman"/>
                <a:sym typeface="Times New Roman"/>
              </a:rPr>
              <a:t>  - Most ML models lack explanation capabilities</a:t>
            </a:r>
          </a:p>
          <a:p>
            <a:pPr marL="323849" lvl="1" algn="just"/>
            <a:r>
              <a:rPr lang="en-US" sz="2999" dirty="0">
                <a:solidFill>
                  <a:srgbClr val="000000"/>
                </a:solidFill>
                <a:latin typeface="Times New Roman"/>
                <a:ea typeface="Times New Roman"/>
                <a:cs typeface="Times New Roman"/>
                <a:sym typeface="Times New Roman"/>
              </a:rPr>
              <a:t>  - Existing encryption methods don't support interpretability</a:t>
            </a:r>
          </a:p>
          <a:p>
            <a:pPr marL="323849" lvl="1" algn="just"/>
            <a:r>
              <a:rPr lang="en-US" sz="2999" dirty="0">
                <a:solidFill>
                  <a:srgbClr val="000000"/>
                </a:solidFill>
                <a:latin typeface="Times New Roman"/>
                <a:ea typeface="Times New Roman"/>
                <a:cs typeface="Times New Roman"/>
                <a:sym typeface="Times New Roman"/>
              </a:rPr>
              <a:t>  - No unified framework addressing both privacy AND explainability</a:t>
            </a:r>
          </a:p>
          <a:p>
            <a:pPr marL="323849" lvl="1" algn="just"/>
            <a:endParaRPr lang="en-US" sz="2999" dirty="0">
              <a:solidFill>
                <a:srgbClr val="000000"/>
              </a:solidFill>
              <a:latin typeface="Times New Roman"/>
              <a:ea typeface="Times New Roman"/>
              <a:cs typeface="Times New Roman"/>
              <a:sym typeface="Times New Roman"/>
            </a:endParaRPr>
          </a:p>
          <a:p>
            <a:pPr marL="323849" lvl="1" algn="just"/>
            <a:endParaRPr lang="en-US" sz="2999" dirty="0">
              <a:solidFill>
                <a:srgbClr val="000000"/>
              </a:solidFill>
              <a:latin typeface="Times New Roman"/>
              <a:ea typeface="Times New Roman"/>
              <a:cs typeface="Times New Roman"/>
              <a:sym typeface="Times New Roman"/>
            </a:endParaRPr>
          </a:p>
          <a:p>
            <a:pPr marL="323849" lvl="1" algn="just"/>
            <a:endParaRPr lang="en-US" sz="2999" dirty="0">
              <a:solidFill>
                <a:srgbClr val="000000"/>
              </a:solidFill>
              <a:latin typeface="Times New Roman"/>
              <a:ea typeface="Times New Roman"/>
              <a:cs typeface="Times New Roman"/>
              <a:sym typeface="Times New Roman"/>
            </a:endParaRPr>
          </a:p>
        </p:txBody>
      </p:sp>
      <p:grpSp>
        <p:nvGrpSpPr>
          <p:cNvPr id="9" name="Group 9"/>
          <p:cNvGrpSpPr/>
          <p:nvPr/>
        </p:nvGrpSpPr>
        <p:grpSpPr>
          <a:xfrm>
            <a:off x="392782" y="196828"/>
            <a:ext cx="13970595" cy="1285882"/>
            <a:chOff x="0" y="0"/>
            <a:chExt cx="18627460" cy="1714510"/>
          </a:xfrm>
        </p:grpSpPr>
        <p:sp>
          <p:nvSpPr>
            <p:cNvPr id="10" name="Freeform 10"/>
            <p:cNvSpPr/>
            <p:nvPr/>
          </p:nvSpPr>
          <p:spPr>
            <a:xfrm>
              <a:off x="0" y="0"/>
              <a:ext cx="18627460" cy="1714510"/>
            </a:xfrm>
            <a:custGeom>
              <a:avLst/>
              <a:gdLst/>
              <a:ahLst/>
              <a:cxnLst/>
              <a:rect l="l" t="t" r="r" b="b"/>
              <a:pathLst>
                <a:path w="18627460" h="1714510">
                  <a:moveTo>
                    <a:pt x="0" y="0"/>
                  </a:moveTo>
                  <a:lnTo>
                    <a:pt x="18627460" y="0"/>
                  </a:lnTo>
                  <a:lnTo>
                    <a:pt x="18627460" y="1714510"/>
                  </a:lnTo>
                  <a:lnTo>
                    <a:pt x="0" y="1714510"/>
                  </a:lnTo>
                  <a:close/>
                </a:path>
              </a:pathLst>
            </a:custGeom>
            <a:solidFill>
              <a:srgbClr val="000000">
                <a:alpha val="0"/>
              </a:srgbClr>
            </a:solidFill>
          </p:spPr>
        </p:sp>
        <p:sp>
          <p:nvSpPr>
            <p:cNvPr id="11" name="TextBox 11"/>
            <p:cNvSpPr txBox="1"/>
            <p:nvPr/>
          </p:nvSpPr>
          <p:spPr>
            <a:xfrm>
              <a:off x="0" y="-123825"/>
              <a:ext cx="18627460" cy="1838335"/>
            </a:xfrm>
            <a:prstGeom prst="rect">
              <a:avLst/>
            </a:prstGeom>
          </p:spPr>
          <p:txBody>
            <a:bodyPr lIns="0" tIns="0" rIns="0" bIns="0" rtlCol="0" anchor="b"/>
            <a:lstStyle/>
            <a:p>
              <a:pPr algn="l">
                <a:lnSpc>
                  <a:spcPts val="7200"/>
                </a:lnSpc>
              </a:pPr>
              <a:r>
                <a:rPr lang="en-US" sz="6000" b="1">
                  <a:solidFill>
                    <a:srgbClr val="001D58"/>
                  </a:solidFill>
                  <a:latin typeface="Times New Roman Bold"/>
                  <a:ea typeface="Times New Roman Bold"/>
                  <a:cs typeface="Times New Roman Bold"/>
                  <a:sym typeface="Times New Roman Bold"/>
                </a:rPr>
                <a:t>INTRODUCTION</a:t>
              </a:r>
            </a:p>
          </p:txBody>
        </p:sp>
      </p:grpSp>
      <p:sp>
        <p:nvSpPr>
          <p:cNvPr id="12" name="Freeform 12"/>
          <p:cNvSpPr/>
          <p:nvPr/>
        </p:nvSpPr>
        <p:spPr>
          <a:xfrm>
            <a:off x="13976138" y="404027"/>
            <a:ext cx="3922888" cy="880198"/>
          </a:xfrm>
          <a:custGeom>
            <a:avLst/>
            <a:gdLst/>
            <a:ahLst/>
            <a:cxnLst/>
            <a:rect l="l" t="t" r="r" b="b"/>
            <a:pathLst>
              <a:path w="3922888" h="880198">
                <a:moveTo>
                  <a:pt x="0" y="0"/>
                </a:moveTo>
                <a:lnTo>
                  <a:pt x="3922888" y="0"/>
                </a:lnTo>
                <a:lnTo>
                  <a:pt x="3922888" y="880199"/>
                </a:lnTo>
                <a:lnTo>
                  <a:pt x="0" y="880199"/>
                </a:lnTo>
                <a:lnTo>
                  <a:pt x="0" y="0"/>
                </a:lnTo>
                <a:close/>
              </a:path>
            </a:pathLst>
          </a:custGeom>
          <a:blipFill>
            <a:blip r:embed="rId2"/>
            <a:stretch>
              <a:fillRect/>
            </a:stretch>
          </a:blipFill>
        </p:spPr>
      </p:sp>
      <p:sp>
        <p:nvSpPr>
          <p:cNvPr id="13" name="TextBox 13"/>
          <p:cNvSpPr txBox="1"/>
          <p:nvPr/>
        </p:nvSpPr>
        <p:spPr>
          <a:xfrm>
            <a:off x="15490814" y="9030873"/>
            <a:ext cx="1853882" cy="528991"/>
          </a:xfrm>
          <a:prstGeom prst="rect">
            <a:avLst/>
          </a:prstGeom>
        </p:spPr>
        <p:txBody>
          <a:bodyPr lIns="0" tIns="0" rIns="0" bIns="0" rtlCol="0" anchor="t">
            <a:spAutoFit/>
          </a:bodyPr>
          <a:lstStyle/>
          <a:p>
            <a:pPr algn="ctr">
              <a:lnSpc>
                <a:spcPts val="4480"/>
              </a:lnSpc>
            </a:pPr>
            <a:r>
              <a:rPr lang="en-US" sz="3200" dirty="0">
                <a:solidFill>
                  <a:srgbClr val="000000"/>
                </a:solidFill>
                <a:latin typeface="Times New Roman"/>
                <a:ea typeface="Times New Roman"/>
                <a:cs typeface="Times New Roman"/>
                <a:sym typeface="Times New Roman"/>
              </a:rPr>
              <a:t>16/02/2026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DABDE-A911-70F4-3DEA-A6885257599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F0B60E0-BE76-9BC5-E266-C20804451558}"/>
              </a:ext>
            </a:extLst>
          </p:cNvPr>
          <p:cNvGrpSpPr/>
          <p:nvPr/>
        </p:nvGrpSpPr>
        <p:grpSpPr>
          <a:xfrm>
            <a:off x="0" y="0"/>
            <a:ext cx="18288000" cy="10287000"/>
            <a:chOff x="0" y="0"/>
            <a:chExt cx="24384000" cy="13716000"/>
          </a:xfrm>
        </p:grpSpPr>
        <p:sp>
          <p:nvSpPr>
            <p:cNvPr id="3" name="Freeform 3">
              <a:extLst>
                <a:ext uri="{FF2B5EF4-FFF2-40B4-BE49-F238E27FC236}">
                  <a16:creationId xmlns:a16="http://schemas.microsoft.com/office/drawing/2014/main" id="{3491A21F-ECBB-C065-0500-4C8195D9A492}"/>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grpSp>
        <p:nvGrpSpPr>
          <p:cNvPr id="4" name="Group 4">
            <a:extLst>
              <a:ext uri="{FF2B5EF4-FFF2-40B4-BE49-F238E27FC236}">
                <a16:creationId xmlns:a16="http://schemas.microsoft.com/office/drawing/2014/main" id="{BC154E16-43E0-B608-54B8-F8A40899977A}"/>
              </a:ext>
            </a:extLst>
          </p:cNvPr>
          <p:cNvGrpSpPr/>
          <p:nvPr/>
        </p:nvGrpSpPr>
        <p:grpSpPr>
          <a:xfrm>
            <a:off x="161077" y="196828"/>
            <a:ext cx="17959134" cy="9910974"/>
            <a:chOff x="0" y="0"/>
            <a:chExt cx="4729978" cy="2610298"/>
          </a:xfrm>
        </p:grpSpPr>
        <p:sp>
          <p:nvSpPr>
            <p:cNvPr id="5" name="Freeform 5">
              <a:extLst>
                <a:ext uri="{FF2B5EF4-FFF2-40B4-BE49-F238E27FC236}">
                  <a16:creationId xmlns:a16="http://schemas.microsoft.com/office/drawing/2014/main" id="{121E1DDA-5290-920E-2A1F-58B7CA68D788}"/>
                </a:ext>
              </a:extLst>
            </p:cNvPr>
            <p:cNvSpPr/>
            <p:nvPr/>
          </p:nvSpPr>
          <p:spPr>
            <a:xfrm>
              <a:off x="0" y="0"/>
              <a:ext cx="4729978" cy="2610298"/>
            </a:xfrm>
            <a:custGeom>
              <a:avLst/>
              <a:gdLst/>
              <a:ahLst/>
              <a:cxnLst/>
              <a:rect l="l" t="t" r="r" b="b"/>
              <a:pathLst>
                <a:path w="4729978" h="2610298">
                  <a:moveTo>
                    <a:pt x="0" y="0"/>
                  </a:moveTo>
                  <a:lnTo>
                    <a:pt x="4729978" y="0"/>
                  </a:lnTo>
                  <a:lnTo>
                    <a:pt x="4729978" y="2610298"/>
                  </a:lnTo>
                  <a:lnTo>
                    <a:pt x="0" y="2610298"/>
                  </a:lnTo>
                  <a:close/>
                </a:path>
              </a:pathLst>
            </a:custGeom>
            <a:solidFill>
              <a:srgbClr val="000000">
                <a:alpha val="0"/>
              </a:srgbClr>
            </a:solidFill>
            <a:ln w="28575" cap="sq">
              <a:solidFill>
                <a:srgbClr val="000000"/>
              </a:solidFill>
              <a:prstDash val="solid"/>
              <a:miter/>
            </a:ln>
          </p:spPr>
        </p:sp>
        <p:sp>
          <p:nvSpPr>
            <p:cNvPr id="6" name="TextBox 6">
              <a:extLst>
                <a:ext uri="{FF2B5EF4-FFF2-40B4-BE49-F238E27FC236}">
                  <a16:creationId xmlns:a16="http://schemas.microsoft.com/office/drawing/2014/main" id="{3233C3DA-8F9D-9983-367D-472B82C55658}"/>
                </a:ext>
              </a:extLst>
            </p:cNvPr>
            <p:cNvSpPr txBox="1"/>
            <p:nvPr/>
          </p:nvSpPr>
          <p:spPr>
            <a:xfrm>
              <a:off x="0" y="-38100"/>
              <a:ext cx="4729978" cy="2648398"/>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a:extLst>
              <a:ext uri="{FF2B5EF4-FFF2-40B4-BE49-F238E27FC236}">
                <a16:creationId xmlns:a16="http://schemas.microsoft.com/office/drawing/2014/main" id="{61F3761E-EDF2-DF70-38DD-9B24F28B6F51}"/>
              </a:ext>
            </a:extLst>
          </p:cNvPr>
          <p:cNvGrpSpPr/>
          <p:nvPr/>
        </p:nvGrpSpPr>
        <p:grpSpPr>
          <a:xfrm>
            <a:off x="392782" y="9324975"/>
            <a:ext cx="578768" cy="578768"/>
            <a:chOff x="0" y="0"/>
            <a:chExt cx="152433" cy="152433"/>
          </a:xfrm>
        </p:grpSpPr>
        <p:sp>
          <p:nvSpPr>
            <p:cNvPr id="8" name="Freeform 8">
              <a:extLst>
                <a:ext uri="{FF2B5EF4-FFF2-40B4-BE49-F238E27FC236}">
                  <a16:creationId xmlns:a16="http://schemas.microsoft.com/office/drawing/2014/main" id="{7D180536-96B7-4D60-7717-412B12A04F4D}"/>
                </a:ext>
              </a:extLst>
            </p:cNvPr>
            <p:cNvSpPr/>
            <p:nvPr/>
          </p:nvSpPr>
          <p:spPr>
            <a:xfrm>
              <a:off x="0" y="0"/>
              <a:ext cx="152433" cy="152433"/>
            </a:xfrm>
            <a:custGeom>
              <a:avLst/>
              <a:gdLst/>
              <a:ahLst/>
              <a:cxnLst/>
              <a:rect l="l" t="t" r="r" b="b"/>
              <a:pathLst>
                <a:path w="152433" h="152433">
                  <a:moveTo>
                    <a:pt x="0" y="0"/>
                  </a:moveTo>
                  <a:lnTo>
                    <a:pt x="152433" y="0"/>
                  </a:lnTo>
                  <a:lnTo>
                    <a:pt x="152433" y="152433"/>
                  </a:lnTo>
                  <a:lnTo>
                    <a:pt x="0" y="152433"/>
                  </a:lnTo>
                  <a:close/>
                </a:path>
              </a:pathLst>
            </a:custGeom>
            <a:solidFill>
              <a:srgbClr val="FF4500"/>
            </a:solidFill>
          </p:spPr>
        </p:sp>
        <p:sp>
          <p:nvSpPr>
            <p:cNvPr id="9" name="TextBox 9">
              <a:extLst>
                <a:ext uri="{FF2B5EF4-FFF2-40B4-BE49-F238E27FC236}">
                  <a16:creationId xmlns:a16="http://schemas.microsoft.com/office/drawing/2014/main" id="{B56833AA-824F-2CE5-1448-AED2866B3BFB}"/>
                </a:ext>
              </a:extLst>
            </p:cNvPr>
            <p:cNvSpPr txBox="1"/>
            <p:nvPr/>
          </p:nvSpPr>
          <p:spPr>
            <a:xfrm>
              <a:off x="0" y="-47625"/>
              <a:ext cx="152433" cy="200058"/>
            </a:xfrm>
            <a:prstGeom prst="rect">
              <a:avLst/>
            </a:prstGeom>
          </p:spPr>
          <p:txBody>
            <a:bodyPr lIns="50800" tIns="50800" rIns="50800" bIns="50800" rtlCol="0" anchor="ctr"/>
            <a:lstStyle/>
            <a:p>
              <a:pPr algn="ctr">
                <a:lnSpc>
                  <a:spcPts val="3499"/>
                </a:lnSpc>
              </a:pPr>
              <a:r>
                <a:rPr lang="en-US" sz="2499">
                  <a:solidFill>
                    <a:srgbClr val="FFFFFF"/>
                  </a:solidFill>
                  <a:latin typeface="Canva Sans"/>
                  <a:ea typeface="Canva Sans"/>
                  <a:cs typeface="Canva Sans"/>
                  <a:sym typeface="Canva Sans"/>
                </a:rPr>
                <a:t>5</a:t>
              </a:r>
            </a:p>
          </p:txBody>
        </p:sp>
      </p:grpSp>
      <p:sp>
        <p:nvSpPr>
          <p:cNvPr id="10" name="TextBox 10">
            <a:extLst>
              <a:ext uri="{FF2B5EF4-FFF2-40B4-BE49-F238E27FC236}">
                <a16:creationId xmlns:a16="http://schemas.microsoft.com/office/drawing/2014/main" id="{C0968B1F-AC1E-F12C-2797-64665EC2BF21}"/>
              </a:ext>
            </a:extLst>
          </p:cNvPr>
          <p:cNvSpPr txBox="1"/>
          <p:nvPr/>
        </p:nvSpPr>
        <p:spPr>
          <a:xfrm>
            <a:off x="448078" y="1216287"/>
            <a:ext cx="17184477" cy="8307659"/>
          </a:xfrm>
          <a:prstGeom prst="rect">
            <a:avLst/>
          </a:prstGeom>
        </p:spPr>
        <p:txBody>
          <a:bodyPr wrap="square" lIns="0" tIns="0" rIns="0" bIns="0" rtlCol="0" anchor="t">
            <a:spAutoFit/>
          </a:bodyPr>
          <a:lstStyle/>
          <a:p>
            <a:pPr marL="144000" lvl="1" algn="just"/>
            <a:r>
              <a:rPr lang="en-US" sz="2999" b="1" dirty="0">
                <a:solidFill>
                  <a:srgbClr val="000000"/>
                </a:solidFill>
                <a:latin typeface="Times New Roman"/>
                <a:ea typeface="Times New Roman"/>
                <a:cs typeface="Times New Roman"/>
                <a:sym typeface="Times New Roman"/>
              </a:rPr>
              <a:t>Primary Objectives:</a:t>
            </a:r>
          </a:p>
          <a:p>
            <a:pPr marL="144000" lvl="1" algn="just"/>
            <a:r>
              <a:rPr lang="en-US" sz="2999" b="1" dirty="0">
                <a:solidFill>
                  <a:srgbClr val="000000"/>
                </a:solidFill>
                <a:latin typeface="Times New Roman"/>
                <a:ea typeface="Times New Roman"/>
                <a:cs typeface="Times New Roman"/>
                <a:sym typeface="Times New Roman"/>
              </a:rPr>
              <a:t>1. Privacy Preservation:</a:t>
            </a:r>
          </a:p>
          <a:p>
            <a:pPr marL="144000" lvl="1" algn="just"/>
            <a:r>
              <a:rPr lang="en-US" sz="2999" dirty="0">
                <a:solidFill>
                  <a:srgbClr val="000000"/>
                </a:solidFill>
                <a:latin typeface="Times New Roman"/>
                <a:ea typeface="Times New Roman"/>
                <a:cs typeface="Times New Roman"/>
                <a:sym typeface="Times New Roman"/>
              </a:rPr>
              <a:t>   • Ensure end-to-end privacy of ECG signals through homomorphic encryption, Enable cloud processing without exposing raw patient data ,Maintain HIPAA and GDPR compliance.</a:t>
            </a:r>
          </a:p>
          <a:p>
            <a:pPr marL="144000" lvl="1" algn="just"/>
            <a:r>
              <a:rPr lang="en-US" sz="2999" b="1" dirty="0">
                <a:solidFill>
                  <a:srgbClr val="000000"/>
                </a:solidFill>
                <a:latin typeface="Times New Roman"/>
                <a:ea typeface="Times New Roman"/>
                <a:cs typeface="Times New Roman"/>
                <a:sym typeface="Times New Roman"/>
              </a:rPr>
              <a:t>2. Model Development:</a:t>
            </a:r>
          </a:p>
          <a:p>
            <a:pPr marL="144000" lvl="1" algn="just"/>
            <a:r>
              <a:rPr lang="en-US" sz="2999" dirty="0">
                <a:solidFill>
                  <a:srgbClr val="000000"/>
                </a:solidFill>
                <a:latin typeface="Times New Roman"/>
                <a:ea typeface="Times New Roman"/>
                <a:cs typeface="Times New Roman"/>
                <a:sym typeface="Times New Roman"/>
              </a:rPr>
              <a:t>   • Build lightweight, efficient ML model for encrypted data analysis, Achieve high classification accuracy on encrypted ECG signals, Minimize computational overhead.</a:t>
            </a:r>
          </a:p>
          <a:p>
            <a:pPr marL="144000" lvl="1" algn="just"/>
            <a:r>
              <a:rPr lang="en-US" sz="2999" b="1" dirty="0">
                <a:solidFill>
                  <a:srgbClr val="000000"/>
                </a:solidFill>
                <a:latin typeface="Times New Roman"/>
                <a:ea typeface="Times New Roman"/>
                <a:cs typeface="Times New Roman"/>
                <a:sym typeface="Times New Roman"/>
              </a:rPr>
              <a:t>3. Interpretability:</a:t>
            </a:r>
          </a:p>
          <a:p>
            <a:pPr marL="144000" lvl="1" algn="just"/>
            <a:r>
              <a:rPr lang="en-US" sz="2999" dirty="0">
                <a:solidFill>
                  <a:srgbClr val="000000"/>
                </a:solidFill>
                <a:latin typeface="Times New Roman"/>
                <a:ea typeface="Times New Roman"/>
                <a:cs typeface="Times New Roman"/>
                <a:sym typeface="Times New Roman"/>
              </a:rPr>
              <a:t>   • Apply SHAP to interpret model predictions, Provide clinically meaningful </a:t>
            </a:r>
            <a:r>
              <a:rPr lang="en-US" sz="2999" dirty="0" err="1">
                <a:solidFill>
                  <a:srgbClr val="000000"/>
                </a:solidFill>
                <a:latin typeface="Times New Roman"/>
                <a:ea typeface="Times New Roman"/>
                <a:cs typeface="Times New Roman"/>
                <a:sym typeface="Times New Roman"/>
              </a:rPr>
              <a:t>explanations,Increase</a:t>
            </a:r>
            <a:r>
              <a:rPr lang="en-US" sz="2999" dirty="0">
                <a:solidFill>
                  <a:srgbClr val="000000"/>
                </a:solidFill>
                <a:latin typeface="Times New Roman"/>
                <a:ea typeface="Times New Roman"/>
                <a:cs typeface="Times New Roman"/>
                <a:sym typeface="Times New Roman"/>
              </a:rPr>
              <a:t> trust and accountability in clinical decisions.</a:t>
            </a:r>
          </a:p>
          <a:p>
            <a:pPr marL="144000" lvl="1" algn="just"/>
            <a:r>
              <a:rPr lang="en-US" sz="2999" b="1" dirty="0">
                <a:solidFill>
                  <a:srgbClr val="000000"/>
                </a:solidFill>
                <a:latin typeface="Times New Roman"/>
                <a:ea typeface="Times New Roman"/>
                <a:cs typeface="Times New Roman"/>
                <a:sym typeface="Times New Roman"/>
              </a:rPr>
              <a:t>4. Validation:</a:t>
            </a:r>
          </a:p>
          <a:p>
            <a:pPr marL="144000" lvl="1" algn="just"/>
            <a:r>
              <a:rPr lang="en-US" sz="2999" dirty="0">
                <a:solidFill>
                  <a:srgbClr val="000000"/>
                </a:solidFill>
                <a:latin typeface="Times New Roman"/>
                <a:ea typeface="Times New Roman"/>
                <a:cs typeface="Times New Roman"/>
                <a:sym typeface="Times New Roman"/>
              </a:rPr>
              <a:t>   • Evaluate framework for accuracy, execution time, and interpretability, Ensure security compliance.</a:t>
            </a:r>
          </a:p>
          <a:p>
            <a:pPr marL="144000" lvl="1" algn="just"/>
            <a:r>
              <a:rPr lang="en-US" sz="2999" b="1" dirty="0">
                <a:solidFill>
                  <a:srgbClr val="000000"/>
                </a:solidFill>
                <a:latin typeface="Times New Roman"/>
                <a:ea typeface="Times New Roman"/>
                <a:cs typeface="Times New Roman"/>
                <a:sym typeface="Times New Roman"/>
              </a:rPr>
              <a:t>Target Metrics:</a:t>
            </a:r>
          </a:p>
          <a:p>
            <a:pPr marL="144000" lvl="1" algn="just"/>
            <a:r>
              <a:rPr lang="en-US" sz="2999" dirty="0">
                <a:solidFill>
                  <a:srgbClr val="000000"/>
                </a:solidFill>
                <a:latin typeface="Times New Roman"/>
                <a:ea typeface="Times New Roman"/>
                <a:cs typeface="Times New Roman"/>
                <a:sym typeface="Times New Roman"/>
              </a:rPr>
              <a:t>• Classification Accuracy: &gt;93%</a:t>
            </a:r>
          </a:p>
          <a:p>
            <a:pPr marL="144000" lvl="1" algn="just"/>
            <a:r>
              <a:rPr lang="en-US" sz="2999" dirty="0">
                <a:solidFill>
                  <a:srgbClr val="000000"/>
                </a:solidFill>
                <a:latin typeface="Times New Roman"/>
                <a:ea typeface="Times New Roman"/>
                <a:cs typeface="Times New Roman"/>
                <a:sym typeface="Times New Roman"/>
              </a:rPr>
              <a:t>• F1-Score: &gt;90%</a:t>
            </a:r>
          </a:p>
          <a:p>
            <a:pPr marL="144000" lvl="1" algn="just"/>
            <a:r>
              <a:rPr lang="en-US" sz="2999" dirty="0">
                <a:solidFill>
                  <a:srgbClr val="000000"/>
                </a:solidFill>
                <a:latin typeface="Times New Roman"/>
                <a:ea typeface="Times New Roman"/>
                <a:cs typeface="Times New Roman"/>
                <a:sym typeface="Times New Roman"/>
              </a:rPr>
              <a:t>• Inference Latency: &lt;500ms</a:t>
            </a:r>
          </a:p>
          <a:p>
            <a:pPr marL="144000" lvl="1" algn="just"/>
            <a:r>
              <a:rPr lang="en-US" sz="2999" dirty="0">
                <a:solidFill>
                  <a:srgbClr val="000000"/>
                </a:solidFill>
                <a:latin typeface="Times New Roman"/>
                <a:ea typeface="Times New Roman"/>
                <a:cs typeface="Times New Roman"/>
                <a:sym typeface="Times New Roman"/>
              </a:rPr>
              <a:t>• Security Level: 128-bit encryption</a:t>
            </a:r>
          </a:p>
          <a:p>
            <a:pPr marL="144000" lvl="1" algn="just"/>
            <a:endParaRPr lang="en-US" sz="2999" dirty="0">
              <a:solidFill>
                <a:srgbClr val="000000"/>
              </a:solidFill>
              <a:latin typeface="Times New Roman"/>
              <a:ea typeface="Times New Roman"/>
              <a:cs typeface="Times New Roman"/>
              <a:sym typeface="Times New Roman"/>
            </a:endParaRPr>
          </a:p>
        </p:txBody>
      </p:sp>
      <p:grpSp>
        <p:nvGrpSpPr>
          <p:cNvPr id="11" name="Group 11">
            <a:extLst>
              <a:ext uri="{FF2B5EF4-FFF2-40B4-BE49-F238E27FC236}">
                <a16:creationId xmlns:a16="http://schemas.microsoft.com/office/drawing/2014/main" id="{EDC3EFB2-8D7E-430C-6477-F96E50161879}"/>
              </a:ext>
            </a:extLst>
          </p:cNvPr>
          <p:cNvGrpSpPr/>
          <p:nvPr/>
        </p:nvGrpSpPr>
        <p:grpSpPr>
          <a:xfrm>
            <a:off x="448078" y="-70063"/>
            <a:ext cx="13970595" cy="1285882"/>
            <a:chOff x="0" y="0"/>
            <a:chExt cx="18627460" cy="1714510"/>
          </a:xfrm>
        </p:grpSpPr>
        <p:sp>
          <p:nvSpPr>
            <p:cNvPr id="12" name="Freeform 12">
              <a:extLst>
                <a:ext uri="{FF2B5EF4-FFF2-40B4-BE49-F238E27FC236}">
                  <a16:creationId xmlns:a16="http://schemas.microsoft.com/office/drawing/2014/main" id="{4007E873-1AB4-71A8-69CD-004EF0F9C51D}"/>
                </a:ext>
              </a:extLst>
            </p:cNvPr>
            <p:cNvSpPr/>
            <p:nvPr/>
          </p:nvSpPr>
          <p:spPr>
            <a:xfrm>
              <a:off x="0" y="0"/>
              <a:ext cx="18627460" cy="1714510"/>
            </a:xfrm>
            <a:custGeom>
              <a:avLst/>
              <a:gdLst/>
              <a:ahLst/>
              <a:cxnLst/>
              <a:rect l="l" t="t" r="r" b="b"/>
              <a:pathLst>
                <a:path w="18627460" h="1714510">
                  <a:moveTo>
                    <a:pt x="0" y="0"/>
                  </a:moveTo>
                  <a:lnTo>
                    <a:pt x="18627460" y="0"/>
                  </a:lnTo>
                  <a:lnTo>
                    <a:pt x="18627460" y="1714510"/>
                  </a:lnTo>
                  <a:lnTo>
                    <a:pt x="0" y="1714510"/>
                  </a:lnTo>
                  <a:close/>
                </a:path>
              </a:pathLst>
            </a:custGeom>
            <a:solidFill>
              <a:srgbClr val="000000">
                <a:alpha val="0"/>
              </a:srgbClr>
            </a:solidFill>
          </p:spPr>
        </p:sp>
        <p:sp>
          <p:nvSpPr>
            <p:cNvPr id="13" name="TextBox 13">
              <a:extLst>
                <a:ext uri="{FF2B5EF4-FFF2-40B4-BE49-F238E27FC236}">
                  <a16:creationId xmlns:a16="http://schemas.microsoft.com/office/drawing/2014/main" id="{3DD7B287-C580-4A8B-ED22-53F6CFE3A370}"/>
                </a:ext>
              </a:extLst>
            </p:cNvPr>
            <p:cNvSpPr txBox="1"/>
            <p:nvPr/>
          </p:nvSpPr>
          <p:spPr>
            <a:xfrm>
              <a:off x="0" y="-123825"/>
              <a:ext cx="18627460" cy="1838335"/>
            </a:xfrm>
            <a:prstGeom prst="rect">
              <a:avLst/>
            </a:prstGeom>
          </p:spPr>
          <p:txBody>
            <a:bodyPr lIns="0" tIns="0" rIns="0" bIns="0" rtlCol="0" anchor="b"/>
            <a:lstStyle/>
            <a:p>
              <a:pPr algn="l">
                <a:lnSpc>
                  <a:spcPts val="7200"/>
                </a:lnSpc>
              </a:pPr>
              <a:r>
                <a:rPr lang="en-US" sz="6000" b="1">
                  <a:solidFill>
                    <a:srgbClr val="001D58"/>
                  </a:solidFill>
                  <a:latin typeface="Times New Roman Bold"/>
                  <a:ea typeface="Times New Roman Bold"/>
                  <a:cs typeface="Times New Roman Bold"/>
                  <a:sym typeface="Times New Roman Bold"/>
                </a:rPr>
                <a:t>OBJECTIVE</a:t>
              </a:r>
            </a:p>
          </p:txBody>
        </p:sp>
      </p:grpSp>
      <p:sp>
        <p:nvSpPr>
          <p:cNvPr id="14" name="Freeform 14">
            <a:extLst>
              <a:ext uri="{FF2B5EF4-FFF2-40B4-BE49-F238E27FC236}">
                <a16:creationId xmlns:a16="http://schemas.microsoft.com/office/drawing/2014/main" id="{0ED7A4E2-13BC-4811-8798-F6F3BAEA8232}"/>
              </a:ext>
            </a:extLst>
          </p:cNvPr>
          <p:cNvSpPr/>
          <p:nvPr/>
        </p:nvSpPr>
        <p:spPr>
          <a:xfrm>
            <a:off x="13976138" y="404027"/>
            <a:ext cx="3922888" cy="880198"/>
          </a:xfrm>
          <a:custGeom>
            <a:avLst/>
            <a:gdLst/>
            <a:ahLst/>
            <a:cxnLst/>
            <a:rect l="l" t="t" r="r" b="b"/>
            <a:pathLst>
              <a:path w="3922888" h="880198">
                <a:moveTo>
                  <a:pt x="0" y="0"/>
                </a:moveTo>
                <a:lnTo>
                  <a:pt x="3922888" y="0"/>
                </a:lnTo>
                <a:lnTo>
                  <a:pt x="3922888" y="880199"/>
                </a:lnTo>
                <a:lnTo>
                  <a:pt x="0" y="880199"/>
                </a:lnTo>
                <a:lnTo>
                  <a:pt x="0" y="0"/>
                </a:lnTo>
                <a:close/>
              </a:path>
            </a:pathLst>
          </a:custGeom>
          <a:blipFill>
            <a:blip r:embed="rId3"/>
            <a:stretch>
              <a:fillRect/>
            </a:stretch>
          </a:blipFill>
        </p:spPr>
      </p:sp>
      <p:sp>
        <p:nvSpPr>
          <p:cNvPr id="15" name="TextBox 15">
            <a:extLst>
              <a:ext uri="{FF2B5EF4-FFF2-40B4-BE49-F238E27FC236}">
                <a16:creationId xmlns:a16="http://schemas.microsoft.com/office/drawing/2014/main" id="{FC7B0BF8-AEA0-E08E-5D00-42AF230842F4}"/>
              </a:ext>
            </a:extLst>
          </p:cNvPr>
          <p:cNvSpPr txBox="1"/>
          <p:nvPr/>
        </p:nvSpPr>
        <p:spPr>
          <a:xfrm>
            <a:off x="15490814" y="9030873"/>
            <a:ext cx="1853882" cy="528991"/>
          </a:xfrm>
          <a:prstGeom prst="rect">
            <a:avLst/>
          </a:prstGeom>
        </p:spPr>
        <p:txBody>
          <a:bodyPr lIns="0" tIns="0" rIns="0" bIns="0" rtlCol="0" anchor="t">
            <a:spAutoFit/>
          </a:bodyPr>
          <a:lstStyle/>
          <a:p>
            <a:pPr algn="ctr">
              <a:lnSpc>
                <a:spcPts val="4480"/>
              </a:lnSpc>
            </a:pPr>
            <a:r>
              <a:rPr lang="en-US" sz="3200" dirty="0">
                <a:solidFill>
                  <a:srgbClr val="000000"/>
                </a:solidFill>
                <a:latin typeface="Times New Roman"/>
                <a:ea typeface="Times New Roman"/>
                <a:cs typeface="Times New Roman"/>
                <a:sym typeface="Times New Roman"/>
              </a:rPr>
              <a:t>16/02/2026</a:t>
            </a:r>
          </a:p>
        </p:txBody>
      </p:sp>
    </p:spTree>
    <p:extLst>
      <p:ext uri="{BB962C8B-B14F-4D97-AF65-F5344CB8AC3E}">
        <p14:creationId xmlns:p14="http://schemas.microsoft.com/office/powerpoint/2010/main" val="2829287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grpSp>
        <p:nvGrpSpPr>
          <p:cNvPr id="4" name="Group 4"/>
          <p:cNvGrpSpPr/>
          <p:nvPr/>
        </p:nvGrpSpPr>
        <p:grpSpPr>
          <a:xfrm>
            <a:off x="161077" y="196828"/>
            <a:ext cx="17959134" cy="9910974"/>
            <a:chOff x="0" y="0"/>
            <a:chExt cx="4729978" cy="2610298"/>
          </a:xfrm>
        </p:grpSpPr>
        <p:sp>
          <p:nvSpPr>
            <p:cNvPr id="5" name="Freeform 5"/>
            <p:cNvSpPr/>
            <p:nvPr/>
          </p:nvSpPr>
          <p:spPr>
            <a:xfrm>
              <a:off x="0" y="0"/>
              <a:ext cx="4729978" cy="2610298"/>
            </a:xfrm>
            <a:custGeom>
              <a:avLst/>
              <a:gdLst/>
              <a:ahLst/>
              <a:cxnLst/>
              <a:rect l="l" t="t" r="r" b="b"/>
              <a:pathLst>
                <a:path w="4729978" h="2610298">
                  <a:moveTo>
                    <a:pt x="0" y="0"/>
                  </a:moveTo>
                  <a:lnTo>
                    <a:pt x="4729978" y="0"/>
                  </a:lnTo>
                  <a:lnTo>
                    <a:pt x="4729978" y="2610298"/>
                  </a:lnTo>
                  <a:lnTo>
                    <a:pt x="0" y="2610298"/>
                  </a:lnTo>
                  <a:close/>
                </a:path>
              </a:pathLst>
            </a:custGeom>
            <a:solidFill>
              <a:srgbClr val="000000">
                <a:alpha val="0"/>
              </a:srgbClr>
            </a:solidFill>
            <a:ln w="28575" cap="sq">
              <a:solidFill>
                <a:srgbClr val="000000"/>
              </a:solidFill>
              <a:prstDash val="solid"/>
              <a:miter/>
            </a:ln>
          </p:spPr>
        </p:sp>
        <p:sp>
          <p:nvSpPr>
            <p:cNvPr id="6" name="TextBox 6"/>
            <p:cNvSpPr txBox="1"/>
            <p:nvPr/>
          </p:nvSpPr>
          <p:spPr>
            <a:xfrm>
              <a:off x="0" y="-38100"/>
              <a:ext cx="4729978" cy="2648398"/>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585132" y="1812739"/>
            <a:ext cx="16674168" cy="2283061"/>
          </a:xfrm>
          <a:prstGeom prst="rect">
            <a:avLst/>
          </a:prstGeom>
        </p:spPr>
        <p:txBody>
          <a:bodyPr lIns="0" tIns="0" rIns="0" bIns="0" rtlCol="0" anchor="t">
            <a:spAutoFit/>
          </a:bodyPr>
          <a:lstStyle/>
          <a:p>
            <a:pPr algn="ctr">
              <a:lnSpc>
                <a:spcPts val="3599"/>
              </a:lnSpc>
            </a:pPr>
            <a:r>
              <a:rPr lang="en-US" sz="2999" dirty="0">
                <a:solidFill>
                  <a:srgbClr val="000000"/>
                </a:solidFill>
                <a:latin typeface="Times New Roman"/>
                <a:ea typeface="Times New Roman"/>
                <a:cs typeface="Times New Roman"/>
                <a:sym typeface="Times New Roman"/>
              </a:rPr>
              <a:t>Explainable AI with Homomorphic Encryption For Secure Cloud </a:t>
            </a:r>
            <a:r>
              <a:rPr lang="en-US" sz="2999" dirty="0">
                <a:solidFill>
                  <a:srgbClr val="000000"/>
                </a:solidFill>
                <a:latin typeface="Times New Roman"/>
                <a:ea typeface="Times New Roman"/>
                <a:cs typeface="Times New Roman"/>
                <a:sym typeface="Times New Roman"/>
                <a:hlinkClick r:id="rId2" tooltip="https://doi.org/10.1007/s11042-020-09625-8"/>
              </a:rPr>
              <a:t>–</a:t>
            </a:r>
            <a:r>
              <a:rPr lang="en-US" sz="2999" dirty="0">
                <a:solidFill>
                  <a:srgbClr val="000000"/>
                </a:solidFill>
                <a:latin typeface="Times New Roman"/>
                <a:ea typeface="Times New Roman"/>
                <a:cs typeface="Times New Roman"/>
                <a:sym typeface="Times New Roman"/>
              </a:rPr>
              <a:t> Based ECG Analysis in Heart Disease Diagnosis</a:t>
            </a:r>
            <a:br>
              <a:rPr lang="en-US" sz="2999" dirty="0">
                <a:solidFill>
                  <a:srgbClr val="000000"/>
                </a:solidFill>
                <a:latin typeface="Times New Roman"/>
                <a:ea typeface="Times New Roman"/>
                <a:cs typeface="Times New Roman"/>
                <a:sym typeface="Times New Roman"/>
              </a:rPr>
            </a:br>
            <a:r>
              <a:rPr lang="en-US" sz="2999" dirty="0">
                <a:solidFill>
                  <a:srgbClr val="000000"/>
                </a:solidFill>
                <a:latin typeface="Times New Roman"/>
                <a:ea typeface="Times New Roman"/>
                <a:cs typeface="Times New Roman"/>
                <a:sym typeface="Times New Roman"/>
              </a:rPr>
              <a:t>Authors:</a:t>
            </a:r>
            <a:r>
              <a:rPr lang="fi-FI" sz="2999" dirty="0">
                <a:solidFill>
                  <a:srgbClr val="000000"/>
                </a:solidFill>
                <a:latin typeface="Times New Roman"/>
                <a:ea typeface="Times New Roman"/>
                <a:cs typeface="Times New Roman"/>
                <a:sym typeface="Times New Roman"/>
              </a:rPr>
              <a:t>D. Cenitta, G. K. Shwetha, K. P. Vyshali Rao, Srividya Ramisetty,</a:t>
            </a:r>
            <a:r>
              <a:rPr lang="es-ES" sz="2999" dirty="0">
                <a:solidFill>
                  <a:srgbClr val="000000"/>
                </a:solidFill>
                <a:latin typeface="Times New Roman"/>
                <a:ea typeface="Times New Roman"/>
                <a:cs typeface="Times New Roman"/>
                <a:sym typeface="Times New Roman"/>
              </a:rPr>
              <a:t> N. </a:t>
            </a:r>
            <a:r>
              <a:rPr lang="es-ES" sz="2999" dirty="0" err="1">
                <a:solidFill>
                  <a:srgbClr val="000000"/>
                </a:solidFill>
                <a:latin typeface="Times New Roman"/>
                <a:ea typeface="Times New Roman"/>
                <a:cs typeface="Times New Roman"/>
                <a:sym typeface="Times New Roman"/>
              </a:rPr>
              <a:t>Arul</a:t>
            </a:r>
            <a:r>
              <a:rPr lang="es-ES" sz="2999" dirty="0">
                <a:solidFill>
                  <a:srgbClr val="000000"/>
                </a:solidFill>
                <a:latin typeface="Times New Roman"/>
                <a:ea typeface="Times New Roman"/>
                <a:cs typeface="Times New Roman"/>
                <a:sym typeface="Times New Roman"/>
              </a:rPr>
              <a:t>, R. </a:t>
            </a:r>
            <a:r>
              <a:rPr lang="es-ES" sz="2999" dirty="0" err="1">
                <a:solidFill>
                  <a:srgbClr val="000000"/>
                </a:solidFill>
                <a:latin typeface="Times New Roman"/>
                <a:ea typeface="Times New Roman"/>
                <a:cs typeface="Times New Roman"/>
                <a:sym typeface="Times New Roman"/>
              </a:rPr>
              <a:t>Vijaya</a:t>
            </a:r>
            <a:r>
              <a:rPr lang="es-ES" sz="2999" dirty="0">
                <a:solidFill>
                  <a:srgbClr val="000000"/>
                </a:solidFill>
                <a:latin typeface="Times New Roman"/>
                <a:ea typeface="Times New Roman"/>
                <a:cs typeface="Times New Roman"/>
                <a:sym typeface="Times New Roman"/>
              </a:rPr>
              <a:t> </a:t>
            </a:r>
            <a:r>
              <a:rPr lang="es-ES" sz="2999" dirty="0" err="1">
                <a:solidFill>
                  <a:srgbClr val="000000"/>
                </a:solidFill>
                <a:latin typeface="Times New Roman"/>
                <a:ea typeface="Times New Roman"/>
                <a:cs typeface="Times New Roman"/>
                <a:sym typeface="Times New Roman"/>
              </a:rPr>
              <a:t>Arjunan</a:t>
            </a:r>
            <a:endParaRPr lang="es-ES" sz="2999" dirty="0">
              <a:solidFill>
                <a:srgbClr val="000000"/>
              </a:solidFill>
              <a:latin typeface="Times New Roman"/>
              <a:ea typeface="Times New Roman"/>
              <a:cs typeface="Times New Roman"/>
              <a:sym typeface="Times New Roman"/>
            </a:endParaRPr>
          </a:p>
          <a:p>
            <a:pPr algn="ctr">
              <a:lnSpc>
                <a:spcPts val="3599"/>
              </a:lnSpc>
            </a:pPr>
            <a:r>
              <a:rPr lang="fi-FI" sz="2999" dirty="0">
                <a:solidFill>
                  <a:srgbClr val="000000"/>
                </a:solidFill>
                <a:latin typeface="Times New Roman"/>
                <a:ea typeface="Times New Roman"/>
                <a:cs typeface="Times New Roman"/>
                <a:sym typeface="Times New Roman"/>
              </a:rPr>
              <a:t>Publication: IEEE Access, Volume 13, 2025</a:t>
            </a:r>
          </a:p>
          <a:p>
            <a:pPr algn="ctr">
              <a:lnSpc>
                <a:spcPts val="3599"/>
              </a:lnSpc>
            </a:pPr>
            <a:r>
              <a:rPr lang="fi-FI" sz="2999" dirty="0">
                <a:solidFill>
                  <a:srgbClr val="000000"/>
                </a:solidFill>
                <a:latin typeface="Times New Roman"/>
                <a:ea typeface="Times New Roman"/>
                <a:cs typeface="Times New Roman"/>
                <a:sym typeface="Times New Roman"/>
                <a:hlinkClick r:id="rId3" action="ppaction://hlinkfile"/>
              </a:rPr>
              <a:t>https://ieeexplore.ieee.org/document/11181063</a:t>
            </a:r>
            <a:endParaRPr lang="fi-FI" sz="2999" dirty="0">
              <a:solidFill>
                <a:srgbClr val="000000"/>
              </a:solidFill>
              <a:latin typeface="Times New Roman"/>
              <a:ea typeface="Times New Roman"/>
              <a:cs typeface="Times New Roman"/>
              <a:sym typeface="Times New Roman"/>
            </a:endParaRPr>
          </a:p>
        </p:txBody>
      </p:sp>
      <p:grpSp>
        <p:nvGrpSpPr>
          <p:cNvPr id="8" name="Group 8"/>
          <p:cNvGrpSpPr/>
          <p:nvPr/>
        </p:nvGrpSpPr>
        <p:grpSpPr>
          <a:xfrm>
            <a:off x="392782" y="9324975"/>
            <a:ext cx="578768" cy="578768"/>
            <a:chOff x="0" y="0"/>
            <a:chExt cx="152433" cy="152433"/>
          </a:xfrm>
        </p:grpSpPr>
        <p:sp>
          <p:nvSpPr>
            <p:cNvPr id="9" name="Freeform 9"/>
            <p:cNvSpPr/>
            <p:nvPr/>
          </p:nvSpPr>
          <p:spPr>
            <a:xfrm>
              <a:off x="0" y="0"/>
              <a:ext cx="152433" cy="152433"/>
            </a:xfrm>
            <a:custGeom>
              <a:avLst/>
              <a:gdLst/>
              <a:ahLst/>
              <a:cxnLst/>
              <a:rect l="l" t="t" r="r" b="b"/>
              <a:pathLst>
                <a:path w="152433" h="152433">
                  <a:moveTo>
                    <a:pt x="0" y="0"/>
                  </a:moveTo>
                  <a:lnTo>
                    <a:pt x="152433" y="0"/>
                  </a:lnTo>
                  <a:lnTo>
                    <a:pt x="152433" y="152433"/>
                  </a:lnTo>
                  <a:lnTo>
                    <a:pt x="0" y="152433"/>
                  </a:lnTo>
                  <a:close/>
                </a:path>
              </a:pathLst>
            </a:custGeom>
            <a:solidFill>
              <a:srgbClr val="FF4500"/>
            </a:solidFill>
          </p:spPr>
        </p:sp>
        <p:sp>
          <p:nvSpPr>
            <p:cNvPr id="10" name="TextBox 10"/>
            <p:cNvSpPr txBox="1"/>
            <p:nvPr/>
          </p:nvSpPr>
          <p:spPr>
            <a:xfrm>
              <a:off x="0" y="-47625"/>
              <a:ext cx="152433" cy="200058"/>
            </a:xfrm>
            <a:prstGeom prst="rect">
              <a:avLst/>
            </a:prstGeom>
          </p:spPr>
          <p:txBody>
            <a:bodyPr lIns="50800" tIns="50800" rIns="50800" bIns="50800" rtlCol="0" anchor="ctr"/>
            <a:lstStyle/>
            <a:p>
              <a:pPr algn="ctr">
                <a:lnSpc>
                  <a:spcPts val="3499"/>
                </a:lnSpc>
              </a:pPr>
              <a:r>
                <a:rPr lang="en-US" sz="2499">
                  <a:solidFill>
                    <a:srgbClr val="FFFFFF"/>
                  </a:solidFill>
                  <a:latin typeface="Canva Sans"/>
                  <a:ea typeface="Canva Sans"/>
                  <a:cs typeface="Canva Sans"/>
                  <a:sym typeface="Canva Sans"/>
                </a:rPr>
                <a:t>6</a:t>
              </a:r>
            </a:p>
          </p:txBody>
        </p:sp>
      </p:grpSp>
      <p:grpSp>
        <p:nvGrpSpPr>
          <p:cNvPr id="11" name="Group 11"/>
          <p:cNvGrpSpPr/>
          <p:nvPr/>
        </p:nvGrpSpPr>
        <p:grpSpPr>
          <a:xfrm>
            <a:off x="392782" y="196828"/>
            <a:ext cx="13970595" cy="1285882"/>
            <a:chOff x="0" y="0"/>
            <a:chExt cx="18627460" cy="1714510"/>
          </a:xfrm>
        </p:grpSpPr>
        <p:sp>
          <p:nvSpPr>
            <p:cNvPr id="12" name="Freeform 12"/>
            <p:cNvSpPr/>
            <p:nvPr/>
          </p:nvSpPr>
          <p:spPr>
            <a:xfrm>
              <a:off x="0" y="0"/>
              <a:ext cx="18627460" cy="1714510"/>
            </a:xfrm>
            <a:custGeom>
              <a:avLst/>
              <a:gdLst/>
              <a:ahLst/>
              <a:cxnLst/>
              <a:rect l="l" t="t" r="r" b="b"/>
              <a:pathLst>
                <a:path w="18627460" h="1714510">
                  <a:moveTo>
                    <a:pt x="0" y="0"/>
                  </a:moveTo>
                  <a:lnTo>
                    <a:pt x="18627460" y="0"/>
                  </a:lnTo>
                  <a:lnTo>
                    <a:pt x="18627460" y="1714510"/>
                  </a:lnTo>
                  <a:lnTo>
                    <a:pt x="0" y="1714510"/>
                  </a:lnTo>
                  <a:close/>
                </a:path>
              </a:pathLst>
            </a:custGeom>
            <a:solidFill>
              <a:srgbClr val="000000">
                <a:alpha val="0"/>
              </a:srgbClr>
            </a:solidFill>
          </p:spPr>
        </p:sp>
        <p:sp>
          <p:nvSpPr>
            <p:cNvPr id="13" name="TextBox 13"/>
            <p:cNvSpPr txBox="1"/>
            <p:nvPr/>
          </p:nvSpPr>
          <p:spPr>
            <a:xfrm>
              <a:off x="0" y="-123825"/>
              <a:ext cx="18627460" cy="1838335"/>
            </a:xfrm>
            <a:prstGeom prst="rect">
              <a:avLst/>
            </a:prstGeom>
          </p:spPr>
          <p:txBody>
            <a:bodyPr lIns="0" tIns="0" rIns="0" bIns="0" rtlCol="0" anchor="b"/>
            <a:lstStyle/>
            <a:p>
              <a:pPr algn="l">
                <a:lnSpc>
                  <a:spcPts val="7200"/>
                </a:lnSpc>
              </a:pPr>
              <a:r>
                <a:rPr lang="en-US" sz="6000" b="1">
                  <a:solidFill>
                    <a:srgbClr val="001D58"/>
                  </a:solidFill>
                  <a:latin typeface="Times New Roman Bold"/>
                  <a:ea typeface="Times New Roman Bold"/>
                  <a:cs typeface="Times New Roman Bold"/>
                  <a:sym typeface="Times New Roman Bold"/>
                </a:rPr>
                <a:t>BASE PAPER</a:t>
              </a:r>
            </a:p>
          </p:txBody>
        </p:sp>
      </p:grpSp>
      <p:sp>
        <p:nvSpPr>
          <p:cNvPr id="14" name="Freeform 14"/>
          <p:cNvSpPr/>
          <p:nvPr/>
        </p:nvSpPr>
        <p:spPr>
          <a:xfrm>
            <a:off x="13976138" y="404027"/>
            <a:ext cx="3922888" cy="880198"/>
          </a:xfrm>
          <a:custGeom>
            <a:avLst/>
            <a:gdLst/>
            <a:ahLst/>
            <a:cxnLst/>
            <a:rect l="l" t="t" r="r" b="b"/>
            <a:pathLst>
              <a:path w="3922888" h="880198">
                <a:moveTo>
                  <a:pt x="0" y="0"/>
                </a:moveTo>
                <a:lnTo>
                  <a:pt x="3922888" y="0"/>
                </a:lnTo>
                <a:lnTo>
                  <a:pt x="3922888" y="880199"/>
                </a:lnTo>
                <a:lnTo>
                  <a:pt x="0" y="880199"/>
                </a:lnTo>
                <a:lnTo>
                  <a:pt x="0" y="0"/>
                </a:lnTo>
                <a:close/>
              </a:path>
            </a:pathLst>
          </a:custGeom>
          <a:blipFill>
            <a:blip r:embed="rId4"/>
            <a:stretch>
              <a:fillRect/>
            </a:stretch>
          </a:blipFill>
        </p:spPr>
      </p:sp>
      <p:sp>
        <p:nvSpPr>
          <p:cNvPr id="15" name="TextBox 15"/>
          <p:cNvSpPr txBox="1"/>
          <p:nvPr/>
        </p:nvSpPr>
        <p:spPr>
          <a:xfrm>
            <a:off x="15490814" y="9030873"/>
            <a:ext cx="1853882" cy="528991"/>
          </a:xfrm>
          <a:prstGeom prst="rect">
            <a:avLst/>
          </a:prstGeom>
        </p:spPr>
        <p:txBody>
          <a:bodyPr lIns="0" tIns="0" rIns="0" bIns="0" rtlCol="0" anchor="t">
            <a:spAutoFit/>
          </a:bodyPr>
          <a:lstStyle/>
          <a:p>
            <a:pPr algn="ctr">
              <a:lnSpc>
                <a:spcPts val="4480"/>
              </a:lnSpc>
            </a:pPr>
            <a:r>
              <a:rPr lang="en-US" sz="3200" dirty="0">
                <a:solidFill>
                  <a:srgbClr val="000000"/>
                </a:solidFill>
                <a:latin typeface="Times New Roman"/>
                <a:ea typeface="Times New Roman"/>
                <a:cs typeface="Times New Roman"/>
                <a:sym typeface="Times New Roman"/>
              </a:rPr>
              <a:t>16/02/2026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grpSp>
        <p:nvGrpSpPr>
          <p:cNvPr id="4" name="Group 4"/>
          <p:cNvGrpSpPr/>
          <p:nvPr/>
        </p:nvGrpSpPr>
        <p:grpSpPr>
          <a:xfrm>
            <a:off x="161077" y="196828"/>
            <a:ext cx="17959134" cy="9910974"/>
            <a:chOff x="0" y="0"/>
            <a:chExt cx="4729978" cy="2610298"/>
          </a:xfrm>
        </p:grpSpPr>
        <p:sp>
          <p:nvSpPr>
            <p:cNvPr id="5" name="Freeform 5"/>
            <p:cNvSpPr/>
            <p:nvPr/>
          </p:nvSpPr>
          <p:spPr>
            <a:xfrm>
              <a:off x="0" y="0"/>
              <a:ext cx="4729978" cy="2610298"/>
            </a:xfrm>
            <a:custGeom>
              <a:avLst/>
              <a:gdLst/>
              <a:ahLst/>
              <a:cxnLst/>
              <a:rect l="l" t="t" r="r" b="b"/>
              <a:pathLst>
                <a:path w="4729978" h="2610298">
                  <a:moveTo>
                    <a:pt x="0" y="0"/>
                  </a:moveTo>
                  <a:lnTo>
                    <a:pt x="4729978" y="0"/>
                  </a:lnTo>
                  <a:lnTo>
                    <a:pt x="4729978" y="2610298"/>
                  </a:lnTo>
                  <a:lnTo>
                    <a:pt x="0" y="2610298"/>
                  </a:lnTo>
                  <a:close/>
                </a:path>
              </a:pathLst>
            </a:custGeom>
            <a:solidFill>
              <a:srgbClr val="000000">
                <a:alpha val="0"/>
              </a:srgbClr>
            </a:solidFill>
            <a:ln w="28575" cap="sq">
              <a:solidFill>
                <a:srgbClr val="000000"/>
              </a:solidFill>
              <a:prstDash val="solid"/>
              <a:miter/>
            </a:ln>
          </p:spPr>
        </p:sp>
        <p:sp>
          <p:nvSpPr>
            <p:cNvPr id="6" name="TextBox 6"/>
            <p:cNvSpPr txBox="1"/>
            <p:nvPr/>
          </p:nvSpPr>
          <p:spPr>
            <a:xfrm>
              <a:off x="0" y="-38100"/>
              <a:ext cx="4729978" cy="2648398"/>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392782" y="9324975"/>
            <a:ext cx="578768" cy="578768"/>
            <a:chOff x="0" y="0"/>
            <a:chExt cx="152433" cy="152433"/>
          </a:xfrm>
        </p:grpSpPr>
        <p:sp>
          <p:nvSpPr>
            <p:cNvPr id="8" name="Freeform 8"/>
            <p:cNvSpPr/>
            <p:nvPr/>
          </p:nvSpPr>
          <p:spPr>
            <a:xfrm>
              <a:off x="0" y="0"/>
              <a:ext cx="152433" cy="152433"/>
            </a:xfrm>
            <a:custGeom>
              <a:avLst/>
              <a:gdLst/>
              <a:ahLst/>
              <a:cxnLst/>
              <a:rect l="l" t="t" r="r" b="b"/>
              <a:pathLst>
                <a:path w="152433" h="152433">
                  <a:moveTo>
                    <a:pt x="0" y="0"/>
                  </a:moveTo>
                  <a:lnTo>
                    <a:pt x="152433" y="0"/>
                  </a:lnTo>
                  <a:lnTo>
                    <a:pt x="152433" y="152433"/>
                  </a:lnTo>
                  <a:lnTo>
                    <a:pt x="0" y="152433"/>
                  </a:lnTo>
                  <a:close/>
                </a:path>
              </a:pathLst>
            </a:custGeom>
            <a:solidFill>
              <a:srgbClr val="FF4500"/>
            </a:solidFill>
          </p:spPr>
        </p:sp>
        <p:sp>
          <p:nvSpPr>
            <p:cNvPr id="9" name="TextBox 9"/>
            <p:cNvSpPr txBox="1"/>
            <p:nvPr/>
          </p:nvSpPr>
          <p:spPr>
            <a:xfrm>
              <a:off x="0" y="-47625"/>
              <a:ext cx="152433" cy="200058"/>
            </a:xfrm>
            <a:prstGeom prst="rect">
              <a:avLst/>
            </a:prstGeom>
          </p:spPr>
          <p:txBody>
            <a:bodyPr lIns="50800" tIns="50800" rIns="50800" bIns="50800" rtlCol="0" anchor="ctr"/>
            <a:lstStyle/>
            <a:p>
              <a:pPr algn="ctr">
                <a:lnSpc>
                  <a:spcPts val="3499"/>
                </a:lnSpc>
              </a:pPr>
              <a:r>
                <a:rPr lang="en-US" sz="2499">
                  <a:solidFill>
                    <a:srgbClr val="FFFFFF"/>
                  </a:solidFill>
                  <a:latin typeface="Canva Sans"/>
                  <a:ea typeface="Canva Sans"/>
                  <a:cs typeface="Canva Sans"/>
                  <a:sym typeface="Canva Sans"/>
                </a:rPr>
                <a:t>7</a:t>
              </a:r>
            </a:p>
          </p:txBody>
        </p:sp>
      </p:grpSp>
      <p:sp>
        <p:nvSpPr>
          <p:cNvPr id="10" name="TextBox 10"/>
          <p:cNvSpPr txBox="1"/>
          <p:nvPr/>
        </p:nvSpPr>
        <p:spPr>
          <a:xfrm>
            <a:off x="392782" y="1713790"/>
            <a:ext cx="16866518" cy="4504823"/>
          </a:xfrm>
          <a:prstGeom prst="rect">
            <a:avLst/>
          </a:prstGeom>
        </p:spPr>
        <p:txBody>
          <a:bodyPr lIns="0" tIns="0" rIns="0" bIns="0" rtlCol="0" anchor="t">
            <a:spAutoFit/>
          </a:bodyPr>
          <a:lstStyle/>
          <a:p>
            <a:pPr marL="647698" lvl="1" indent="-323849" algn="just">
              <a:lnSpc>
                <a:spcPts val="5099"/>
              </a:lnSpc>
              <a:buFont typeface="Arial"/>
              <a:buChar char="•"/>
            </a:pPr>
            <a:r>
              <a:rPr lang="en-US" sz="2999" dirty="0">
                <a:solidFill>
                  <a:srgbClr val="000000"/>
                </a:solidFill>
                <a:latin typeface="Times New Roman"/>
                <a:ea typeface="Times New Roman"/>
                <a:cs typeface="Times New Roman"/>
                <a:sym typeface="Times New Roman"/>
              </a:rPr>
              <a:t>Remote ECG monitoring generates massive patient data requiring cloud processing, but storing sensitive cardiac signals in untrusted cloud environments violates privacy regulations (HIPAA, GDPR) and exposes patients to data breaches. Existing solutions either provide privacy through encryption OR explainability through XAI, but never both simultaneously. </a:t>
            </a:r>
            <a:r>
              <a:rPr lang="en-US" sz="2999" b="1" dirty="0">
                <a:solidFill>
                  <a:srgbClr val="000000"/>
                </a:solidFill>
                <a:latin typeface="Times New Roman"/>
                <a:ea typeface="Times New Roman"/>
                <a:cs typeface="Times New Roman"/>
                <a:sym typeface="Times New Roman"/>
              </a:rPr>
              <a:t>This work bridges this gap by integrating CKKS homomorphic encryption with SHAP-based explanations</a:t>
            </a:r>
            <a:r>
              <a:rPr lang="en-US" sz="2999" dirty="0">
                <a:solidFill>
                  <a:srgbClr val="000000"/>
                </a:solidFill>
                <a:latin typeface="Times New Roman"/>
                <a:ea typeface="Times New Roman"/>
                <a:cs typeface="Times New Roman"/>
                <a:sym typeface="Times New Roman"/>
              </a:rPr>
              <a:t>, enabling cardiologists to diagnose heart disease from encrypted ECG data while understanding AI decisions through clinically meaningful feature attributions.</a:t>
            </a:r>
          </a:p>
        </p:txBody>
      </p:sp>
      <p:grpSp>
        <p:nvGrpSpPr>
          <p:cNvPr id="11" name="Group 11"/>
          <p:cNvGrpSpPr/>
          <p:nvPr/>
        </p:nvGrpSpPr>
        <p:grpSpPr>
          <a:xfrm>
            <a:off x="392782" y="196828"/>
            <a:ext cx="13970595" cy="1285882"/>
            <a:chOff x="0" y="0"/>
            <a:chExt cx="18627460" cy="1714510"/>
          </a:xfrm>
        </p:grpSpPr>
        <p:sp>
          <p:nvSpPr>
            <p:cNvPr id="12" name="Freeform 12"/>
            <p:cNvSpPr/>
            <p:nvPr/>
          </p:nvSpPr>
          <p:spPr>
            <a:xfrm>
              <a:off x="0" y="0"/>
              <a:ext cx="18627460" cy="1714510"/>
            </a:xfrm>
            <a:custGeom>
              <a:avLst/>
              <a:gdLst/>
              <a:ahLst/>
              <a:cxnLst/>
              <a:rect l="l" t="t" r="r" b="b"/>
              <a:pathLst>
                <a:path w="18627460" h="1714510">
                  <a:moveTo>
                    <a:pt x="0" y="0"/>
                  </a:moveTo>
                  <a:lnTo>
                    <a:pt x="18627460" y="0"/>
                  </a:lnTo>
                  <a:lnTo>
                    <a:pt x="18627460" y="1714510"/>
                  </a:lnTo>
                  <a:lnTo>
                    <a:pt x="0" y="1714510"/>
                  </a:lnTo>
                  <a:close/>
                </a:path>
              </a:pathLst>
            </a:custGeom>
            <a:solidFill>
              <a:srgbClr val="000000">
                <a:alpha val="0"/>
              </a:srgbClr>
            </a:solidFill>
          </p:spPr>
        </p:sp>
        <p:sp>
          <p:nvSpPr>
            <p:cNvPr id="13" name="TextBox 13"/>
            <p:cNvSpPr txBox="1"/>
            <p:nvPr/>
          </p:nvSpPr>
          <p:spPr>
            <a:xfrm>
              <a:off x="0" y="-123825"/>
              <a:ext cx="18627460" cy="1838335"/>
            </a:xfrm>
            <a:prstGeom prst="rect">
              <a:avLst/>
            </a:prstGeom>
          </p:spPr>
          <p:txBody>
            <a:bodyPr lIns="0" tIns="0" rIns="0" bIns="0" rtlCol="0" anchor="b"/>
            <a:lstStyle/>
            <a:p>
              <a:pPr algn="l">
                <a:lnSpc>
                  <a:spcPts val="7200"/>
                </a:lnSpc>
              </a:pPr>
              <a:r>
                <a:rPr lang="en-US" sz="6000" b="1">
                  <a:solidFill>
                    <a:srgbClr val="001D58"/>
                  </a:solidFill>
                  <a:latin typeface="Times New Roman Bold"/>
                  <a:ea typeface="Times New Roman Bold"/>
                  <a:cs typeface="Times New Roman Bold"/>
                  <a:sym typeface="Times New Roman Bold"/>
                </a:rPr>
                <a:t>PROBLEM STATEMENT</a:t>
              </a:r>
            </a:p>
          </p:txBody>
        </p:sp>
      </p:grpSp>
      <p:sp>
        <p:nvSpPr>
          <p:cNvPr id="14" name="Freeform 14"/>
          <p:cNvSpPr/>
          <p:nvPr/>
        </p:nvSpPr>
        <p:spPr>
          <a:xfrm>
            <a:off x="13976138" y="404027"/>
            <a:ext cx="3922888" cy="880198"/>
          </a:xfrm>
          <a:custGeom>
            <a:avLst/>
            <a:gdLst/>
            <a:ahLst/>
            <a:cxnLst/>
            <a:rect l="l" t="t" r="r" b="b"/>
            <a:pathLst>
              <a:path w="3922888" h="880198">
                <a:moveTo>
                  <a:pt x="0" y="0"/>
                </a:moveTo>
                <a:lnTo>
                  <a:pt x="3922888" y="0"/>
                </a:lnTo>
                <a:lnTo>
                  <a:pt x="3922888" y="880199"/>
                </a:lnTo>
                <a:lnTo>
                  <a:pt x="0" y="880199"/>
                </a:lnTo>
                <a:lnTo>
                  <a:pt x="0" y="0"/>
                </a:lnTo>
                <a:close/>
              </a:path>
            </a:pathLst>
          </a:custGeom>
          <a:blipFill>
            <a:blip r:embed="rId2"/>
            <a:stretch>
              <a:fillRect/>
            </a:stretch>
          </a:blipFill>
        </p:spPr>
      </p:sp>
      <p:sp>
        <p:nvSpPr>
          <p:cNvPr id="15" name="TextBox 15"/>
          <p:cNvSpPr txBox="1"/>
          <p:nvPr/>
        </p:nvSpPr>
        <p:spPr>
          <a:xfrm>
            <a:off x="15490814" y="9030873"/>
            <a:ext cx="1853882" cy="528991"/>
          </a:xfrm>
          <a:prstGeom prst="rect">
            <a:avLst/>
          </a:prstGeom>
        </p:spPr>
        <p:txBody>
          <a:bodyPr lIns="0" tIns="0" rIns="0" bIns="0" rtlCol="0" anchor="t">
            <a:spAutoFit/>
          </a:bodyPr>
          <a:lstStyle/>
          <a:p>
            <a:pPr algn="ctr">
              <a:lnSpc>
                <a:spcPts val="4480"/>
              </a:lnSpc>
            </a:pPr>
            <a:r>
              <a:rPr lang="en-US" sz="3200" dirty="0">
                <a:solidFill>
                  <a:srgbClr val="000000"/>
                </a:solidFill>
                <a:latin typeface="Times New Roman"/>
                <a:ea typeface="Times New Roman"/>
                <a:cs typeface="Times New Roman"/>
                <a:sym typeface="Times New Roman"/>
              </a:rPr>
              <a:t>16/02/2026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BC6BD-810D-4B9B-CD80-DEDAFE888FC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E7F5E9D-C44C-454C-6CCB-78B97B4551CB}"/>
              </a:ext>
            </a:extLst>
          </p:cNvPr>
          <p:cNvGrpSpPr/>
          <p:nvPr/>
        </p:nvGrpSpPr>
        <p:grpSpPr>
          <a:xfrm>
            <a:off x="0" y="527895"/>
            <a:ext cx="18288000" cy="10287000"/>
            <a:chOff x="0" y="0"/>
            <a:chExt cx="24384000" cy="13716000"/>
          </a:xfrm>
        </p:grpSpPr>
        <p:sp>
          <p:nvSpPr>
            <p:cNvPr id="3" name="Freeform 3">
              <a:extLst>
                <a:ext uri="{FF2B5EF4-FFF2-40B4-BE49-F238E27FC236}">
                  <a16:creationId xmlns:a16="http://schemas.microsoft.com/office/drawing/2014/main" id="{50E1C3DE-62FF-303B-2BB8-449DBC035CEA}"/>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grpSp>
        <p:nvGrpSpPr>
          <p:cNvPr id="4" name="Group 4">
            <a:extLst>
              <a:ext uri="{FF2B5EF4-FFF2-40B4-BE49-F238E27FC236}">
                <a16:creationId xmlns:a16="http://schemas.microsoft.com/office/drawing/2014/main" id="{D57B9FA1-B3BA-4550-9375-75876BA2125F}"/>
              </a:ext>
            </a:extLst>
          </p:cNvPr>
          <p:cNvGrpSpPr/>
          <p:nvPr/>
        </p:nvGrpSpPr>
        <p:grpSpPr>
          <a:xfrm>
            <a:off x="161077" y="196828"/>
            <a:ext cx="17959134" cy="9910974"/>
            <a:chOff x="0" y="0"/>
            <a:chExt cx="4729978" cy="2610298"/>
          </a:xfrm>
        </p:grpSpPr>
        <p:sp>
          <p:nvSpPr>
            <p:cNvPr id="5" name="Freeform 5">
              <a:extLst>
                <a:ext uri="{FF2B5EF4-FFF2-40B4-BE49-F238E27FC236}">
                  <a16:creationId xmlns:a16="http://schemas.microsoft.com/office/drawing/2014/main" id="{2E21B823-3A7D-AF9C-3D57-477E7B9551CB}"/>
                </a:ext>
              </a:extLst>
            </p:cNvPr>
            <p:cNvSpPr/>
            <p:nvPr/>
          </p:nvSpPr>
          <p:spPr>
            <a:xfrm>
              <a:off x="0" y="0"/>
              <a:ext cx="4729978" cy="2610298"/>
            </a:xfrm>
            <a:custGeom>
              <a:avLst/>
              <a:gdLst/>
              <a:ahLst/>
              <a:cxnLst/>
              <a:rect l="l" t="t" r="r" b="b"/>
              <a:pathLst>
                <a:path w="4729978" h="2610298">
                  <a:moveTo>
                    <a:pt x="0" y="0"/>
                  </a:moveTo>
                  <a:lnTo>
                    <a:pt x="4729978" y="0"/>
                  </a:lnTo>
                  <a:lnTo>
                    <a:pt x="4729978" y="2610298"/>
                  </a:lnTo>
                  <a:lnTo>
                    <a:pt x="0" y="2610298"/>
                  </a:lnTo>
                  <a:close/>
                </a:path>
              </a:pathLst>
            </a:custGeom>
            <a:solidFill>
              <a:srgbClr val="000000">
                <a:alpha val="0"/>
              </a:srgbClr>
            </a:solidFill>
            <a:ln w="28575" cap="sq">
              <a:solidFill>
                <a:srgbClr val="000000"/>
              </a:solidFill>
              <a:prstDash val="solid"/>
              <a:miter/>
            </a:ln>
          </p:spPr>
          <p:txBody>
            <a:bodyPr/>
            <a:lstStyle/>
            <a:p>
              <a:endParaRPr lang="en-IN" dirty="0"/>
            </a:p>
          </p:txBody>
        </p:sp>
        <p:sp>
          <p:nvSpPr>
            <p:cNvPr id="6" name="TextBox 6">
              <a:extLst>
                <a:ext uri="{FF2B5EF4-FFF2-40B4-BE49-F238E27FC236}">
                  <a16:creationId xmlns:a16="http://schemas.microsoft.com/office/drawing/2014/main" id="{7B02E197-ACFE-CAD3-334C-22C741CF21BB}"/>
                </a:ext>
              </a:extLst>
            </p:cNvPr>
            <p:cNvSpPr txBox="1"/>
            <p:nvPr/>
          </p:nvSpPr>
          <p:spPr>
            <a:xfrm>
              <a:off x="0" y="-38100"/>
              <a:ext cx="4729978" cy="2648398"/>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8406155C-F321-0F9A-69AE-2B5871D9906C}"/>
              </a:ext>
            </a:extLst>
          </p:cNvPr>
          <p:cNvGrpSpPr/>
          <p:nvPr/>
        </p:nvGrpSpPr>
        <p:grpSpPr>
          <a:xfrm>
            <a:off x="392782" y="9324975"/>
            <a:ext cx="578768" cy="578768"/>
            <a:chOff x="0" y="0"/>
            <a:chExt cx="152433" cy="152433"/>
          </a:xfrm>
        </p:grpSpPr>
        <p:sp>
          <p:nvSpPr>
            <p:cNvPr id="9" name="Freeform 9">
              <a:extLst>
                <a:ext uri="{FF2B5EF4-FFF2-40B4-BE49-F238E27FC236}">
                  <a16:creationId xmlns:a16="http://schemas.microsoft.com/office/drawing/2014/main" id="{18D6165E-0DFE-A373-FC4B-E79CF10FAFC6}"/>
                </a:ext>
              </a:extLst>
            </p:cNvPr>
            <p:cNvSpPr/>
            <p:nvPr/>
          </p:nvSpPr>
          <p:spPr>
            <a:xfrm>
              <a:off x="0" y="0"/>
              <a:ext cx="152433" cy="152433"/>
            </a:xfrm>
            <a:custGeom>
              <a:avLst/>
              <a:gdLst/>
              <a:ahLst/>
              <a:cxnLst/>
              <a:rect l="l" t="t" r="r" b="b"/>
              <a:pathLst>
                <a:path w="152433" h="152433">
                  <a:moveTo>
                    <a:pt x="0" y="0"/>
                  </a:moveTo>
                  <a:lnTo>
                    <a:pt x="152433" y="0"/>
                  </a:lnTo>
                  <a:lnTo>
                    <a:pt x="152433" y="152433"/>
                  </a:lnTo>
                  <a:lnTo>
                    <a:pt x="0" y="152433"/>
                  </a:lnTo>
                  <a:close/>
                </a:path>
              </a:pathLst>
            </a:custGeom>
            <a:solidFill>
              <a:srgbClr val="FF4500"/>
            </a:solidFill>
          </p:spPr>
        </p:sp>
        <p:sp>
          <p:nvSpPr>
            <p:cNvPr id="10" name="TextBox 10">
              <a:extLst>
                <a:ext uri="{FF2B5EF4-FFF2-40B4-BE49-F238E27FC236}">
                  <a16:creationId xmlns:a16="http://schemas.microsoft.com/office/drawing/2014/main" id="{8DD37470-A4E0-4A91-25C7-384BDBC7FECD}"/>
                </a:ext>
              </a:extLst>
            </p:cNvPr>
            <p:cNvSpPr txBox="1"/>
            <p:nvPr/>
          </p:nvSpPr>
          <p:spPr>
            <a:xfrm>
              <a:off x="0" y="-47625"/>
              <a:ext cx="152433" cy="200058"/>
            </a:xfrm>
            <a:prstGeom prst="rect">
              <a:avLst/>
            </a:prstGeom>
          </p:spPr>
          <p:txBody>
            <a:bodyPr lIns="50800" tIns="50800" rIns="50800" bIns="50800" rtlCol="0" anchor="ctr"/>
            <a:lstStyle/>
            <a:p>
              <a:pPr algn="ctr">
                <a:lnSpc>
                  <a:spcPts val="3499"/>
                </a:lnSpc>
              </a:pPr>
              <a:r>
                <a:rPr lang="en-US" sz="2499">
                  <a:solidFill>
                    <a:srgbClr val="FFFFFF"/>
                  </a:solidFill>
                  <a:latin typeface="Canva Sans"/>
                  <a:ea typeface="Canva Sans"/>
                  <a:cs typeface="Canva Sans"/>
                  <a:sym typeface="Canva Sans"/>
                </a:rPr>
                <a:t>8</a:t>
              </a:r>
            </a:p>
          </p:txBody>
        </p:sp>
      </p:grpSp>
      <p:grpSp>
        <p:nvGrpSpPr>
          <p:cNvPr id="11" name="Group 11">
            <a:extLst>
              <a:ext uri="{FF2B5EF4-FFF2-40B4-BE49-F238E27FC236}">
                <a16:creationId xmlns:a16="http://schemas.microsoft.com/office/drawing/2014/main" id="{FCA5EAD2-A6B7-CA9B-A795-7A993B6C20AD}"/>
              </a:ext>
            </a:extLst>
          </p:cNvPr>
          <p:cNvGrpSpPr/>
          <p:nvPr/>
        </p:nvGrpSpPr>
        <p:grpSpPr>
          <a:xfrm>
            <a:off x="609600" y="1360230"/>
            <a:ext cx="14043161" cy="315544"/>
            <a:chOff x="385845" y="1176813"/>
            <a:chExt cx="18627460" cy="1293756"/>
          </a:xfrm>
        </p:grpSpPr>
        <p:sp>
          <p:nvSpPr>
            <p:cNvPr id="12" name="Freeform 12">
              <a:extLst>
                <a:ext uri="{FF2B5EF4-FFF2-40B4-BE49-F238E27FC236}">
                  <a16:creationId xmlns:a16="http://schemas.microsoft.com/office/drawing/2014/main" id="{7796E78B-49F3-2E64-B40B-889838D7580F}"/>
                </a:ext>
              </a:extLst>
            </p:cNvPr>
            <p:cNvSpPr/>
            <p:nvPr/>
          </p:nvSpPr>
          <p:spPr>
            <a:xfrm>
              <a:off x="385845" y="1698878"/>
              <a:ext cx="18627460" cy="771691"/>
            </a:xfrm>
            <a:custGeom>
              <a:avLst/>
              <a:gdLst/>
              <a:ahLst/>
              <a:cxnLst/>
              <a:rect l="l" t="t" r="r" b="b"/>
              <a:pathLst>
                <a:path w="18627460" h="1714510">
                  <a:moveTo>
                    <a:pt x="0" y="0"/>
                  </a:moveTo>
                  <a:lnTo>
                    <a:pt x="18627460" y="0"/>
                  </a:lnTo>
                  <a:lnTo>
                    <a:pt x="18627460" y="1714510"/>
                  </a:lnTo>
                  <a:lnTo>
                    <a:pt x="0" y="1714510"/>
                  </a:lnTo>
                  <a:close/>
                </a:path>
              </a:pathLst>
            </a:custGeom>
            <a:solidFill>
              <a:srgbClr val="000000">
                <a:alpha val="0"/>
              </a:srgbClr>
            </a:solidFill>
          </p:spPr>
        </p:sp>
        <p:sp>
          <p:nvSpPr>
            <p:cNvPr id="13" name="TextBox 13">
              <a:extLst>
                <a:ext uri="{FF2B5EF4-FFF2-40B4-BE49-F238E27FC236}">
                  <a16:creationId xmlns:a16="http://schemas.microsoft.com/office/drawing/2014/main" id="{5E75ABFB-B35D-978B-0130-993CDB9E5742}"/>
                </a:ext>
              </a:extLst>
            </p:cNvPr>
            <p:cNvSpPr txBox="1"/>
            <p:nvPr/>
          </p:nvSpPr>
          <p:spPr>
            <a:xfrm>
              <a:off x="385846" y="1176813"/>
              <a:ext cx="18241616" cy="537697"/>
            </a:xfrm>
            <a:prstGeom prst="rect">
              <a:avLst/>
            </a:prstGeom>
          </p:spPr>
          <p:txBody>
            <a:bodyPr lIns="0" tIns="0" rIns="0" bIns="0" rtlCol="0" anchor="b"/>
            <a:lstStyle/>
            <a:p>
              <a:pPr algn="l">
                <a:lnSpc>
                  <a:spcPts val="7200"/>
                </a:lnSpc>
              </a:pPr>
              <a:endParaRPr lang="en-US" sz="6000" b="1" dirty="0">
                <a:solidFill>
                  <a:srgbClr val="001D58"/>
                </a:solidFill>
                <a:latin typeface="Times New Roman Bold"/>
                <a:ea typeface="Times New Roman Bold"/>
                <a:cs typeface="Times New Roman Bold"/>
                <a:sym typeface="Times New Roman Bold"/>
              </a:endParaRPr>
            </a:p>
            <a:p>
              <a:pPr algn="l">
                <a:lnSpc>
                  <a:spcPts val="7200"/>
                </a:lnSpc>
              </a:pPr>
              <a:endParaRPr lang="en-US" sz="6000" b="1" dirty="0">
                <a:solidFill>
                  <a:srgbClr val="001D58"/>
                </a:solidFill>
                <a:latin typeface="Times New Roman Bold"/>
                <a:ea typeface="Times New Roman Bold"/>
                <a:cs typeface="Times New Roman Bold"/>
                <a:sym typeface="Times New Roman Bold"/>
              </a:endParaRPr>
            </a:p>
            <a:p>
              <a:pPr algn="l">
                <a:lnSpc>
                  <a:spcPts val="7200"/>
                </a:lnSpc>
              </a:pPr>
              <a:r>
                <a:rPr lang="en-US" sz="6000" b="1" dirty="0">
                  <a:solidFill>
                    <a:srgbClr val="001D58"/>
                  </a:solidFill>
                  <a:latin typeface="Times New Roman Bold"/>
                  <a:ea typeface="Times New Roman Bold"/>
                  <a:cs typeface="Times New Roman Bold"/>
                  <a:sym typeface="Times New Roman Bold"/>
                </a:rPr>
                <a:t>LITERATURE SURVEY</a:t>
              </a:r>
            </a:p>
          </p:txBody>
        </p:sp>
      </p:grpSp>
      <p:sp>
        <p:nvSpPr>
          <p:cNvPr id="14" name="Freeform 14">
            <a:extLst>
              <a:ext uri="{FF2B5EF4-FFF2-40B4-BE49-F238E27FC236}">
                <a16:creationId xmlns:a16="http://schemas.microsoft.com/office/drawing/2014/main" id="{77A3BE01-5151-C2A9-EFE4-1635981FC854}"/>
              </a:ext>
            </a:extLst>
          </p:cNvPr>
          <p:cNvSpPr/>
          <p:nvPr/>
        </p:nvSpPr>
        <p:spPr>
          <a:xfrm>
            <a:off x="13976138" y="404027"/>
            <a:ext cx="3922888" cy="880198"/>
          </a:xfrm>
          <a:custGeom>
            <a:avLst/>
            <a:gdLst/>
            <a:ahLst/>
            <a:cxnLst/>
            <a:rect l="l" t="t" r="r" b="b"/>
            <a:pathLst>
              <a:path w="3922888" h="880198">
                <a:moveTo>
                  <a:pt x="0" y="0"/>
                </a:moveTo>
                <a:lnTo>
                  <a:pt x="3922888" y="0"/>
                </a:lnTo>
                <a:lnTo>
                  <a:pt x="3922888" y="880199"/>
                </a:lnTo>
                <a:lnTo>
                  <a:pt x="0" y="880199"/>
                </a:lnTo>
                <a:lnTo>
                  <a:pt x="0" y="0"/>
                </a:lnTo>
                <a:close/>
              </a:path>
            </a:pathLst>
          </a:custGeom>
          <a:blipFill>
            <a:blip r:embed="rId2"/>
            <a:stretch>
              <a:fillRect/>
            </a:stretch>
          </a:blipFill>
        </p:spPr>
      </p:sp>
      <p:graphicFrame>
        <p:nvGraphicFramePr>
          <p:cNvPr id="16" name="Table 15">
            <a:extLst>
              <a:ext uri="{FF2B5EF4-FFF2-40B4-BE49-F238E27FC236}">
                <a16:creationId xmlns:a16="http://schemas.microsoft.com/office/drawing/2014/main" id="{735F5121-F6BD-E8AF-E94E-F4AFB450BF86}"/>
              </a:ext>
            </a:extLst>
          </p:cNvPr>
          <p:cNvGraphicFramePr>
            <a:graphicFrameLocks noGrp="1"/>
          </p:cNvGraphicFramePr>
          <p:nvPr>
            <p:extLst>
              <p:ext uri="{D42A27DB-BD31-4B8C-83A1-F6EECF244321}">
                <p14:modId xmlns:p14="http://schemas.microsoft.com/office/powerpoint/2010/main" val="1974856613"/>
              </p:ext>
            </p:extLst>
          </p:nvPr>
        </p:nvGraphicFramePr>
        <p:xfrm>
          <a:off x="1132627" y="2067323"/>
          <a:ext cx="16459199" cy="7213258"/>
        </p:xfrm>
        <a:graphic>
          <a:graphicData uri="http://schemas.openxmlformats.org/drawingml/2006/table">
            <a:tbl>
              <a:tblPr>
                <a:tableStyleId>{5C22544A-7EE6-4342-B048-85BDC9FD1C3A}</a:tableStyleId>
              </a:tblPr>
              <a:tblGrid>
                <a:gridCol w="2268998">
                  <a:extLst>
                    <a:ext uri="{9D8B030D-6E8A-4147-A177-3AD203B41FA5}">
                      <a16:colId xmlns:a16="http://schemas.microsoft.com/office/drawing/2014/main" val="2822584300"/>
                    </a:ext>
                  </a:extLst>
                </a:gridCol>
                <a:gridCol w="2930622">
                  <a:extLst>
                    <a:ext uri="{9D8B030D-6E8A-4147-A177-3AD203B41FA5}">
                      <a16:colId xmlns:a16="http://schemas.microsoft.com/office/drawing/2014/main" val="1560643811"/>
                    </a:ext>
                  </a:extLst>
                </a:gridCol>
                <a:gridCol w="5372807">
                  <a:extLst>
                    <a:ext uri="{9D8B030D-6E8A-4147-A177-3AD203B41FA5}">
                      <a16:colId xmlns:a16="http://schemas.microsoft.com/office/drawing/2014/main" val="2173151345"/>
                    </a:ext>
                  </a:extLst>
                </a:gridCol>
                <a:gridCol w="3842369">
                  <a:extLst>
                    <a:ext uri="{9D8B030D-6E8A-4147-A177-3AD203B41FA5}">
                      <a16:colId xmlns:a16="http://schemas.microsoft.com/office/drawing/2014/main" val="2544343479"/>
                    </a:ext>
                  </a:extLst>
                </a:gridCol>
                <a:gridCol w="2044403">
                  <a:extLst>
                    <a:ext uri="{9D8B030D-6E8A-4147-A177-3AD203B41FA5}">
                      <a16:colId xmlns:a16="http://schemas.microsoft.com/office/drawing/2014/main" val="2541851536"/>
                    </a:ext>
                  </a:extLst>
                </a:gridCol>
              </a:tblGrid>
              <a:tr h="381002">
                <a:tc>
                  <a:txBody>
                    <a:bodyPr/>
                    <a:lstStyle/>
                    <a:p>
                      <a:pPr algn="ctr">
                        <a:buNone/>
                      </a:pPr>
                      <a:r>
                        <a:rPr lang="en-IN" sz="2000">
                          <a:effectLst/>
                        </a:rPr>
                        <a:t>AUTHOR</a:t>
                      </a:r>
                      <a:endParaRPr lang="en-IN" sz="2000">
                        <a:effectLst/>
                        <a:latin typeface="Times New Roman" panose="02020603050405020304" pitchFamily="18" charset="0"/>
                        <a:ea typeface="Times New Roman" panose="02020603050405020304" pitchFamily="18" charset="0"/>
                      </a:endParaRPr>
                    </a:p>
                  </a:txBody>
                  <a:tcPr marL="5393" marR="5393" marT="0" marB="0" anchor="ctr"/>
                </a:tc>
                <a:tc>
                  <a:txBody>
                    <a:bodyPr/>
                    <a:lstStyle/>
                    <a:p>
                      <a:pPr algn="ctr">
                        <a:buNone/>
                      </a:pPr>
                      <a:r>
                        <a:rPr lang="en-IN" sz="2000">
                          <a:effectLst/>
                        </a:rPr>
                        <a:t>TITLE</a:t>
                      </a:r>
                      <a:endParaRPr lang="en-IN" sz="2000">
                        <a:effectLst/>
                        <a:latin typeface="Times New Roman" panose="02020603050405020304" pitchFamily="18" charset="0"/>
                        <a:ea typeface="Times New Roman" panose="02020603050405020304" pitchFamily="18" charset="0"/>
                      </a:endParaRPr>
                    </a:p>
                  </a:txBody>
                  <a:tcPr marL="5393" marR="5393" marT="0" marB="0" anchor="ctr"/>
                </a:tc>
                <a:tc>
                  <a:txBody>
                    <a:bodyPr/>
                    <a:lstStyle/>
                    <a:p>
                      <a:pPr algn="ctr">
                        <a:buNone/>
                      </a:pPr>
                      <a:r>
                        <a:rPr lang="en-IN" sz="2000">
                          <a:effectLst/>
                        </a:rPr>
                        <a:t>APPROACH DESCRIPTION AND ACHIEVEMENTS</a:t>
                      </a:r>
                      <a:endParaRPr lang="en-IN" sz="2000">
                        <a:effectLst/>
                        <a:latin typeface="Times New Roman" panose="02020603050405020304" pitchFamily="18" charset="0"/>
                        <a:ea typeface="Times New Roman" panose="02020603050405020304" pitchFamily="18" charset="0"/>
                      </a:endParaRPr>
                    </a:p>
                  </a:txBody>
                  <a:tcPr marL="5393" marR="5393" marT="0" marB="0" anchor="ctr"/>
                </a:tc>
                <a:tc>
                  <a:txBody>
                    <a:bodyPr/>
                    <a:lstStyle/>
                    <a:p>
                      <a:pPr algn="ctr">
                        <a:buNone/>
                      </a:pPr>
                      <a:r>
                        <a:rPr lang="en-IN" sz="2000">
                          <a:effectLst/>
                        </a:rPr>
                        <a:t>LIMITATIONS/OBSERVATION</a:t>
                      </a:r>
                      <a:endParaRPr lang="en-IN" sz="2000">
                        <a:effectLst/>
                        <a:latin typeface="Times New Roman" panose="02020603050405020304" pitchFamily="18" charset="0"/>
                        <a:ea typeface="Times New Roman" panose="02020603050405020304" pitchFamily="18" charset="0"/>
                      </a:endParaRPr>
                    </a:p>
                  </a:txBody>
                  <a:tcPr marL="5393" marR="5393" marT="0" marB="0" anchor="ctr"/>
                </a:tc>
                <a:tc>
                  <a:txBody>
                    <a:bodyPr/>
                    <a:lstStyle/>
                    <a:p>
                      <a:pPr algn="ctr">
                        <a:buNone/>
                      </a:pPr>
                      <a:r>
                        <a:rPr lang="en-IN" sz="2000">
                          <a:effectLst/>
                        </a:rPr>
                        <a:t>YEAR</a:t>
                      </a:r>
                      <a:endParaRPr lang="en-IN" sz="2000">
                        <a:effectLst/>
                        <a:latin typeface="Times New Roman" panose="02020603050405020304" pitchFamily="18" charset="0"/>
                        <a:ea typeface="Times New Roman" panose="02020603050405020304" pitchFamily="18" charset="0"/>
                      </a:endParaRPr>
                    </a:p>
                  </a:txBody>
                  <a:tcPr marL="5393" marR="5393" marT="0" marB="0" anchor="ctr"/>
                </a:tc>
                <a:extLst>
                  <a:ext uri="{0D108BD9-81ED-4DB2-BD59-A6C34878D82A}">
                    <a16:rowId xmlns:a16="http://schemas.microsoft.com/office/drawing/2014/main" val="3999305434"/>
                  </a:ext>
                </a:extLst>
              </a:tr>
              <a:tr h="1582462">
                <a:tc>
                  <a:txBody>
                    <a:bodyPr/>
                    <a:lstStyle/>
                    <a:p>
                      <a:pPr>
                        <a:spcBef>
                          <a:spcPts val="500"/>
                        </a:spcBef>
                        <a:spcAft>
                          <a:spcPts val="500"/>
                        </a:spcAft>
                        <a:buNone/>
                      </a:pPr>
                      <a:r>
                        <a:rPr lang="en-IN" sz="2000">
                          <a:effectLst/>
                        </a:rPr>
                        <a:t>S. Kiranyaz, T. Ince, M. Gabbouj</a:t>
                      </a:r>
                      <a:endParaRPr lang="en-IN" sz="2000">
                        <a:effectLst/>
                        <a:latin typeface="Times New Roman" panose="02020603050405020304" pitchFamily="18" charset="0"/>
                        <a:ea typeface="Times New Roman" panose="02020603050405020304" pitchFamily="18" charset="0"/>
                      </a:endParaRPr>
                    </a:p>
                  </a:txBody>
                  <a:tcPr marL="53932" marR="53932" marT="53932" marB="53932" anchor="ctr"/>
                </a:tc>
                <a:tc>
                  <a:txBody>
                    <a:bodyPr/>
                    <a:lstStyle/>
                    <a:p>
                      <a:pPr>
                        <a:spcBef>
                          <a:spcPts val="500"/>
                        </a:spcBef>
                        <a:spcAft>
                          <a:spcPts val="500"/>
                        </a:spcAft>
                        <a:buNone/>
                      </a:pPr>
                      <a:r>
                        <a:rPr lang="en-IN" sz="2000" dirty="0">
                          <a:effectLst/>
                        </a:rPr>
                        <a:t>Real-time patient-specific ECG classification by 1-D CNNs</a:t>
                      </a:r>
                      <a:endParaRPr lang="en-IN" sz="2000" dirty="0">
                        <a:effectLst/>
                        <a:latin typeface="Times New Roman" panose="02020603050405020304" pitchFamily="18" charset="0"/>
                        <a:ea typeface="Times New Roman" panose="02020603050405020304" pitchFamily="18" charset="0"/>
                      </a:endParaRPr>
                    </a:p>
                  </a:txBody>
                  <a:tcPr marL="53932" marR="53932" marT="53932" marB="53932" anchor="ctr"/>
                </a:tc>
                <a:tc>
                  <a:txBody>
                    <a:bodyPr/>
                    <a:lstStyle/>
                    <a:p>
                      <a:pPr>
                        <a:spcBef>
                          <a:spcPts val="500"/>
                        </a:spcBef>
                        <a:spcAft>
                          <a:spcPts val="500"/>
                        </a:spcAft>
                        <a:buNone/>
                      </a:pPr>
                      <a:r>
                        <a:rPr lang="en-IN" sz="2000">
                          <a:effectLst/>
                        </a:rPr>
                        <a:t>Developed 1D Convolutional Neural Network (CNN) for ECG classification achieving 92% accuracy. Implemented real-time patient-specific arrhythmia detection with automatic feature learning from raw ECG signals</a:t>
                      </a:r>
                      <a:endParaRPr lang="en-IN" sz="2000">
                        <a:effectLst/>
                        <a:latin typeface="Times New Roman" panose="02020603050405020304" pitchFamily="18" charset="0"/>
                        <a:ea typeface="Times New Roman" panose="02020603050405020304" pitchFamily="18" charset="0"/>
                      </a:endParaRPr>
                    </a:p>
                  </a:txBody>
                  <a:tcPr marL="53932" marR="53932" marT="53932" marB="53932"/>
                </a:tc>
                <a:tc>
                  <a:txBody>
                    <a:bodyPr/>
                    <a:lstStyle/>
                    <a:p>
                      <a:pPr>
                        <a:spcBef>
                          <a:spcPts val="500"/>
                        </a:spcBef>
                        <a:spcAft>
                          <a:spcPts val="500"/>
                        </a:spcAft>
                        <a:buNone/>
                      </a:pPr>
                      <a:r>
                        <a:rPr lang="en-IN" sz="2000">
                          <a:effectLst/>
                        </a:rPr>
                        <a:t>Requires patient-specific training, no privacy preservation mechanism, lacks explainability features, does not support encrypted inference</a:t>
                      </a:r>
                      <a:endParaRPr lang="en-IN" sz="2000">
                        <a:effectLst/>
                        <a:latin typeface="Times New Roman" panose="02020603050405020304" pitchFamily="18" charset="0"/>
                        <a:ea typeface="Times New Roman" panose="02020603050405020304" pitchFamily="18" charset="0"/>
                      </a:endParaRPr>
                    </a:p>
                  </a:txBody>
                  <a:tcPr marL="53932" marR="53932" marT="53932" marB="53932"/>
                </a:tc>
                <a:tc>
                  <a:txBody>
                    <a:bodyPr/>
                    <a:lstStyle/>
                    <a:p>
                      <a:pPr algn="ctr">
                        <a:spcBef>
                          <a:spcPts val="500"/>
                        </a:spcBef>
                        <a:spcAft>
                          <a:spcPts val="500"/>
                        </a:spcAft>
                        <a:buNone/>
                      </a:pPr>
                      <a:r>
                        <a:rPr lang="en-IN" sz="2000">
                          <a:effectLst/>
                        </a:rPr>
                        <a:t>2016</a:t>
                      </a:r>
                      <a:endParaRPr lang="en-IN" sz="2000">
                        <a:effectLst/>
                        <a:latin typeface="Times New Roman" panose="02020603050405020304" pitchFamily="18" charset="0"/>
                        <a:ea typeface="Times New Roman" panose="02020603050405020304" pitchFamily="18" charset="0"/>
                      </a:endParaRPr>
                    </a:p>
                  </a:txBody>
                  <a:tcPr marL="53932" marR="53932" marT="53932" marB="53932" anchor="ctr"/>
                </a:tc>
                <a:extLst>
                  <a:ext uri="{0D108BD9-81ED-4DB2-BD59-A6C34878D82A}">
                    <a16:rowId xmlns:a16="http://schemas.microsoft.com/office/drawing/2014/main" val="1318536913"/>
                  </a:ext>
                </a:extLst>
              </a:tr>
              <a:tr h="1582462">
                <a:tc>
                  <a:txBody>
                    <a:bodyPr/>
                    <a:lstStyle/>
                    <a:p>
                      <a:pPr>
                        <a:spcBef>
                          <a:spcPts val="500"/>
                        </a:spcBef>
                        <a:spcAft>
                          <a:spcPts val="500"/>
                        </a:spcAft>
                        <a:buNone/>
                      </a:pPr>
                      <a:r>
                        <a:rPr lang="en-IN" sz="2000">
                          <a:effectLst/>
                        </a:rPr>
                        <a:t>A. Y. Hannun, P. Rajpurkar, M. Haghpanahi, et al.</a:t>
                      </a:r>
                      <a:endParaRPr lang="en-IN" sz="2000">
                        <a:effectLst/>
                        <a:latin typeface="Times New Roman" panose="02020603050405020304" pitchFamily="18" charset="0"/>
                        <a:ea typeface="Times New Roman" panose="02020603050405020304" pitchFamily="18" charset="0"/>
                      </a:endParaRPr>
                    </a:p>
                  </a:txBody>
                  <a:tcPr marL="53932" marR="53932" marT="53932" marB="53932" anchor="ctr"/>
                </a:tc>
                <a:tc>
                  <a:txBody>
                    <a:bodyPr/>
                    <a:lstStyle/>
                    <a:p>
                      <a:pPr>
                        <a:spcBef>
                          <a:spcPts val="500"/>
                        </a:spcBef>
                        <a:spcAft>
                          <a:spcPts val="500"/>
                        </a:spcAft>
                        <a:buNone/>
                      </a:pPr>
                      <a:r>
                        <a:rPr lang="en-IN" sz="2000">
                          <a:effectLst/>
                        </a:rPr>
                        <a:t>Cardiologist-level arrhythmia detection using deep neural networks</a:t>
                      </a:r>
                      <a:endParaRPr lang="en-IN" sz="2000">
                        <a:effectLst/>
                        <a:latin typeface="Times New Roman" panose="02020603050405020304" pitchFamily="18" charset="0"/>
                        <a:ea typeface="Times New Roman" panose="02020603050405020304" pitchFamily="18" charset="0"/>
                      </a:endParaRPr>
                    </a:p>
                  </a:txBody>
                  <a:tcPr marL="53932" marR="53932" marT="53932" marB="53932" anchor="ctr"/>
                </a:tc>
                <a:tc>
                  <a:txBody>
                    <a:bodyPr/>
                    <a:lstStyle/>
                    <a:p>
                      <a:pPr>
                        <a:spcBef>
                          <a:spcPts val="500"/>
                        </a:spcBef>
                        <a:spcAft>
                          <a:spcPts val="500"/>
                        </a:spcAft>
                        <a:buNone/>
                      </a:pPr>
                      <a:r>
                        <a:rPr lang="en-IN" sz="2000" dirty="0">
                          <a:effectLst/>
                        </a:rPr>
                        <a:t>Developed deep neural network achieving cardiologist-level performance on ambulatory ECG recordings. Used 91,232 ECG records for training with automated feature extraction and classification</a:t>
                      </a:r>
                      <a:endParaRPr lang="en-IN" sz="2000" dirty="0">
                        <a:effectLst/>
                        <a:latin typeface="Times New Roman" panose="02020603050405020304" pitchFamily="18" charset="0"/>
                        <a:ea typeface="Times New Roman" panose="02020603050405020304" pitchFamily="18" charset="0"/>
                      </a:endParaRPr>
                    </a:p>
                  </a:txBody>
                  <a:tcPr marL="53932" marR="53932" marT="53932" marB="53932"/>
                </a:tc>
                <a:tc>
                  <a:txBody>
                    <a:bodyPr/>
                    <a:lstStyle/>
                    <a:p>
                      <a:pPr>
                        <a:spcBef>
                          <a:spcPts val="500"/>
                        </a:spcBef>
                        <a:spcAft>
                          <a:spcPts val="500"/>
                        </a:spcAft>
                        <a:buNone/>
                      </a:pPr>
                      <a:r>
                        <a:rPr lang="en-IN" sz="2000">
                          <a:effectLst/>
                        </a:rPr>
                        <a:t>No privacy-preserving mechanisms, black-box model without interpretability, requires large labeled datasets, computationally expensive</a:t>
                      </a:r>
                      <a:endParaRPr lang="en-IN" sz="2000">
                        <a:effectLst/>
                        <a:latin typeface="Times New Roman" panose="02020603050405020304" pitchFamily="18" charset="0"/>
                        <a:ea typeface="Times New Roman" panose="02020603050405020304" pitchFamily="18" charset="0"/>
                      </a:endParaRPr>
                    </a:p>
                  </a:txBody>
                  <a:tcPr marL="53932" marR="53932" marT="53932" marB="53932"/>
                </a:tc>
                <a:tc>
                  <a:txBody>
                    <a:bodyPr/>
                    <a:lstStyle/>
                    <a:p>
                      <a:pPr algn="ctr">
                        <a:spcBef>
                          <a:spcPts val="500"/>
                        </a:spcBef>
                        <a:spcAft>
                          <a:spcPts val="500"/>
                        </a:spcAft>
                        <a:buNone/>
                      </a:pPr>
                      <a:r>
                        <a:rPr lang="en-IN" sz="2000">
                          <a:effectLst/>
                        </a:rPr>
                        <a:t>2019</a:t>
                      </a:r>
                      <a:endParaRPr lang="en-IN" sz="2000">
                        <a:effectLst/>
                        <a:latin typeface="Times New Roman" panose="02020603050405020304" pitchFamily="18" charset="0"/>
                        <a:ea typeface="Times New Roman" panose="02020603050405020304" pitchFamily="18" charset="0"/>
                      </a:endParaRPr>
                    </a:p>
                  </a:txBody>
                  <a:tcPr marL="53932" marR="53932" marT="53932" marB="53932" anchor="ctr"/>
                </a:tc>
                <a:extLst>
                  <a:ext uri="{0D108BD9-81ED-4DB2-BD59-A6C34878D82A}">
                    <a16:rowId xmlns:a16="http://schemas.microsoft.com/office/drawing/2014/main" val="2085361589"/>
                  </a:ext>
                </a:extLst>
              </a:tr>
              <a:tr h="1582462">
                <a:tc>
                  <a:txBody>
                    <a:bodyPr/>
                    <a:lstStyle/>
                    <a:p>
                      <a:pPr>
                        <a:spcBef>
                          <a:spcPts val="500"/>
                        </a:spcBef>
                        <a:spcAft>
                          <a:spcPts val="500"/>
                        </a:spcAft>
                        <a:buNone/>
                      </a:pPr>
                      <a:r>
                        <a:rPr lang="en-IN" sz="2000">
                          <a:effectLst/>
                        </a:rPr>
                        <a:t>A. Raza, K. P. Tran, L. Koehl, S. Li</a:t>
                      </a:r>
                      <a:endParaRPr lang="en-IN" sz="2000">
                        <a:effectLst/>
                        <a:latin typeface="Times New Roman" panose="02020603050405020304" pitchFamily="18" charset="0"/>
                        <a:ea typeface="Times New Roman" panose="02020603050405020304" pitchFamily="18" charset="0"/>
                      </a:endParaRPr>
                    </a:p>
                  </a:txBody>
                  <a:tcPr marL="53932" marR="53932" marT="53932" marB="53932" anchor="ctr"/>
                </a:tc>
                <a:tc>
                  <a:txBody>
                    <a:bodyPr/>
                    <a:lstStyle/>
                    <a:p>
                      <a:pPr>
                        <a:spcBef>
                          <a:spcPts val="500"/>
                        </a:spcBef>
                        <a:spcAft>
                          <a:spcPts val="500"/>
                        </a:spcAft>
                        <a:buNone/>
                      </a:pPr>
                      <a:r>
                        <a:rPr lang="en-IN" sz="2000">
                          <a:effectLst/>
                        </a:rPr>
                        <a:t>Designing ECG monitoring healthcare system with federated transfer learning and explainable AI</a:t>
                      </a:r>
                      <a:endParaRPr lang="en-IN" sz="2000">
                        <a:effectLst/>
                        <a:latin typeface="Times New Roman" panose="02020603050405020304" pitchFamily="18" charset="0"/>
                        <a:ea typeface="Times New Roman" panose="02020603050405020304" pitchFamily="18" charset="0"/>
                      </a:endParaRPr>
                    </a:p>
                  </a:txBody>
                  <a:tcPr marL="53932" marR="53932" marT="53932" marB="53932" anchor="ctr"/>
                </a:tc>
                <a:tc>
                  <a:txBody>
                    <a:bodyPr/>
                    <a:lstStyle/>
                    <a:p>
                      <a:pPr>
                        <a:spcBef>
                          <a:spcPts val="500"/>
                        </a:spcBef>
                        <a:spcAft>
                          <a:spcPts val="500"/>
                        </a:spcAft>
                        <a:buNone/>
                      </a:pPr>
                      <a:r>
                        <a:rPr lang="en-IN" sz="2000">
                          <a:effectLst/>
                        </a:rPr>
                        <a:t>Proposed federated learning system combining CNN models with SHAP for arrhythmia classification. Achieved up to 98% accuracy while preserving privacy through distributed training and SHAP explanations</a:t>
                      </a:r>
                      <a:endParaRPr lang="en-IN" sz="2000">
                        <a:effectLst/>
                        <a:latin typeface="Times New Roman" panose="02020603050405020304" pitchFamily="18" charset="0"/>
                        <a:ea typeface="Times New Roman" panose="02020603050405020304" pitchFamily="18" charset="0"/>
                      </a:endParaRPr>
                    </a:p>
                  </a:txBody>
                  <a:tcPr marL="53932" marR="53932" marT="53932" marB="53932"/>
                </a:tc>
                <a:tc>
                  <a:txBody>
                    <a:bodyPr/>
                    <a:lstStyle/>
                    <a:p>
                      <a:pPr>
                        <a:spcBef>
                          <a:spcPts val="500"/>
                        </a:spcBef>
                        <a:spcAft>
                          <a:spcPts val="500"/>
                        </a:spcAft>
                        <a:buNone/>
                      </a:pPr>
                      <a:r>
                        <a:rPr lang="en-IN" sz="2000" dirty="0">
                          <a:effectLst/>
                        </a:rPr>
                        <a:t>No homomorphic encryption, relies on data decentralization instead of encrypted computation, model updates still exposed, no clinical validation of SHAP outputs</a:t>
                      </a:r>
                      <a:endParaRPr lang="en-IN" sz="2000" dirty="0">
                        <a:effectLst/>
                        <a:latin typeface="Times New Roman" panose="02020603050405020304" pitchFamily="18" charset="0"/>
                        <a:ea typeface="Times New Roman" panose="02020603050405020304" pitchFamily="18" charset="0"/>
                      </a:endParaRPr>
                    </a:p>
                  </a:txBody>
                  <a:tcPr marL="53932" marR="53932" marT="53932" marB="53932"/>
                </a:tc>
                <a:tc>
                  <a:txBody>
                    <a:bodyPr/>
                    <a:lstStyle/>
                    <a:p>
                      <a:pPr algn="ctr">
                        <a:spcBef>
                          <a:spcPts val="500"/>
                        </a:spcBef>
                        <a:spcAft>
                          <a:spcPts val="500"/>
                        </a:spcAft>
                        <a:buNone/>
                      </a:pPr>
                      <a:r>
                        <a:rPr lang="en-IN" sz="2000">
                          <a:effectLst/>
                        </a:rPr>
                        <a:t>2022</a:t>
                      </a:r>
                      <a:endParaRPr lang="en-IN" sz="2000">
                        <a:effectLst/>
                        <a:latin typeface="Times New Roman" panose="02020603050405020304" pitchFamily="18" charset="0"/>
                        <a:ea typeface="Times New Roman" panose="02020603050405020304" pitchFamily="18" charset="0"/>
                      </a:endParaRPr>
                    </a:p>
                  </a:txBody>
                  <a:tcPr marL="53932" marR="53932" marT="53932" marB="53932" anchor="ctr"/>
                </a:tc>
                <a:extLst>
                  <a:ext uri="{0D108BD9-81ED-4DB2-BD59-A6C34878D82A}">
                    <a16:rowId xmlns:a16="http://schemas.microsoft.com/office/drawing/2014/main" val="2512897007"/>
                  </a:ext>
                </a:extLst>
              </a:tr>
              <a:tr h="1878035">
                <a:tc>
                  <a:txBody>
                    <a:bodyPr/>
                    <a:lstStyle/>
                    <a:p>
                      <a:pPr>
                        <a:spcBef>
                          <a:spcPts val="500"/>
                        </a:spcBef>
                        <a:spcAft>
                          <a:spcPts val="500"/>
                        </a:spcAft>
                        <a:buNone/>
                      </a:pPr>
                      <a:r>
                        <a:rPr lang="en-IN" sz="2000">
                          <a:effectLst/>
                        </a:rPr>
                        <a:t>B. B. Yuksel, A. Yilmazer-Metin</a:t>
                      </a:r>
                      <a:endParaRPr lang="en-IN" sz="2000">
                        <a:effectLst/>
                        <a:latin typeface="Times New Roman" panose="02020603050405020304" pitchFamily="18" charset="0"/>
                        <a:ea typeface="Times New Roman" panose="02020603050405020304" pitchFamily="18" charset="0"/>
                      </a:endParaRPr>
                    </a:p>
                  </a:txBody>
                  <a:tcPr marL="53932" marR="53932" marT="53932" marB="53932" anchor="ctr"/>
                </a:tc>
                <a:tc>
                  <a:txBody>
                    <a:bodyPr/>
                    <a:lstStyle/>
                    <a:p>
                      <a:pPr>
                        <a:spcBef>
                          <a:spcPts val="500"/>
                        </a:spcBef>
                        <a:spcAft>
                          <a:spcPts val="500"/>
                        </a:spcAft>
                        <a:buNone/>
                      </a:pPr>
                      <a:r>
                        <a:rPr lang="en-IN" sz="2000">
                          <a:effectLst/>
                        </a:rPr>
                        <a:t>ECG-PPS: Privacy preserving disease diagnosis and monitoring for real-time ECG signals</a:t>
                      </a:r>
                      <a:endParaRPr lang="en-IN" sz="2000">
                        <a:effectLst/>
                        <a:latin typeface="Times New Roman" panose="02020603050405020304" pitchFamily="18" charset="0"/>
                        <a:ea typeface="Times New Roman" panose="02020603050405020304" pitchFamily="18" charset="0"/>
                      </a:endParaRPr>
                    </a:p>
                  </a:txBody>
                  <a:tcPr marL="53932" marR="53932" marT="53932" marB="53932" anchor="ctr"/>
                </a:tc>
                <a:tc>
                  <a:txBody>
                    <a:bodyPr/>
                    <a:lstStyle/>
                    <a:p>
                      <a:pPr>
                        <a:spcBef>
                          <a:spcPts val="500"/>
                        </a:spcBef>
                        <a:spcAft>
                          <a:spcPts val="500"/>
                        </a:spcAft>
                        <a:buNone/>
                      </a:pPr>
                      <a:r>
                        <a:rPr lang="en-IN" sz="2000" dirty="0">
                          <a:effectLst/>
                        </a:rPr>
                        <a:t>Developed privacy-preserving system for real-time ECG abnormality detection using Fully Homomorphic Encryption (FHE). System generates encrypted alerts maintaining data privacy throughout processing pipeline</a:t>
                      </a:r>
                      <a:endParaRPr lang="en-IN" sz="2000" dirty="0">
                        <a:effectLst/>
                        <a:latin typeface="Times New Roman" panose="02020603050405020304" pitchFamily="18" charset="0"/>
                        <a:ea typeface="Times New Roman" panose="02020603050405020304" pitchFamily="18" charset="0"/>
                      </a:endParaRPr>
                    </a:p>
                  </a:txBody>
                  <a:tcPr marL="53932" marR="53932" marT="53932" marB="53932"/>
                </a:tc>
                <a:tc>
                  <a:txBody>
                    <a:bodyPr/>
                    <a:lstStyle/>
                    <a:p>
                      <a:pPr>
                        <a:spcBef>
                          <a:spcPts val="500"/>
                        </a:spcBef>
                        <a:spcAft>
                          <a:spcPts val="500"/>
                        </a:spcAft>
                        <a:buNone/>
                      </a:pPr>
                      <a:r>
                        <a:rPr lang="en-IN" sz="2000">
                          <a:effectLst/>
                        </a:rPr>
                        <a:t>Lacks explainability features to assist clinicians, no SHAP or XAI integration, focused only on privacy without interpretability, computational overhead not quantified</a:t>
                      </a:r>
                      <a:endParaRPr lang="en-IN" sz="2000">
                        <a:effectLst/>
                        <a:latin typeface="Times New Roman" panose="02020603050405020304" pitchFamily="18" charset="0"/>
                        <a:ea typeface="Times New Roman" panose="02020603050405020304" pitchFamily="18" charset="0"/>
                      </a:endParaRPr>
                    </a:p>
                  </a:txBody>
                  <a:tcPr marL="53932" marR="53932" marT="53932" marB="53932"/>
                </a:tc>
                <a:tc>
                  <a:txBody>
                    <a:bodyPr/>
                    <a:lstStyle/>
                    <a:p>
                      <a:pPr algn="ctr">
                        <a:spcBef>
                          <a:spcPts val="500"/>
                        </a:spcBef>
                        <a:spcAft>
                          <a:spcPts val="500"/>
                        </a:spcAft>
                        <a:buNone/>
                      </a:pPr>
                      <a:r>
                        <a:rPr lang="en-IN" sz="2000" dirty="0">
                          <a:effectLst/>
                        </a:rPr>
                        <a:t>2024</a:t>
                      </a:r>
                      <a:endParaRPr lang="en-IN" sz="2000" dirty="0">
                        <a:effectLst/>
                        <a:latin typeface="Times New Roman" panose="02020603050405020304" pitchFamily="18" charset="0"/>
                        <a:ea typeface="Times New Roman" panose="02020603050405020304" pitchFamily="18" charset="0"/>
                      </a:endParaRPr>
                    </a:p>
                  </a:txBody>
                  <a:tcPr marL="53932" marR="53932" marT="53932" marB="53932" anchor="ctr"/>
                </a:tc>
                <a:extLst>
                  <a:ext uri="{0D108BD9-81ED-4DB2-BD59-A6C34878D82A}">
                    <a16:rowId xmlns:a16="http://schemas.microsoft.com/office/drawing/2014/main" val="984224239"/>
                  </a:ext>
                </a:extLst>
              </a:tr>
            </a:tbl>
          </a:graphicData>
        </a:graphic>
      </p:graphicFrame>
    </p:spTree>
    <p:extLst>
      <p:ext uri="{BB962C8B-B14F-4D97-AF65-F5344CB8AC3E}">
        <p14:creationId xmlns:p14="http://schemas.microsoft.com/office/powerpoint/2010/main" val="6149057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2B690-1F31-4595-7674-1163D5C3597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221F274-C2C1-C0CE-BEF0-C7494723EF7D}"/>
              </a:ext>
            </a:extLst>
          </p:cNvPr>
          <p:cNvGrpSpPr/>
          <p:nvPr/>
        </p:nvGrpSpPr>
        <p:grpSpPr>
          <a:xfrm>
            <a:off x="0" y="0"/>
            <a:ext cx="18288000" cy="10287000"/>
            <a:chOff x="0" y="0"/>
            <a:chExt cx="24384000" cy="13716000"/>
          </a:xfrm>
        </p:grpSpPr>
        <p:sp>
          <p:nvSpPr>
            <p:cNvPr id="3" name="Freeform 3">
              <a:extLst>
                <a:ext uri="{FF2B5EF4-FFF2-40B4-BE49-F238E27FC236}">
                  <a16:creationId xmlns:a16="http://schemas.microsoft.com/office/drawing/2014/main" id="{B65CF60A-0C78-4D0A-D6C3-E4F53556A02D}"/>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grpSp>
        <p:nvGrpSpPr>
          <p:cNvPr id="4" name="Group 4">
            <a:extLst>
              <a:ext uri="{FF2B5EF4-FFF2-40B4-BE49-F238E27FC236}">
                <a16:creationId xmlns:a16="http://schemas.microsoft.com/office/drawing/2014/main" id="{35DB0AB1-F359-47A3-26B5-25444F2E1293}"/>
              </a:ext>
            </a:extLst>
          </p:cNvPr>
          <p:cNvGrpSpPr/>
          <p:nvPr/>
        </p:nvGrpSpPr>
        <p:grpSpPr>
          <a:xfrm>
            <a:off x="164433" y="188013"/>
            <a:ext cx="17959134" cy="9910974"/>
            <a:chOff x="0" y="0"/>
            <a:chExt cx="4729978" cy="2610298"/>
          </a:xfrm>
        </p:grpSpPr>
        <p:sp>
          <p:nvSpPr>
            <p:cNvPr id="5" name="Freeform 5">
              <a:extLst>
                <a:ext uri="{FF2B5EF4-FFF2-40B4-BE49-F238E27FC236}">
                  <a16:creationId xmlns:a16="http://schemas.microsoft.com/office/drawing/2014/main" id="{BF78780A-B030-1DF8-389F-4393707FE537}"/>
                </a:ext>
              </a:extLst>
            </p:cNvPr>
            <p:cNvSpPr/>
            <p:nvPr/>
          </p:nvSpPr>
          <p:spPr>
            <a:xfrm>
              <a:off x="0" y="0"/>
              <a:ext cx="4729978" cy="2610298"/>
            </a:xfrm>
            <a:custGeom>
              <a:avLst/>
              <a:gdLst/>
              <a:ahLst/>
              <a:cxnLst/>
              <a:rect l="l" t="t" r="r" b="b"/>
              <a:pathLst>
                <a:path w="4729978" h="2610298">
                  <a:moveTo>
                    <a:pt x="0" y="0"/>
                  </a:moveTo>
                  <a:lnTo>
                    <a:pt x="4729978" y="0"/>
                  </a:lnTo>
                  <a:lnTo>
                    <a:pt x="4729978" y="2610298"/>
                  </a:lnTo>
                  <a:lnTo>
                    <a:pt x="0" y="2610298"/>
                  </a:lnTo>
                  <a:close/>
                </a:path>
              </a:pathLst>
            </a:custGeom>
            <a:solidFill>
              <a:srgbClr val="000000">
                <a:alpha val="0"/>
              </a:srgbClr>
            </a:solidFill>
            <a:ln w="28575" cap="sq">
              <a:solidFill>
                <a:srgbClr val="000000"/>
              </a:solidFill>
              <a:prstDash val="solid"/>
              <a:miter/>
            </a:ln>
          </p:spPr>
          <p:txBody>
            <a:bodyPr/>
            <a:lstStyle/>
            <a:p>
              <a:endParaRPr lang="en-IN" dirty="0"/>
            </a:p>
          </p:txBody>
        </p:sp>
        <p:sp>
          <p:nvSpPr>
            <p:cNvPr id="6" name="TextBox 6">
              <a:extLst>
                <a:ext uri="{FF2B5EF4-FFF2-40B4-BE49-F238E27FC236}">
                  <a16:creationId xmlns:a16="http://schemas.microsoft.com/office/drawing/2014/main" id="{ECB9CCB1-47C8-E74B-FCC7-758FCF89B1C7}"/>
                </a:ext>
              </a:extLst>
            </p:cNvPr>
            <p:cNvSpPr txBox="1"/>
            <p:nvPr/>
          </p:nvSpPr>
          <p:spPr>
            <a:xfrm>
              <a:off x="0" y="-38100"/>
              <a:ext cx="4729978" cy="2648398"/>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F97D66FE-24BA-4650-4982-A59F20E3242B}"/>
              </a:ext>
            </a:extLst>
          </p:cNvPr>
          <p:cNvGrpSpPr/>
          <p:nvPr/>
        </p:nvGrpSpPr>
        <p:grpSpPr>
          <a:xfrm>
            <a:off x="392782" y="9324975"/>
            <a:ext cx="578768" cy="578768"/>
            <a:chOff x="0" y="0"/>
            <a:chExt cx="152433" cy="152433"/>
          </a:xfrm>
        </p:grpSpPr>
        <p:sp>
          <p:nvSpPr>
            <p:cNvPr id="9" name="Freeform 9">
              <a:extLst>
                <a:ext uri="{FF2B5EF4-FFF2-40B4-BE49-F238E27FC236}">
                  <a16:creationId xmlns:a16="http://schemas.microsoft.com/office/drawing/2014/main" id="{86AA9FF6-87AD-F22F-4D55-D2425DDF148B}"/>
                </a:ext>
              </a:extLst>
            </p:cNvPr>
            <p:cNvSpPr/>
            <p:nvPr/>
          </p:nvSpPr>
          <p:spPr>
            <a:xfrm>
              <a:off x="0" y="0"/>
              <a:ext cx="152433" cy="152433"/>
            </a:xfrm>
            <a:custGeom>
              <a:avLst/>
              <a:gdLst/>
              <a:ahLst/>
              <a:cxnLst/>
              <a:rect l="l" t="t" r="r" b="b"/>
              <a:pathLst>
                <a:path w="152433" h="152433">
                  <a:moveTo>
                    <a:pt x="0" y="0"/>
                  </a:moveTo>
                  <a:lnTo>
                    <a:pt x="152433" y="0"/>
                  </a:lnTo>
                  <a:lnTo>
                    <a:pt x="152433" y="152433"/>
                  </a:lnTo>
                  <a:lnTo>
                    <a:pt x="0" y="152433"/>
                  </a:lnTo>
                  <a:close/>
                </a:path>
              </a:pathLst>
            </a:custGeom>
            <a:solidFill>
              <a:srgbClr val="FF4500"/>
            </a:solidFill>
          </p:spPr>
        </p:sp>
        <p:sp>
          <p:nvSpPr>
            <p:cNvPr id="10" name="TextBox 10">
              <a:extLst>
                <a:ext uri="{FF2B5EF4-FFF2-40B4-BE49-F238E27FC236}">
                  <a16:creationId xmlns:a16="http://schemas.microsoft.com/office/drawing/2014/main" id="{CAEF99F0-03B8-1507-E01E-6AE8CDDA92B9}"/>
                </a:ext>
              </a:extLst>
            </p:cNvPr>
            <p:cNvSpPr txBox="1"/>
            <p:nvPr/>
          </p:nvSpPr>
          <p:spPr>
            <a:xfrm>
              <a:off x="0" y="-47625"/>
              <a:ext cx="152433" cy="200058"/>
            </a:xfrm>
            <a:prstGeom prst="rect">
              <a:avLst/>
            </a:prstGeom>
          </p:spPr>
          <p:txBody>
            <a:bodyPr lIns="50800" tIns="50800" rIns="50800" bIns="50800" rtlCol="0" anchor="ctr"/>
            <a:lstStyle/>
            <a:p>
              <a:pPr algn="ctr">
                <a:lnSpc>
                  <a:spcPts val="3499"/>
                </a:lnSpc>
              </a:pPr>
              <a:r>
                <a:rPr lang="en-US" sz="2499">
                  <a:solidFill>
                    <a:srgbClr val="FFFFFF"/>
                  </a:solidFill>
                  <a:latin typeface="Canva Sans"/>
                  <a:ea typeface="Canva Sans"/>
                  <a:cs typeface="Canva Sans"/>
                  <a:sym typeface="Canva Sans"/>
                </a:rPr>
                <a:t>8</a:t>
              </a:r>
            </a:p>
          </p:txBody>
        </p:sp>
      </p:grpSp>
      <p:grpSp>
        <p:nvGrpSpPr>
          <p:cNvPr id="11" name="Group 11">
            <a:extLst>
              <a:ext uri="{FF2B5EF4-FFF2-40B4-BE49-F238E27FC236}">
                <a16:creationId xmlns:a16="http://schemas.microsoft.com/office/drawing/2014/main" id="{E63B1C02-4B04-2B68-E4C5-9DF3278B05E5}"/>
              </a:ext>
            </a:extLst>
          </p:cNvPr>
          <p:cNvGrpSpPr/>
          <p:nvPr/>
        </p:nvGrpSpPr>
        <p:grpSpPr>
          <a:xfrm>
            <a:off x="838200" y="800101"/>
            <a:ext cx="14732595" cy="1866768"/>
            <a:chOff x="593891" y="1303004"/>
            <a:chExt cx="19643460" cy="2489024"/>
          </a:xfrm>
        </p:grpSpPr>
        <p:sp>
          <p:nvSpPr>
            <p:cNvPr id="12" name="Freeform 12">
              <a:extLst>
                <a:ext uri="{FF2B5EF4-FFF2-40B4-BE49-F238E27FC236}">
                  <a16:creationId xmlns:a16="http://schemas.microsoft.com/office/drawing/2014/main" id="{3FC693E2-3A84-F368-6B5A-7E0D697AB5E3}"/>
                </a:ext>
              </a:extLst>
            </p:cNvPr>
            <p:cNvSpPr/>
            <p:nvPr/>
          </p:nvSpPr>
          <p:spPr>
            <a:xfrm>
              <a:off x="1609891" y="2077517"/>
              <a:ext cx="18627460" cy="1714511"/>
            </a:xfrm>
            <a:custGeom>
              <a:avLst/>
              <a:gdLst/>
              <a:ahLst/>
              <a:cxnLst/>
              <a:rect l="l" t="t" r="r" b="b"/>
              <a:pathLst>
                <a:path w="18627460" h="1714510">
                  <a:moveTo>
                    <a:pt x="0" y="0"/>
                  </a:moveTo>
                  <a:lnTo>
                    <a:pt x="18627460" y="0"/>
                  </a:lnTo>
                  <a:lnTo>
                    <a:pt x="18627460" y="1714510"/>
                  </a:lnTo>
                  <a:lnTo>
                    <a:pt x="0" y="1714510"/>
                  </a:lnTo>
                  <a:close/>
                </a:path>
              </a:pathLst>
            </a:custGeom>
            <a:solidFill>
              <a:srgbClr val="000000">
                <a:alpha val="0"/>
              </a:srgbClr>
            </a:solidFill>
          </p:spPr>
        </p:sp>
        <p:sp>
          <p:nvSpPr>
            <p:cNvPr id="13" name="TextBox 13">
              <a:extLst>
                <a:ext uri="{FF2B5EF4-FFF2-40B4-BE49-F238E27FC236}">
                  <a16:creationId xmlns:a16="http://schemas.microsoft.com/office/drawing/2014/main" id="{A5FAD930-784D-3FE7-8D41-513CC8DB3BB9}"/>
                </a:ext>
              </a:extLst>
            </p:cNvPr>
            <p:cNvSpPr txBox="1"/>
            <p:nvPr/>
          </p:nvSpPr>
          <p:spPr>
            <a:xfrm>
              <a:off x="593891" y="1303004"/>
              <a:ext cx="18033569" cy="933517"/>
            </a:xfrm>
            <a:prstGeom prst="rect">
              <a:avLst/>
            </a:prstGeom>
          </p:spPr>
          <p:txBody>
            <a:bodyPr lIns="0" tIns="0" rIns="0" bIns="0" rtlCol="0" anchor="b"/>
            <a:lstStyle/>
            <a:p>
              <a:pPr algn="l">
                <a:lnSpc>
                  <a:spcPts val="7200"/>
                </a:lnSpc>
              </a:pPr>
              <a:r>
                <a:rPr lang="en-US" sz="6000" b="1" dirty="0">
                  <a:solidFill>
                    <a:srgbClr val="001D58"/>
                  </a:solidFill>
                  <a:latin typeface="Times New Roman Bold"/>
                  <a:ea typeface="Times New Roman Bold"/>
                  <a:cs typeface="Times New Roman Bold"/>
                  <a:sym typeface="Times New Roman Bold"/>
                </a:rPr>
                <a:t>LITERATURE SURVEY</a:t>
              </a:r>
            </a:p>
          </p:txBody>
        </p:sp>
      </p:grpSp>
      <p:sp>
        <p:nvSpPr>
          <p:cNvPr id="14" name="Freeform 14">
            <a:extLst>
              <a:ext uri="{FF2B5EF4-FFF2-40B4-BE49-F238E27FC236}">
                <a16:creationId xmlns:a16="http://schemas.microsoft.com/office/drawing/2014/main" id="{8476F897-C338-B310-7EF8-AF189B93905A}"/>
              </a:ext>
            </a:extLst>
          </p:cNvPr>
          <p:cNvSpPr/>
          <p:nvPr/>
        </p:nvSpPr>
        <p:spPr>
          <a:xfrm>
            <a:off x="13976138" y="404027"/>
            <a:ext cx="3922888" cy="880198"/>
          </a:xfrm>
          <a:custGeom>
            <a:avLst/>
            <a:gdLst/>
            <a:ahLst/>
            <a:cxnLst/>
            <a:rect l="l" t="t" r="r" b="b"/>
            <a:pathLst>
              <a:path w="3922888" h="880198">
                <a:moveTo>
                  <a:pt x="0" y="0"/>
                </a:moveTo>
                <a:lnTo>
                  <a:pt x="3922888" y="0"/>
                </a:lnTo>
                <a:lnTo>
                  <a:pt x="3922888" y="880199"/>
                </a:lnTo>
                <a:lnTo>
                  <a:pt x="0" y="880199"/>
                </a:lnTo>
                <a:lnTo>
                  <a:pt x="0" y="0"/>
                </a:lnTo>
                <a:close/>
              </a:path>
            </a:pathLst>
          </a:custGeom>
          <a:blipFill>
            <a:blip r:embed="rId2"/>
            <a:stretch>
              <a:fillRect/>
            </a:stretch>
          </a:blipFill>
        </p:spPr>
      </p:sp>
      <p:graphicFrame>
        <p:nvGraphicFramePr>
          <p:cNvPr id="7" name="Table 6">
            <a:extLst>
              <a:ext uri="{FF2B5EF4-FFF2-40B4-BE49-F238E27FC236}">
                <a16:creationId xmlns:a16="http://schemas.microsoft.com/office/drawing/2014/main" id="{E2CC13FA-5F4C-BFB5-97C2-D9335B08A671}"/>
              </a:ext>
            </a:extLst>
          </p:cNvPr>
          <p:cNvGraphicFramePr>
            <a:graphicFrameLocks noGrp="1"/>
          </p:cNvGraphicFramePr>
          <p:nvPr>
            <p:extLst>
              <p:ext uri="{D42A27DB-BD31-4B8C-83A1-F6EECF244321}">
                <p14:modId xmlns:p14="http://schemas.microsoft.com/office/powerpoint/2010/main" val="3176337314"/>
              </p:ext>
            </p:extLst>
          </p:nvPr>
        </p:nvGraphicFramePr>
        <p:xfrm>
          <a:off x="1600200" y="2171700"/>
          <a:ext cx="15468601" cy="6248400"/>
        </p:xfrm>
        <a:graphic>
          <a:graphicData uri="http://schemas.openxmlformats.org/drawingml/2006/table">
            <a:tbl>
              <a:tblPr>
                <a:tableStyleId>{5C22544A-7EE6-4342-B048-85BDC9FD1C3A}</a:tableStyleId>
              </a:tblPr>
              <a:tblGrid>
                <a:gridCol w="2313680">
                  <a:extLst>
                    <a:ext uri="{9D8B030D-6E8A-4147-A177-3AD203B41FA5}">
                      <a16:colId xmlns:a16="http://schemas.microsoft.com/office/drawing/2014/main" val="550942832"/>
                    </a:ext>
                  </a:extLst>
                </a:gridCol>
                <a:gridCol w="2974731">
                  <a:extLst>
                    <a:ext uri="{9D8B030D-6E8A-4147-A177-3AD203B41FA5}">
                      <a16:colId xmlns:a16="http://schemas.microsoft.com/office/drawing/2014/main" val="3055642966"/>
                    </a:ext>
                  </a:extLst>
                </a:gridCol>
                <a:gridCol w="5453673">
                  <a:extLst>
                    <a:ext uri="{9D8B030D-6E8A-4147-A177-3AD203B41FA5}">
                      <a16:colId xmlns:a16="http://schemas.microsoft.com/office/drawing/2014/main" val="4190153643"/>
                    </a:ext>
                  </a:extLst>
                </a:gridCol>
                <a:gridCol w="3900202">
                  <a:extLst>
                    <a:ext uri="{9D8B030D-6E8A-4147-A177-3AD203B41FA5}">
                      <a16:colId xmlns:a16="http://schemas.microsoft.com/office/drawing/2014/main" val="3653491372"/>
                    </a:ext>
                  </a:extLst>
                </a:gridCol>
                <a:gridCol w="826315">
                  <a:extLst>
                    <a:ext uri="{9D8B030D-6E8A-4147-A177-3AD203B41FA5}">
                      <a16:colId xmlns:a16="http://schemas.microsoft.com/office/drawing/2014/main" val="3358078323"/>
                    </a:ext>
                  </a:extLst>
                </a:gridCol>
              </a:tblGrid>
              <a:tr h="2527008">
                <a:tc>
                  <a:txBody>
                    <a:bodyPr/>
                    <a:lstStyle/>
                    <a:p>
                      <a:pPr>
                        <a:spcBef>
                          <a:spcPts val="500"/>
                        </a:spcBef>
                        <a:spcAft>
                          <a:spcPts val="500"/>
                        </a:spcAft>
                        <a:buNone/>
                      </a:pPr>
                      <a:r>
                        <a:rPr lang="en-IN" sz="2400">
                          <a:effectLst/>
                        </a:rPr>
                        <a:t>A. M. Salih, I. B. Galazzo, P. Gkontra, et al.</a:t>
                      </a:r>
                      <a:endParaRPr lang="en-IN" sz="2400">
                        <a:effectLst/>
                        <a:latin typeface="Times New Roman" panose="02020603050405020304" pitchFamily="18" charset="0"/>
                        <a:ea typeface="Times New Roman" panose="02020603050405020304" pitchFamily="18" charset="0"/>
                      </a:endParaRPr>
                    </a:p>
                  </a:txBody>
                  <a:tcPr marL="63500" marR="63500" marT="63500" marB="63500" anchor="ctr"/>
                </a:tc>
                <a:tc>
                  <a:txBody>
                    <a:bodyPr/>
                    <a:lstStyle/>
                    <a:p>
                      <a:pPr>
                        <a:spcBef>
                          <a:spcPts val="500"/>
                        </a:spcBef>
                        <a:spcAft>
                          <a:spcPts val="500"/>
                        </a:spcAft>
                        <a:buNone/>
                      </a:pPr>
                      <a:r>
                        <a:rPr lang="en-IN" sz="2400">
                          <a:effectLst/>
                        </a:rPr>
                        <a:t>A review of evaluation approaches for explainable AI with applications in cardiology</a:t>
                      </a:r>
                      <a:endParaRPr lang="en-IN" sz="2400">
                        <a:effectLst/>
                        <a:latin typeface="Times New Roman" panose="02020603050405020304" pitchFamily="18" charset="0"/>
                        <a:ea typeface="Times New Roman" panose="02020603050405020304" pitchFamily="18" charset="0"/>
                      </a:endParaRPr>
                    </a:p>
                  </a:txBody>
                  <a:tcPr marL="63500" marR="63500" marT="63500" marB="63500" anchor="ctr"/>
                </a:tc>
                <a:tc>
                  <a:txBody>
                    <a:bodyPr/>
                    <a:lstStyle/>
                    <a:p>
                      <a:pPr>
                        <a:spcBef>
                          <a:spcPts val="500"/>
                        </a:spcBef>
                        <a:spcAft>
                          <a:spcPts val="500"/>
                        </a:spcAft>
                        <a:buNone/>
                      </a:pPr>
                      <a:r>
                        <a:rPr lang="en-IN" sz="2400" dirty="0">
                          <a:effectLst/>
                        </a:rPr>
                        <a:t>Systematic review of XAI methods in cardiac AI identifying SHAP, </a:t>
                      </a:r>
                      <a:r>
                        <a:rPr lang="en-IN" sz="2400" dirty="0" err="1">
                          <a:effectLst/>
                        </a:rPr>
                        <a:t>DeepSHAP</a:t>
                      </a:r>
                      <a:r>
                        <a:rPr lang="en-IN" sz="2400" dirty="0">
                          <a:effectLst/>
                        </a:rPr>
                        <a:t>, and Integrated Gradients as effective techniques. Emphasized need for multi-method approach and clinician validation for clinical applicability</a:t>
                      </a:r>
                      <a:endParaRPr lang="en-IN" sz="2400" dirty="0">
                        <a:effectLst/>
                        <a:latin typeface="Times New Roman" panose="02020603050405020304" pitchFamily="18" charset="0"/>
                        <a:ea typeface="Times New Roman" panose="02020603050405020304" pitchFamily="18" charset="0"/>
                      </a:endParaRPr>
                    </a:p>
                  </a:txBody>
                  <a:tcPr marL="63500" marR="63500" marT="63500" marB="63500"/>
                </a:tc>
                <a:tc>
                  <a:txBody>
                    <a:bodyPr/>
                    <a:lstStyle/>
                    <a:p>
                      <a:pPr>
                        <a:spcBef>
                          <a:spcPts val="500"/>
                        </a:spcBef>
                        <a:spcAft>
                          <a:spcPts val="500"/>
                        </a:spcAft>
                        <a:buNone/>
                      </a:pPr>
                      <a:r>
                        <a:rPr lang="en-IN" sz="2400">
                          <a:effectLst/>
                        </a:rPr>
                        <a:t>Only 11% of reviewed studies had clinical validation, most relied on statistical proxies instead of expert evaluation, gap between research and clinical practice remains large</a:t>
                      </a:r>
                      <a:endParaRPr lang="en-IN" sz="2400">
                        <a:effectLst/>
                        <a:latin typeface="Times New Roman" panose="02020603050405020304" pitchFamily="18" charset="0"/>
                        <a:ea typeface="Times New Roman" panose="02020603050405020304" pitchFamily="18" charset="0"/>
                      </a:endParaRPr>
                    </a:p>
                  </a:txBody>
                  <a:tcPr marL="63500" marR="63500" marT="63500" marB="63500"/>
                </a:tc>
                <a:tc>
                  <a:txBody>
                    <a:bodyPr/>
                    <a:lstStyle/>
                    <a:p>
                      <a:pPr algn="ctr">
                        <a:spcBef>
                          <a:spcPts val="500"/>
                        </a:spcBef>
                        <a:spcAft>
                          <a:spcPts val="500"/>
                        </a:spcAft>
                        <a:buNone/>
                      </a:pPr>
                      <a:r>
                        <a:rPr lang="en-IN" sz="2400">
                          <a:effectLst/>
                        </a:rPr>
                        <a:t>2024</a:t>
                      </a:r>
                      <a:endParaRPr lang="en-IN" sz="2400">
                        <a:effectLst/>
                        <a:latin typeface="Times New Roman" panose="02020603050405020304" pitchFamily="18" charset="0"/>
                        <a:ea typeface="Times New Roman" panose="02020603050405020304" pitchFamily="18" charset="0"/>
                      </a:endParaRPr>
                    </a:p>
                  </a:txBody>
                  <a:tcPr marL="63500" marR="63500" marT="63500" marB="63500" anchor="ctr"/>
                </a:tc>
                <a:extLst>
                  <a:ext uri="{0D108BD9-81ED-4DB2-BD59-A6C34878D82A}">
                    <a16:rowId xmlns:a16="http://schemas.microsoft.com/office/drawing/2014/main" val="722869922"/>
                  </a:ext>
                </a:extLst>
              </a:tr>
              <a:tr h="3721392">
                <a:tc>
                  <a:txBody>
                    <a:bodyPr/>
                    <a:lstStyle/>
                    <a:p>
                      <a:pPr>
                        <a:spcBef>
                          <a:spcPts val="500"/>
                        </a:spcBef>
                        <a:spcAft>
                          <a:spcPts val="500"/>
                        </a:spcAft>
                        <a:buNone/>
                      </a:pPr>
                      <a:r>
                        <a:rPr lang="en-IN" sz="2400">
                          <a:effectLst/>
                        </a:rPr>
                        <a:t>PROPOSED WORK: D. Cenitta, G. K. Shwetha, K. P. Vyshali Rao, et al.</a:t>
                      </a:r>
                      <a:endParaRPr lang="en-IN" sz="2400">
                        <a:effectLst/>
                        <a:latin typeface="Times New Roman" panose="02020603050405020304" pitchFamily="18" charset="0"/>
                        <a:ea typeface="Times New Roman" panose="02020603050405020304" pitchFamily="18" charset="0"/>
                      </a:endParaRPr>
                    </a:p>
                  </a:txBody>
                  <a:tcPr marL="63500" marR="63500" marT="63500" marB="63500" anchor="ctr"/>
                </a:tc>
                <a:tc>
                  <a:txBody>
                    <a:bodyPr/>
                    <a:lstStyle/>
                    <a:p>
                      <a:pPr>
                        <a:spcBef>
                          <a:spcPts val="500"/>
                        </a:spcBef>
                        <a:spcAft>
                          <a:spcPts val="500"/>
                        </a:spcAft>
                        <a:buNone/>
                      </a:pPr>
                      <a:r>
                        <a:rPr lang="en-IN" sz="2400">
                          <a:effectLst/>
                        </a:rPr>
                        <a:t>Explainable AI with homomorphic encryption for secure cloud-based ECG analysis in heart disease diagnosis</a:t>
                      </a:r>
                      <a:endParaRPr lang="en-IN" sz="2400">
                        <a:effectLst/>
                        <a:latin typeface="Times New Roman" panose="02020603050405020304" pitchFamily="18" charset="0"/>
                        <a:ea typeface="Times New Roman" panose="02020603050405020304" pitchFamily="18" charset="0"/>
                      </a:endParaRPr>
                    </a:p>
                  </a:txBody>
                  <a:tcPr marL="63500" marR="63500" marT="63500" marB="63500" anchor="ctr"/>
                </a:tc>
                <a:tc>
                  <a:txBody>
                    <a:bodyPr/>
                    <a:lstStyle/>
                    <a:p>
                      <a:pPr>
                        <a:spcBef>
                          <a:spcPts val="500"/>
                        </a:spcBef>
                        <a:spcAft>
                          <a:spcPts val="500"/>
                        </a:spcAft>
                        <a:buNone/>
                      </a:pPr>
                      <a:r>
                        <a:rPr lang="en-IN" sz="2400">
                          <a:effectLst/>
                        </a:rPr>
                        <a:t>Integrated CKKS homomorphic encryption with CNN and SHAP for secure ECG classification. Achieved 94.2% plaintext and 93.4% encrypted accuracy with 420ms latency. SHAP explanations validated by cardiologists (91% agreement, Cohen's κ=0.82). First framework combining privacy, interpretability, and clinical validation</a:t>
                      </a:r>
                      <a:endParaRPr lang="en-IN" sz="2400">
                        <a:effectLst/>
                        <a:latin typeface="Times New Roman" panose="02020603050405020304" pitchFamily="18" charset="0"/>
                        <a:ea typeface="Times New Roman" panose="02020603050405020304" pitchFamily="18" charset="0"/>
                      </a:endParaRPr>
                    </a:p>
                  </a:txBody>
                  <a:tcPr marL="63500" marR="63500" marT="63500" marB="63500"/>
                </a:tc>
                <a:tc>
                  <a:txBody>
                    <a:bodyPr/>
                    <a:lstStyle/>
                    <a:p>
                      <a:pPr>
                        <a:spcBef>
                          <a:spcPts val="500"/>
                        </a:spcBef>
                        <a:spcAft>
                          <a:spcPts val="500"/>
                        </a:spcAft>
                        <a:buNone/>
                      </a:pPr>
                      <a:r>
                        <a:rPr lang="en-IN" sz="2400">
                          <a:effectLst/>
                        </a:rPr>
                        <a:t>Validation limited to MIT-BIH dataset, small-scale clinician study (100 samples, 3 experts), not tested against all attack vectors, may not generalize to noisy wearable ECG without retraining</a:t>
                      </a:r>
                      <a:endParaRPr lang="en-IN" sz="2400">
                        <a:effectLst/>
                        <a:latin typeface="Times New Roman" panose="02020603050405020304" pitchFamily="18" charset="0"/>
                        <a:ea typeface="Times New Roman" panose="02020603050405020304" pitchFamily="18" charset="0"/>
                      </a:endParaRPr>
                    </a:p>
                  </a:txBody>
                  <a:tcPr marL="63500" marR="63500" marT="63500" marB="63500"/>
                </a:tc>
                <a:tc>
                  <a:txBody>
                    <a:bodyPr/>
                    <a:lstStyle/>
                    <a:p>
                      <a:pPr algn="ctr">
                        <a:spcBef>
                          <a:spcPts val="500"/>
                        </a:spcBef>
                        <a:spcAft>
                          <a:spcPts val="500"/>
                        </a:spcAft>
                        <a:buNone/>
                      </a:pPr>
                      <a:r>
                        <a:rPr lang="en-IN" sz="2400" dirty="0">
                          <a:effectLst/>
                        </a:rPr>
                        <a:t>2025</a:t>
                      </a:r>
                      <a:endParaRPr lang="en-IN" sz="2400" dirty="0">
                        <a:effectLst/>
                        <a:latin typeface="Times New Roman" panose="02020603050405020304" pitchFamily="18" charset="0"/>
                        <a:ea typeface="Times New Roman" panose="02020603050405020304" pitchFamily="18" charset="0"/>
                      </a:endParaRPr>
                    </a:p>
                  </a:txBody>
                  <a:tcPr marL="63500" marR="63500" marT="63500" marB="63500" anchor="ctr"/>
                </a:tc>
                <a:extLst>
                  <a:ext uri="{0D108BD9-81ED-4DB2-BD59-A6C34878D82A}">
                    <a16:rowId xmlns:a16="http://schemas.microsoft.com/office/drawing/2014/main" val="360491356"/>
                  </a:ext>
                </a:extLst>
              </a:tr>
            </a:tbl>
          </a:graphicData>
        </a:graphic>
      </p:graphicFrame>
    </p:spTree>
    <p:extLst>
      <p:ext uri="{BB962C8B-B14F-4D97-AF65-F5344CB8AC3E}">
        <p14:creationId xmlns:p14="http://schemas.microsoft.com/office/powerpoint/2010/main" val="22317608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8575" y="9525"/>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grpSp>
        <p:nvGrpSpPr>
          <p:cNvPr id="4" name="Group 4"/>
          <p:cNvGrpSpPr/>
          <p:nvPr/>
        </p:nvGrpSpPr>
        <p:grpSpPr>
          <a:xfrm>
            <a:off x="161077" y="196828"/>
            <a:ext cx="17959134" cy="9910974"/>
            <a:chOff x="0" y="0"/>
            <a:chExt cx="4729978" cy="2610298"/>
          </a:xfrm>
        </p:grpSpPr>
        <p:sp>
          <p:nvSpPr>
            <p:cNvPr id="5" name="Freeform 5"/>
            <p:cNvSpPr/>
            <p:nvPr/>
          </p:nvSpPr>
          <p:spPr>
            <a:xfrm>
              <a:off x="0" y="0"/>
              <a:ext cx="4729978" cy="2610298"/>
            </a:xfrm>
            <a:custGeom>
              <a:avLst/>
              <a:gdLst/>
              <a:ahLst/>
              <a:cxnLst/>
              <a:rect l="l" t="t" r="r" b="b"/>
              <a:pathLst>
                <a:path w="4729978" h="2610298">
                  <a:moveTo>
                    <a:pt x="0" y="0"/>
                  </a:moveTo>
                  <a:lnTo>
                    <a:pt x="4729978" y="0"/>
                  </a:lnTo>
                  <a:lnTo>
                    <a:pt x="4729978" y="2610298"/>
                  </a:lnTo>
                  <a:lnTo>
                    <a:pt x="0" y="2610298"/>
                  </a:lnTo>
                  <a:close/>
                </a:path>
              </a:pathLst>
            </a:custGeom>
            <a:solidFill>
              <a:srgbClr val="000000">
                <a:alpha val="0"/>
              </a:srgbClr>
            </a:solidFill>
            <a:ln w="28575" cap="sq">
              <a:solidFill>
                <a:srgbClr val="000000"/>
              </a:solidFill>
              <a:prstDash val="solid"/>
              <a:miter/>
            </a:ln>
          </p:spPr>
        </p:sp>
        <p:sp>
          <p:nvSpPr>
            <p:cNvPr id="6" name="TextBox 6"/>
            <p:cNvSpPr txBox="1"/>
            <p:nvPr/>
          </p:nvSpPr>
          <p:spPr>
            <a:xfrm>
              <a:off x="0" y="-38100"/>
              <a:ext cx="4729978" cy="2648398"/>
            </a:xfrm>
            <a:prstGeom prst="rect">
              <a:avLst/>
            </a:prstGeom>
          </p:spPr>
          <p:txBody>
            <a:bodyPr lIns="50800" tIns="50800" rIns="50800" bIns="50800" rtlCol="0" anchor="ctr"/>
            <a:lstStyle/>
            <a:p>
              <a:pPr algn="ctr">
                <a:lnSpc>
                  <a:spcPts val="2659"/>
                </a:lnSpc>
                <a:spcBef>
                  <a:spcPct val="0"/>
                </a:spcBef>
              </a:pPr>
              <a:endParaRPr/>
            </a:p>
          </p:txBody>
        </p:sp>
      </p:grpSp>
      <p:grpSp>
        <p:nvGrpSpPr>
          <p:cNvPr id="40" name="Group 40"/>
          <p:cNvGrpSpPr/>
          <p:nvPr/>
        </p:nvGrpSpPr>
        <p:grpSpPr>
          <a:xfrm>
            <a:off x="392782" y="9324975"/>
            <a:ext cx="578768" cy="578768"/>
            <a:chOff x="0" y="0"/>
            <a:chExt cx="152433" cy="152433"/>
          </a:xfrm>
        </p:grpSpPr>
        <p:sp>
          <p:nvSpPr>
            <p:cNvPr id="41" name="Freeform 41"/>
            <p:cNvSpPr/>
            <p:nvPr/>
          </p:nvSpPr>
          <p:spPr>
            <a:xfrm>
              <a:off x="0" y="0"/>
              <a:ext cx="152433" cy="152433"/>
            </a:xfrm>
            <a:custGeom>
              <a:avLst/>
              <a:gdLst/>
              <a:ahLst/>
              <a:cxnLst/>
              <a:rect l="l" t="t" r="r" b="b"/>
              <a:pathLst>
                <a:path w="152433" h="152433">
                  <a:moveTo>
                    <a:pt x="0" y="0"/>
                  </a:moveTo>
                  <a:lnTo>
                    <a:pt x="152433" y="0"/>
                  </a:lnTo>
                  <a:lnTo>
                    <a:pt x="152433" y="152433"/>
                  </a:lnTo>
                  <a:lnTo>
                    <a:pt x="0" y="152433"/>
                  </a:lnTo>
                  <a:close/>
                </a:path>
              </a:pathLst>
            </a:custGeom>
            <a:solidFill>
              <a:srgbClr val="FF4500"/>
            </a:solidFill>
          </p:spPr>
        </p:sp>
        <p:sp>
          <p:nvSpPr>
            <p:cNvPr id="42" name="TextBox 42"/>
            <p:cNvSpPr txBox="1"/>
            <p:nvPr/>
          </p:nvSpPr>
          <p:spPr>
            <a:xfrm>
              <a:off x="0" y="-47625"/>
              <a:ext cx="152433" cy="200058"/>
            </a:xfrm>
            <a:prstGeom prst="rect">
              <a:avLst/>
            </a:prstGeom>
          </p:spPr>
          <p:txBody>
            <a:bodyPr lIns="50800" tIns="50800" rIns="50800" bIns="50800" rtlCol="0" anchor="ctr"/>
            <a:lstStyle/>
            <a:p>
              <a:pPr algn="ctr">
                <a:lnSpc>
                  <a:spcPts val="3499"/>
                </a:lnSpc>
              </a:pPr>
              <a:r>
                <a:rPr lang="en-US" sz="2499">
                  <a:solidFill>
                    <a:srgbClr val="FFFFFF"/>
                  </a:solidFill>
                  <a:latin typeface="Canva Sans"/>
                  <a:ea typeface="Canva Sans"/>
                  <a:cs typeface="Canva Sans"/>
                  <a:sym typeface="Canva Sans"/>
                </a:rPr>
                <a:t>11</a:t>
              </a:r>
            </a:p>
          </p:txBody>
        </p:sp>
      </p:grpSp>
      <p:grpSp>
        <p:nvGrpSpPr>
          <p:cNvPr id="43" name="Group 43"/>
          <p:cNvGrpSpPr/>
          <p:nvPr/>
        </p:nvGrpSpPr>
        <p:grpSpPr>
          <a:xfrm>
            <a:off x="392782" y="196828"/>
            <a:ext cx="13970595" cy="1285882"/>
            <a:chOff x="0" y="0"/>
            <a:chExt cx="18627460" cy="1714510"/>
          </a:xfrm>
        </p:grpSpPr>
        <p:sp>
          <p:nvSpPr>
            <p:cNvPr id="44" name="Freeform 44"/>
            <p:cNvSpPr/>
            <p:nvPr/>
          </p:nvSpPr>
          <p:spPr>
            <a:xfrm>
              <a:off x="0" y="0"/>
              <a:ext cx="18627460" cy="1714510"/>
            </a:xfrm>
            <a:custGeom>
              <a:avLst/>
              <a:gdLst/>
              <a:ahLst/>
              <a:cxnLst/>
              <a:rect l="l" t="t" r="r" b="b"/>
              <a:pathLst>
                <a:path w="18627460" h="1714510">
                  <a:moveTo>
                    <a:pt x="0" y="0"/>
                  </a:moveTo>
                  <a:lnTo>
                    <a:pt x="18627460" y="0"/>
                  </a:lnTo>
                  <a:lnTo>
                    <a:pt x="18627460" y="1714510"/>
                  </a:lnTo>
                  <a:lnTo>
                    <a:pt x="0" y="1714510"/>
                  </a:lnTo>
                  <a:close/>
                </a:path>
              </a:pathLst>
            </a:custGeom>
            <a:solidFill>
              <a:srgbClr val="000000">
                <a:alpha val="0"/>
              </a:srgbClr>
            </a:solidFill>
          </p:spPr>
        </p:sp>
        <p:sp>
          <p:nvSpPr>
            <p:cNvPr id="45" name="TextBox 45"/>
            <p:cNvSpPr txBox="1"/>
            <p:nvPr/>
          </p:nvSpPr>
          <p:spPr>
            <a:xfrm>
              <a:off x="0" y="-123825"/>
              <a:ext cx="18627460" cy="1838335"/>
            </a:xfrm>
            <a:prstGeom prst="rect">
              <a:avLst/>
            </a:prstGeom>
          </p:spPr>
          <p:txBody>
            <a:bodyPr lIns="0" tIns="0" rIns="0" bIns="0" rtlCol="0" anchor="b"/>
            <a:lstStyle/>
            <a:p>
              <a:pPr algn="l">
                <a:lnSpc>
                  <a:spcPts val="7200"/>
                </a:lnSpc>
              </a:pPr>
              <a:r>
                <a:rPr lang="en-US" sz="6000" b="1">
                  <a:solidFill>
                    <a:srgbClr val="001D58"/>
                  </a:solidFill>
                  <a:latin typeface="Times New Roman Bold"/>
                  <a:ea typeface="Times New Roman Bold"/>
                  <a:cs typeface="Times New Roman Bold"/>
                  <a:sym typeface="Times New Roman Bold"/>
                </a:rPr>
                <a:t>PROPOSED TECHNIQUE</a:t>
              </a:r>
            </a:p>
          </p:txBody>
        </p:sp>
      </p:grpSp>
      <p:sp>
        <p:nvSpPr>
          <p:cNvPr id="51" name="Freeform 51"/>
          <p:cNvSpPr/>
          <p:nvPr/>
        </p:nvSpPr>
        <p:spPr>
          <a:xfrm>
            <a:off x="13976138" y="404027"/>
            <a:ext cx="3922888" cy="880198"/>
          </a:xfrm>
          <a:custGeom>
            <a:avLst/>
            <a:gdLst/>
            <a:ahLst/>
            <a:cxnLst/>
            <a:rect l="l" t="t" r="r" b="b"/>
            <a:pathLst>
              <a:path w="3922888" h="880198">
                <a:moveTo>
                  <a:pt x="0" y="0"/>
                </a:moveTo>
                <a:lnTo>
                  <a:pt x="3922888" y="0"/>
                </a:lnTo>
                <a:lnTo>
                  <a:pt x="3922888" y="880199"/>
                </a:lnTo>
                <a:lnTo>
                  <a:pt x="0" y="880199"/>
                </a:lnTo>
                <a:lnTo>
                  <a:pt x="0" y="0"/>
                </a:lnTo>
                <a:close/>
              </a:path>
            </a:pathLst>
          </a:custGeom>
          <a:blipFill>
            <a:blip r:embed="rId2"/>
            <a:stretch>
              <a:fillRect/>
            </a:stretch>
          </a:blipFill>
        </p:spPr>
      </p:sp>
      <p:sp>
        <p:nvSpPr>
          <p:cNvPr id="52" name="TextBox 52"/>
          <p:cNvSpPr txBox="1"/>
          <p:nvPr/>
        </p:nvSpPr>
        <p:spPr>
          <a:xfrm>
            <a:off x="15490814" y="9030873"/>
            <a:ext cx="1853882" cy="528991"/>
          </a:xfrm>
          <a:prstGeom prst="rect">
            <a:avLst/>
          </a:prstGeom>
        </p:spPr>
        <p:txBody>
          <a:bodyPr lIns="0" tIns="0" rIns="0" bIns="0" rtlCol="0" anchor="t">
            <a:spAutoFit/>
          </a:bodyPr>
          <a:lstStyle/>
          <a:p>
            <a:pPr algn="ctr">
              <a:lnSpc>
                <a:spcPts val="4480"/>
              </a:lnSpc>
            </a:pPr>
            <a:r>
              <a:rPr lang="en-US" sz="3200" dirty="0">
                <a:solidFill>
                  <a:srgbClr val="000000"/>
                </a:solidFill>
                <a:latin typeface="Times New Roman"/>
                <a:ea typeface="Times New Roman"/>
                <a:cs typeface="Times New Roman"/>
                <a:sym typeface="Times New Roman"/>
              </a:rPr>
              <a:t>16/02/2026</a:t>
            </a:r>
          </a:p>
        </p:txBody>
      </p:sp>
      <p:graphicFrame>
        <p:nvGraphicFramePr>
          <p:cNvPr id="53" name="Table 52">
            <a:extLst>
              <a:ext uri="{FF2B5EF4-FFF2-40B4-BE49-F238E27FC236}">
                <a16:creationId xmlns:a16="http://schemas.microsoft.com/office/drawing/2014/main" id="{1F0A0008-C02F-8F68-E98B-CDC0AB69CC8E}"/>
              </a:ext>
            </a:extLst>
          </p:cNvPr>
          <p:cNvGraphicFramePr>
            <a:graphicFrameLocks noGrp="1"/>
          </p:cNvGraphicFramePr>
          <p:nvPr>
            <p:extLst>
              <p:ext uri="{D42A27DB-BD31-4B8C-83A1-F6EECF244321}">
                <p14:modId xmlns:p14="http://schemas.microsoft.com/office/powerpoint/2010/main" val="1506744532"/>
              </p:ext>
            </p:extLst>
          </p:nvPr>
        </p:nvGraphicFramePr>
        <p:xfrm>
          <a:off x="946812" y="1809494"/>
          <a:ext cx="16397882" cy="6748970"/>
        </p:xfrm>
        <a:graphic>
          <a:graphicData uri="http://schemas.openxmlformats.org/drawingml/2006/table">
            <a:tbl>
              <a:tblPr firstRow="1" firstCol="1" bandRow="1">
                <a:tableStyleId>{5C22544A-7EE6-4342-B048-85BDC9FD1C3A}</a:tableStyleId>
              </a:tblPr>
              <a:tblGrid>
                <a:gridCol w="1452977">
                  <a:extLst>
                    <a:ext uri="{9D8B030D-6E8A-4147-A177-3AD203B41FA5}">
                      <a16:colId xmlns:a16="http://schemas.microsoft.com/office/drawing/2014/main" val="1332942542"/>
                    </a:ext>
                  </a:extLst>
                </a:gridCol>
                <a:gridCol w="207568">
                  <a:extLst>
                    <a:ext uri="{9D8B030D-6E8A-4147-A177-3AD203B41FA5}">
                      <a16:colId xmlns:a16="http://schemas.microsoft.com/office/drawing/2014/main" val="890390626"/>
                    </a:ext>
                  </a:extLst>
                </a:gridCol>
                <a:gridCol w="1452977">
                  <a:extLst>
                    <a:ext uri="{9D8B030D-6E8A-4147-A177-3AD203B41FA5}">
                      <a16:colId xmlns:a16="http://schemas.microsoft.com/office/drawing/2014/main" val="1337812250"/>
                    </a:ext>
                  </a:extLst>
                </a:gridCol>
                <a:gridCol w="207568">
                  <a:extLst>
                    <a:ext uri="{9D8B030D-6E8A-4147-A177-3AD203B41FA5}">
                      <a16:colId xmlns:a16="http://schemas.microsoft.com/office/drawing/2014/main" val="2496433119"/>
                    </a:ext>
                  </a:extLst>
                </a:gridCol>
                <a:gridCol w="1452977">
                  <a:extLst>
                    <a:ext uri="{9D8B030D-6E8A-4147-A177-3AD203B41FA5}">
                      <a16:colId xmlns:a16="http://schemas.microsoft.com/office/drawing/2014/main" val="3371608860"/>
                    </a:ext>
                  </a:extLst>
                </a:gridCol>
                <a:gridCol w="207568">
                  <a:extLst>
                    <a:ext uri="{9D8B030D-6E8A-4147-A177-3AD203B41FA5}">
                      <a16:colId xmlns:a16="http://schemas.microsoft.com/office/drawing/2014/main" val="632359444"/>
                    </a:ext>
                  </a:extLst>
                </a:gridCol>
                <a:gridCol w="1452977">
                  <a:extLst>
                    <a:ext uri="{9D8B030D-6E8A-4147-A177-3AD203B41FA5}">
                      <a16:colId xmlns:a16="http://schemas.microsoft.com/office/drawing/2014/main" val="3395498378"/>
                    </a:ext>
                  </a:extLst>
                </a:gridCol>
                <a:gridCol w="207568">
                  <a:extLst>
                    <a:ext uri="{9D8B030D-6E8A-4147-A177-3AD203B41FA5}">
                      <a16:colId xmlns:a16="http://schemas.microsoft.com/office/drawing/2014/main" val="334054392"/>
                    </a:ext>
                  </a:extLst>
                </a:gridCol>
                <a:gridCol w="1452977">
                  <a:extLst>
                    <a:ext uri="{9D8B030D-6E8A-4147-A177-3AD203B41FA5}">
                      <a16:colId xmlns:a16="http://schemas.microsoft.com/office/drawing/2014/main" val="770154043"/>
                    </a:ext>
                  </a:extLst>
                </a:gridCol>
                <a:gridCol w="207568">
                  <a:extLst>
                    <a:ext uri="{9D8B030D-6E8A-4147-A177-3AD203B41FA5}">
                      <a16:colId xmlns:a16="http://schemas.microsoft.com/office/drawing/2014/main" val="4188648900"/>
                    </a:ext>
                  </a:extLst>
                </a:gridCol>
                <a:gridCol w="1452977">
                  <a:extLst>
                    <a:ext uri="{9D8B030D-6E8A-4147-A177-3AD203B41FA5}">
                      <a16:colId xmlns:a16="http://schemas.microsoft.com/office/drawing/2014/main" val="4244051990"/>
                    </a:ext>
                  </a:extLst>
                </a:gridCol>
                <a:gridCol w="207568">
                  <a:extLst>
                    <a:ext uri="{9D8B030D-6E8A-4147-A177-3AD203B41FA5}">
                      <a16:colId xmlns:a16="http://schemas.microsoft.com/office/drawing/2014/main" val="1338172404"/>
                    </a:ext>
                  </a:extLst>
                </a:gridCol>
                <a:gridCol w="1452977">
                  <a:extLst>
                    <a:ext uri="{9D8B030D-6E8A-4147-A177-3AD203B41FA5}">
                      <a16:colId xmlns:a16="http://schemas.microsoft.com/office/drawing/2014/main" val="1194763413"/>
                    </a:ext>
                  </a:extLst>
                </a:gridCol>
                <a:gridCol w="207568">
                  <a:extLst>
                    <a:ext uri="{9D8B030D-6E8A-4147-A177-3AD203B41FA5}">
                      <a16:colId xmlns:a16="http://schemas.microsoft.com/office/drawing/2014/main" val="1619600014"/>
                    </a:ext>
                  </a:extLst>
                </a:gridCol>
                <a:gridCol w="1452977">
                  <a:extLst>
                    <a:ext uri="{9D8B030D-6E8A-4147-A177-3AD203B41FA5}">
                      <a16:colId xmlns:a16="http://schemas.microsoft.com/office/drawing/2014/main" val="2949477084"/>
                    </a:ext>
                  </a:extLst>
                </a:gridCol>
                <a:gridCol w="207568">
                  <a:extLst>
                    <a:ext uri="{9D8B030D-6E8A-4147-A177-3AD203B41FA5}">
                      <a16:colId xmlns:a16="http://schemas.microsoft.com/office/drawing/2014/main" val="2372058610"/>
                    </a:ext>
                  </a:extLst>
                </a:gridCol>
                <a:gridCol w="1452977">
                  <a:extLst>
                    <a:ext uri="{9D8B030D-6E8A-4147-A177-3AD203B41FA5}">
                      <a16:colId xmlns:a16="http://schemas.microsoft.com/office/drawing/2014/main" val="2436326600"/>
                    </a:ext>
                  </a:extLst>
                </a:gridCol>
                <a:gridCol w="207568">
                  <a:extLst>
                    <a:ext uri="{9D8B030D-6E8A-4147-A177-3AD203B41FA5}">
                      <a16:colId xmlns:a16="http://schemas.microsoft.com/office/drawing/2014/main" val="1203922743"/>
                    </a:ext>
                  </a:extLst>
                </a:gridCol>
                <a:gridCol w="1452977">
                  <a:extLst>
                    <a:ext uri="{9D8B030D-6E8A-4147-A177-3AD203B41FA5}">
                      <a16:colId xmlns:a16="http://schemas.microsoft.com/office/drawing/2014/main" val="2084443421"/>
                    </a:ext>
                  </a:extLst>
                </a:gridCol>
              </a:tblGrid>
              <a:tr h="6748970">
                <a:tc>
                  <a:txBody>
                    <a:bodyPr/>
                    <a:lstStyle/>
                    <a:p>
                      <a:pPr algn="ctr">
                        <a:spcBef>
                          <a:spcPts val="500"/>
                        </a:spcBef>
                        <a:spcAft>
                          <a:spcPts val="500"/>
                        </a:spcAft>
                        <a:buNone/>
                      </a:pPr>
                      <a:r>
                        <a:rPr lang="en-IN" sz="2000" dirty="0">
                          <a:ln>
                            <a:solidFill>
                              <a:schemeClr val="bg1"/>
                            </a:solidFill>
                          </a:ln>
                          <a:solidFill>
                            <a:schemeClr val="bg1"/>
                          </a:solidFill>
                          <a:effectLst/>
                        </a:rPr>
                        <a:t>ECG DATA ACQUISITION</a:t>
                      </a:r>
                    </a:p>
                    <a:p>
                      <a:pPr algn="ctr">
                        <a:spcBef>
                          <a:spcPts val="250"/>
                        </a:spcBef>
                        <a:spcAft>
                          <a:spcPts val="500"/>
                        </a:spcAft>
                        <a:buNone/>
                      </a:pPr>
                      <a:r>
                        <a:rPr lang="en-IN" sz="2000" dirty="0">
                          <a:ln>
                            <a:solidFill>
                              <a:schemeClr val="bg1"/>
                            </a:solidFill>
                          </a:ln>
                          <a:solidFill>
                            <a:schemeClr val="bg1"/>
                          </a:solidFill>
                          <a:effectLst/>
                        </a:rPr>
                        <a:t>707 Images Normal: 295 Abnormal: 242 MI: 170</a:t>
                      </a:r>
                    </a:p>
                    <a:p>
                      <a:pPr algn="ctr">
                        <a:spcBef>
                          <a:spcPts val="250"/>
                        </a:spcBef>
                        <a:spcAft>
                          <a:spcPts val="250"/>
                        </a:spcAft>
                        <a:buNone/>
                      </a:pPr>
                      <a:r>
                        <a:rPr lang="en-IN" sz="2000" dirty="0">
                          <a:ln>
                            <a:solidFill>
                              <a:schemeClr val="bg1"/>
                            </a:solidFill>
                          </a:ln>
                          <a:solidFill>
                            <a:schemeClr val="bg1"/>
                          </a:solidFill>
                          <a:effectLst/>
                        </a:rPr>
                        <a:t>Step 1</a:t>
                      </a:r>
                      <a:endParaRPr lang="en-IN" sz="2000" dirty="0">
                        <a:ln>
                          <a:solidFill>
                            <a:schemeClr val="bg1"/>
                          </a:solidFill>
                        </a:ln>
                        <a:solidFill>
                          <a:schemeClr val="bg1"/>
                        </a:solidFill>
                        <a:effectLst/>
                        <a:latin typeface="Times New Roman" panose="02020603050405020304" pitchFamily="18" charset="0"/>
                        <a:ea typeface="Times New Roman" panose="02020603050405020304" pitchFamily="18" charset="0"/>
                      </a:endParaRPr>
                    </a:p>
                  </a:txBody>
                  <a:tcPr marL="54429" marR="54429" marT="81643" marB="8164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cell3D prstMaterial="dkEdge">
                      <a:bevel/>
                      <a:lightRig rig="flood" dir="t"/>
                    </a:cell3D>
                    <a:solidFill>
                      <a:schemeClr val="tx2"/>
                    </a:solidFill>
                  </a:tcPr>
                </a:tc>
                <a:tc>
                  <a:txBody>
                    <a:bodyPr/>
                    <a:lstStyle/>
                    <a:p>
                      <a:pPr algn="ctr">
                        <a:buNone/>
                      </a:pPr>
                      <a:r>
                        <a:rPr lang="en-IN" sz="2000">
                          <a:ln>
                            <a:solidFill>
                              <a:schemeClr val="bg1"/>
                            </a:solidFill>
                          </a:ln>
                          <a:solidFill>
                            <a:schemeClr val="bg1"/>
                          </a:solidFill>
                          <a:effectLst/>
                        </a:rPr>
                        <a:t>→</a:t>
                      </a:r>
                      <a:endParaRPr lang="en-IN" sz="2000">
                        <a:ln>
                          <a:solidFill>
                            <a:schemeClr val="bg1"/>
                          </a:solidFill>
                        </a:ln>
                        <a:solidFill>
                          <a:schemeClr val="bg1"/>
                        </a:solidFill>
                        <a:effectLst/>
                        <a:latin typeface="Times New Roman" panose="02020603050405020304" pitchFamily="18" charset="0"/>
                        <a:ea typeface="Times New Roman" panose="02020603050405020304" pitchFamily="18" charset="0"/>
                      </a:endParaRPr>
                    </a:p>
                  </a:txBody>
                  <a:tcPr marL="5443" marR="5443"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cell3D prstMaterial="dkEdge">
                      <a:bevel/>
                      <a:lightRig rig="flood" dir="t"/>
                    </a:cell3D>
                    <a:solidFill>
                      <a:schemeClr val="tx2"/>
                    </a:solidFill>
                  </a:tcPr>
                </a:tc>
                <a:tc>
                  <a:txBody>
                    <a:bodyPr/>
                    <a:lstStyle/>
                    <a:p>
                      <a:pPr algn="ctr">
                        <a:spcBef>
                          <a:spcPts val="500"/>
                        </a:spcBef>
                        <a:spcAft>
                          <a:spcPts val="500"/>
                        </a:spcAft>
                        <a:buNone/>
                      </a:pPr>
                      <a:r>
                        <a:rPr lang="en-IN" sz="2000">
                          <a:ln>
                            <a:solidFill>
                              <a:schemeClr val="bg1"/>
                            </a:solidFill>
                          </a:ln>
                          <a:solidFill>
                            <a:schemeClr val="bg1"/>
                          </a:solidFill>
                          <a:effectLst/>
                        </a:rPr>
                        <a:t>DATA AUGMENTATION</a:t>
                      </a:r>
                    </a:p>
                    <a:p>
                      <a:pPr algn="ctr">
                        <a:spcBef>
                          <a:spcPts val="250"/>
                        </a:spcBef>
                        <a:spcAft>
                          <a:spcPts val="500"/>
                        </a:spcAft>
                        <a:buNone/>
                      </a:pPr>
                      <a:r>
                        <a:rPr lang="en-IN" sz="2000">
                          <a:ln>
                            <a:solidFill>
                              <a:schemeClr val="bg1"/>
                            </a:solidFill>
                          </a:ln>
                          <a:solidFill>
                            <a:schemeClr val="bg1"/>
                          </a:solidFill>
                          <a:effectLst/>
                        </a:rPr>
                        <a:t>5x-8x Multiplication  Target: 3,500-7,000</a:t>
                      </a:r>
                    </a:p>
                    <a:p>
                      <a:pPr algn="ctr">
                        <a:spcBef>
                          <a:spcPts val="250"/>
                        </a:spcBef>
                        <a:spcAft>
                          <a:spcPts val="250"/>
                        </a:spcAft>
                        <a:buNone/>
                      </a:pPr>
                      <a:r>
                        <a:rPr lang="en-IN" sz="2000">
                          <a:ln>
                            <a:solidFill>
                              <a:schemeClr val="bg1"/>
                            </a:solidFill>
                          </a:ln>
                          <a:solidFill>
                            <a:schemeClr val="bg1"/>
                          </a:solidFill>
                          <a:effectLst/>
                        </a:rPr>
                        <a:t>Step 2</a:t>
                      </a:r>
                      <a:endParaRPr lang="en-IN" sz="2000">
                        <a:ln>
                          <a:solidFill>
                            <a:schemeClr val="bg1"/>
                          </a:solidFill>
                        </a:ln>
                        <a:solidFill>
                          <a:schemeClr val="bg1"/>
                        </a:solidFill>
                        <a:effectLst/>
                        <a:latin typeface="Times New Roman" panose="02020603050405020304" pitchFamily="18" charset="0"/>
                        <a:ea typeface="Times New Roman" panose="02020603050405020304" pitchFamily="18" charset="0"/>
                      </a:endParaRPr>
                    </a:p>
                  </a:txBody>
                  <a:tcPr marL="54429" marR="54429" marT="81643" marB="8164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cell3D prstMaterial="dkEdge">
                      <a:bevel/>
                      <a:lightRig rig="flood" dir="t"/>
                    </a:cell3D>
                    <a:solidFill>
                      <a:schemeClr val="tx2"/>
                    </a:solidFill>
                  </a:tcPr>
                </a:tc>
                <a:tc>
                  <a:txBody>
                    <a:bodyPr/>
                    <a:lstStyle/>
                    <a:p>
                      <a:pPr algn="ctr">
                        <a:buNone/>
                      </a:pPr>
                      <a:r>
                        <a:rPr lang="en-IN" sz="2000">
                          <a:ln>
                            <a:solidFill>
                              <a:schemeClr val="bg1"/>
                            </a:solidFill>
                          </a:ln>
                          <a:solidFill>
                            <a:schemeClr val="bg1"/>
                          </a:solidFill>
                          <a:effectLst/>
                        </a:rPr>
                        <a:t>→</a:t>
                      </a:r>
                      <a:endParaRPr lang="en-IN" sz="2000">
                        <a:ln>
                          <a:solidFill>
                            <a:schemeClr val="bg1"/>
                          </a:solidFill>
                        </a:ln>
                        <a:solidFill>
                          <a:schemeClr val="bg1"/>
                        </a:solidFill>
                        <a:effectLst/>
                        <a:latin typeface="Times New Roman" panose="02020603050405020304" pitchFamily="18" charset="0"/>
                        <a:ea typeface="Times New Roman" panose="02020603050405020304" pitchFamily="18" charset="0"/>
                      </a:endParaRPr>
                    </a:p>
                  </a:txBody>
                  <a:tcPr marL="5443" marR="5443"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cell3D prstMaterial="dkEdge">
                      <a:bevel/>
                      <a:lightRig rig="flood" dir="t"/>
                    </a:cell3D>
                    <a:solidFill>
                      <a:schemeClr val="tx2"/>
                    </a:solidFill>
                  </a:tcPr>
                </a:tc>
                <a:tc>
                  <a:txBody>
                    <a:bodyPr/>
                    <a:lstStyle/>
                    <a:p>
                      <a:pPr algn="ctr">
                        <a:spcBef>
                          <a:spcPts val="500"/>
                        </a:spcBef>
                        <a:spcAft>
                          <a:spcPts val="500"/>
                        </a:spcAft>
                        <a:buNone/>
                      </a:pPr>
                      <a:r>
                        <a:rPr lang="en-IN" sz="2000">
                          <a:ln>
                            <a:solidFill>
                              <a:schemeClr val="bg1"/>
                            </a:solidFill>
                          </a:ln>
                          <a:solidFill>
                            <a:schemeClr val="bg1"/>
                          </a:solidFill>
                          <a:effectLst/>
                        </a:rPr>
                        <a:t>PRE-PROCESSING</a:t>
                      </a:r>
                    </a:p>
                    <a:p>
                      <a:pPr algn="ctr">
                        <a:spcBef>
                          <a:spcPts val="250"/>
                        </a:spcBef>
                        <a:spcAft>
                          <a:spcPts val="500"/>
                        </a:spcAft>
                        <a:buNone/>
                      </a:pPr>
                      <a:r>
                        <a:rPr lang="en-IN" sz="2000">
                          <a:ln>
                            <a:solidFill>
                              <a:schemeClr val="bg1"/>
                            </a:solidFill>
                          </a:ln>
                          <a:solidFill>
                            <a:schemeClr val="bg1"/>
                          </a:solidFill>
                          <a:effectLst/>
                        </a:rPr>
                        <a:t>• Filtering (0.5-40 Hz) • Noise removal • Normalize</a:t>
                      </a:r>
                    </a:p>
                    <a:p>
                      <a:pPr algn="ctr">
                        <a:spcBef>
                          <a:spcPts val="250"/>
                        </a:spcBef>
                        <a:spcAft>
                          <a:spcPts val="250"/>
                        </a:spcAft>
                        <a:buNone/>
                      </a:pPr>
                      <a:r>
                        <a:rPr lang="en-IN" sz="2000">
                          <a:ln>
                            <a:solidFill>
                              <a:schemeClr val="bg1"/>
                            </a:solidFill>
                          </a:ln>
                          <a:solidFill>
                            <a:schemeClr val="bg1"/>
                          </a:solidFill>
                          <a:effectLst/>
                        </a:rPr>
                        <a:t>Step 3</a:t>
                      </a:r>
                      <a:endParaRPr lang="en-IN" sz="2000">
                        <a:ln>
                          <a:solidFill>
                            <a:schemeClr val="bg1"/>
                          </a:solidFill>
                        </a:ln>
                        <a:solidFill>
                          <a:schemeClr val="bg1"/>
                        </a:solidFill>
                        <a:effectLst/>
                        <a:latin typeface="Times New Roman" panose="02020603050405020304" pitchFamily="18" charset="0"/>
                        <a:ea typeface="Times New Roman" panose="02020603050405020304" pitchFamily="18" charset="0"/>
                      </a:endParaRPr>
                    </a:p>
                  </a:txBody>
                  <a:tcPr marL="54429" marR="54429" marT="81643" marB="8164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cell3D prstMaterial="dkEdge">
                      <a:bevel/>
                      <a:lightRig rig="flood" dir="t"/>
                    </a:cell3D>
                    <a:solidFill>
                      <a:schemeClr val="tx2"/>
                    </a:solidFill>
                  </a:tcPr>
                </a:tc>
                <a:tc>
                  <a:txBody>
                    <a:bodyPr/>
                    <a:lstStyle/>
                    <a:p>
                      <a:pPr algn="ctr">
                        <a:buNone/>
                      </a:pPr>
                      <a:r>
                        <a:rPr lang="en-IN" sz="2000">
                          <a:ln>
                            <a:solidFill>
                              <a:schemeClr val="bg1"/>
                            </a:solidFill>
                          </a:ln>
                          <a:solidFill>
                            <a:schemeClr val="bg1"/>
                          </a:solidFill>
                          <a:effectLst/>
                        </a:rPr>
                        <a:t>→</a:t>
                      </a:r>
                      <a:endParaRPr lang="en-IN" sz="2000">
                        <a:ln>
                          <a:solidFill>
                            <a:schemeClr val="bg1"/>
                          </a:solidFill>
                        </a:ln>
                        <a:solidFill>
                          <a:schemeClr val="bg1"/>
                        </a:solidFill>
                        <a:effectLst/>
                        <a:latin typeface="Times New Roman" panose="02020603050405020304" pitchFamily="18" charset="0"/>
                        <a:ea typeface="Times New Roman" panose="02020603050405020304" pitchFamily="18" charset="0"/>
                      </a:endParaRPr>
                    </a:p>
                  </a:txBody>
                  <a:tcPr marL="5443" marR="5443"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cell3D prstMaterial="dkEdge">
                      <a:bevel/>
                      <a:lightRig rig="flood" dir="t"/>
                    </a:cell3D>
                    <a:solidFill>
                      <a:schemeClr val="tx2"/>
                    </a:solidFill>
                  </a:tcPr>
                </a:tc>
                <a:tc>
                  <a:txBody>
                    <a:bodyPr/>
                    <a:lstStyle/>
                    <a:p>
                      <a:pPr algn="ctr">
                        <a:spcBef>
                          <a:spcPts val="500"/>
                        </a:spcBef>
                        <a:spcAft>
                          <a:spcPts val="500"/>
                        </a:spcAft>
                        <a:buNone/>
                      </a:pPr>
                      <a:r>
                        <a:rPr lang="en-IN" sz="2000" dirty="0">
                          <a:ln>
                            <a:solidFill>
                              <a:schemeClr val="bg1"/>
                            </a:solidFill>
                          </a:ln>
                          <a:solidFill>
                            <a:schemeClr val="bg1"/>
                          </a:solidFill>
                          <a:effectLst/>
                        </a:rPr>
                        <a:t>FEATURE EXTRACTION</a:t>
                      </a:r>
                    </a:p>
                    <a:p>
                      <a:pPr algn="ctr">
                        <a:spcBef>
                          <a:spcPts val="250"/>
                        </a:spcBef>
                        <a:spcAft>
                          <a:spcPts val="500"/>
                        </a:spcAft>
                        <a:buNone/>
                      </a:pPr>
                      <a:r>
                        <a:rPr lang="en-IN" sz="2000" dirty="0">
                          <a:ln>
                            <a:solidFill>
                              <a:schemeClr val="bg1"/>
                            </a:solidFill>
                          </a:ln>
                          <a:solidFill>
                            <a:schemeClr val="bg1"/>
                          </a:solidFill>
                          <a:effectLst/>
                        </a:rPr>
                        <a:t>45 Features  Morpho: 15 Stats: 10 Wavelet: 20</a:t>
                      </a:r>
                    </a:p>
                    <a:p>
                      <a:pPr algn="ctr">
                        <a:spcBef>
                          <a:spcPts val="250"/>
                        </a:spcBef>
                        <a:spcAft>
                          <a:spcPts val="250"/>
                        </a:spcAft>
                        <a:buNone/>
                      </a:pPr>
                      <a:r>
                        <a:rPr lang="en-IN" sz="2000" dirty="0">
                          <a:ln>
                            <a:solidFill>
                              <a:schemeClr val="bg1"/>
                            </a:solidFill>
                          </a:ln>
                          <a:solidFill>
                            <a:schemeClr val="bg1"/>
                          </a:solidFill>
                          <a:effectLst/>
                        </a:rPr>
                        <a:t>Step 4</a:t>
                      </a:r>
                      <a:endParaRPr lang="en-IN" sz="2000" dirty="0">
                        <a:ln>
                          <a:solidFill>
                            <a:schemeClr val="bg1"/>
                          </a:solidFill>
                        </a:ln>
                        <a:solidFill>
                          <a:schemeClr val="bg1"/>
                        </a:solidFill>
                        <a:effectLst/>
                        <a:latin typeface="Times New Roman" panose="02020603050405020304" pitchFamily="18" charset="0"/>
                        <a:ea typeface="Times New Roman" panose="02020603050405020304" pitchFamily="18" charset="0"/>
                      </a:endParaRPr>
                    </a:p>
                  </a:txBody>
                  <a:tcPr marL="54429" marR="54429" marT="81643" marB="8164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cell3D prstMaterial="dkEdge">
                      <a:bevel/>
                      <a:lightRig rig="flood" dir="t"/>
                    </a:cell3D>
                    <a:solidFill>
                      <a:schemeClr val="tx2"/>
                    </a:solidFill>
                  </a:tcPr>
                </a:tc>
                <a:tc>
                  <a:txBody>
                    <a:bodyPr/>
                    <a:lstStyle/>
                    <a:p>
                      <a:pPr algn="ctr">
                        <a:buNone/>
                      </a:pPr>
                      <a:r>
                        <a:rPr lang="en-IN" sz="2000">
                          <a:ln>
                            <a:solidFill>
                              <a:schemeClr val="bg1"/>
                            </a:solidFill>
                          </a:ln>
                          <a:solidFill>
                            <a:schemeClr val="bg1"/>
                          </a:solidFill>
                          <a:effectLst/>
                        </a:rPr>
                        <a:t>→</a:t>
                      </a:r>
                      <a:endParaRPr lang="en-IN" sz="2000">
                        <a:ln>
                          <a:solidFill>
                            <a:schemeClr val="bg1"/>
                          </a:solidFill>
                        </a:ln>
                        <a:solidFill>
                          <a:schemeClr val="bg1"/>
                        </a:solidFill>
                        <a:effectLst/>
                        <a:latin typeface="Times New Roman" panose="02020603050405020304" pitchFamily="18" charset="0"/>
                        <a:ea typeface="Times New Roman" panose="02020603050405020304" pitchFamily="18" charset="0"/>
                      </a:endParaRPr>
                    </a:p>
                  </a:txBody>
                  <a:tcPr marL="5443" marR="5443"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cell3D prstMaterial="dkEdge">
                      <a:bevel/>
                      <a:lightRig rig="flood" dir="t"/>
                    </a:cell3D>
                    <a:solidFill>
                      <a:schemeClr val="tx2"/>
                    </a:solidFill>
                  </a:tcPr>
                </a:tc>
                <a:tc>
                  <a:txBody>
                    <a:bodyPr/>
                    <a:lstStyle/>
                    <a:p>
                      <a:pPr algn="ctr">
                        <a:spcBef>
                          <a:spcPts val="500"/>
                        </a:spcBef>
                        <a:spcAft>
                          <a:spcPts val="500"/>
                        </a:spcAft>
                        <a:buNone/>
                      </a:pPr>
                      <a:r>
                        <a:rPr lang="en-IN" sz="2000" dirty="0">
                          <a:ln>
                            <a:solidFill>
                              <a:schemeClr val="bg1"/>
                            </a:solidFill>
                          </a:ln>
                          <a:solidFill>
                            <a:schemeClr val="bg1"/>
                          </a:solidFill>
                          <a:effectLst/>
                        </a:rPr>
                        <a:t>HOMOMORPHIC ENCRYPTION</a:t>
                      </a:r>
                    </a:p>
                    <a:p>
                      <a:pPr algn="ctr">
                        <a:spcBef>
                          <a:spcPts val="250"/>
                        </a:spcBef>
                        <a:spcAft>
                          <a:spcPts val="500"/>
                        </a:spcAft>
                        <a:buNone/>
                      </a:pPr>
                      <a:r>
                        <a:rPr lang="en-IN" sz="2000" dirty="0">
                          <a:ln>
                            <a:solidFill>
                              <a:schemeClr val="bg1"/>
                            </a:solidFill>
                          </a:ln>
                          <a:solidFill>
                            <a:schemeClr val="bg1"/>
                          </a:solidFill>
                          <a:effectLst/>
                        </a:rPr>
                        <a:t>CKKS Scheme  128-bit Security  c = Encrypt(x)</a:t>
                      </a:r>
                    </a:p>
                    <a:p>
                      <a:pPr algn="ctr">
                        <a:spcBef>
                          <a:spcPts val="250"/>
                        </a:spcBef>
                        <a:spcAft>
                          <a:spcPts val="250"/>
                        </a:spcAft>
                        <a:buNone/>
                      </a:pPr>
                      <a:r>
                        <a:rPr lang="en-IN" sz="2000" dirty="0">
                          <a:ln>
                            <a:solidFill>
                              <a:schemeClr val="bg1"/>
                            </a:solidFill>
                          </a:ln>
                          <a:solidFill>
                            <a:schemeClr val="bg1"/>
                          </a:solidFill>
                          <a:effectLst/>
                        </a:rPr>
                        <a:t>Step 5</a:t>
                      </a:r>
                      <a:endParaRPr lang="en-IN" sz="2000" dirty="0">
                        <a:ln>
                          <a:solidFill>
                            <a:schemeClr val="bg1"/>
                          </a:solidFill>
                        </a:ln>
                        <a:solidFill>
                          <a:schemeClr val="bg1"/>
                        </a:solidFill>
                        <a:effectLst/>
                        <a:latin typeface="Times New Roman" panose="02020603050405020304" pitchFamily="18" charset="0"/>
                        <a:ea typeface="Times New Roman" panose="02020603050405020304" pitchFamily="18" charset="0"/>
                      </a:endParaRPr>
                    </a:p>
                  </a:txBody>
                  <a:tcPr marL="54429" marR="54429" marT="81643" marB="8164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cell3D prstMaterial="dkEdge">
                      <a:bevel/>
                      <a:lightRig rig="flood" dir="t"/>
                    </a:cell3D>
                    <a:solidFill>
                      <a:schemeClr val="tx2"/>
                    </a:solidFill>
                  </a:tcPr>
                </a:tc>
                <a:tc>
                  <a:txBody>
                    <a:bodyPr/>
                    <a:lstStyle/>
                    <a:p>
                      <a:pPr algn="ctr">
                        <a:buNone/>
                      </a:pPr>
                      <a:r>
                        <a:rPr lang="en-IN" sz="2000">
                          <a:ln>
                            <a:solidFill>
                              <a:schemeClr val="bg1"/>
                            </a:solidFill>
                          </a:ln>
                          <a:solidFill>
                            <a:schemeClr val="bg1"/>
                          </a:solidFill>
                          <a:effectLst/>
                        </a:rPr>
                        <a:t>→</a:t>
                      </a:r>
                      <a:endParaRPr lang="en-IN" sz="2000">
                        <a:ln>
                          <a:solidFill>
                            <a:schemeClr val="bg1"/>
                          </a:solidFill>
                        </a:ln>
                        <a:solidFill>
                          <a:schemeClr val="bg1"/>
                        </a:solidFill>
                        <a:effectLst/>
                        <a:latin typeface="Times New Roman" panose="02020603050405020304" pitchFamily="18" charset="0"/>
                        <a:ea typeface="Times New Roman" panose="02020603050405020304" pitchFamily="18" charset="0"/>
                      </a:endParaRPr>
                    </a:p>
                  </a:txBody>
                  <a:tcPr marL="5443" marR="5443"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cell3D prstMaterial="dkEdge">
                      <a:bevel/>
                      <a:lightRig rig="flood" dir="t"/>
                    </a:cell3D>
                    <a:solidFill>
                      <a:schemeClr val="tx2"/>
                    </a:solidFill>
                  </a:tcPr>
                </a:tc>
                <a:tc>
                  <a:txBody>
                    <a:bodyPr/>
                    <a:lstStyle/>
                    <a:p>
                      <a:pPr algn="ctr">
                        <a:spcBef>
                          <a:spcPts val="500"/>
                        </a:spcBef>
                        <a:spcAft>
                          <a:spcPts val="500"/>
                        </a:spcAft>
                        <a:buNone/>
                      </a:pPr>
                      <a:r>
                        <a:rPr lang="en-IN" sz="2000">
                          <a:ln>
                            <a:solidFill>
                              <a:schemeClr val="bg1"/>
                            </a:solidFill>
                          </a:ln>
                          <a:solidFill>
                            <a:schemeClr val="bg1"/>
                          </a:solidFill>
                          <a:effectLst/>
                        </a:rPr>
                        <a:t>ENCRYPTED CNN INFERENCE</a:t>
                      </a:r>
                    </a:p>
                    <a:p>
                      <a:pPr algn="ctr">
                        <a:spcBef>
                          <a:spcPts val="250"/>
                        </a:spcBef>
                        <a:spcAft>
                          <a:spcPts val="500"/>
                        </a:spcAft>
                        <a:buNone/>
                      </a:pPr>
                      <a:r>
                        <a:rPr lang="en-IN" sz="2000">
                          <a:ln>
                            <a:solidFill>
                              <a:schemeClr val="bg1"/>
                            </a:solidFill>
                          </a:ln>
                          <a:solidFill>
                            <a:schemeClr val="bg1"/>
                          </a:solidFill>
                          <a:effectLst/>
                        </a:rPr>
                        <a:t>Cloud-based Processing  No plaintext exposure  ĉy = fHE(c)</a:t>
                      </a:r>
                    </a:p>
                    <a:p>
                      <a:pPr algn="ctr">
                        <a:spcBef>
                          <a:spcPts val="250"/>
                        </a:spcBef>
                        <a:spcAft>
                          <a:spcPts val="250"/>
                        </a:spcAft>
                        <a:buNone/>
                      </a:pPr>
                      <a:r>
                        <a:rPr lang="en-IN" sz="2000">
                          <a:ln>
                            <a:solidFill>
                              <a:schemeClr val="bg1"/>
                            </a:solidFill>
                          </a:ln>
                          <a:solidFill>
                            <a:schemeClr val="bg1"/>
                          </a:solidFill>
                          <a:effectLst/>
                        </a:rPr>
                        <a:t>Step 6</a:t>
                      </a:r>
                      <a:endParaRPr lang="en-IN" sz="2000">
                        <a:ln>
                          <a:solidFill>
                            <a:schemeClr val="bg1"/>
                          </a:solidFill>
                        </a:ln>
                        <a:solidFill>
                          <a:schemeClr val="bg1"/>
                        </a:solidFill>
                        <a:effectLst/>
                        <a:latin typeface="Times New Roman" panose="02020603050405020304" pitchFamily="18" charset="0"/>
                        <a:ea typeface="Times New Roman" panose="02020603050405020304" pitchFamily="18" charset="0"/>
                      </a:endParaRPr>
                    </a:p>
                  </a:txBody>
                  <a:tcPr marL="54429" marR="54429" marT="81643" marB="8164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cell3D prstMaterial="dkEdge">
                      <a:bevel/>
                      <a:lightRig rig="flood" dir="t"/>
                    </a:cell3D>
                    <a:solidFill>
                      <a:schemeClr val="tx2"/>
                    </a:solidFill>
                  </a:tcPr>
                </a:tc>
                <a:tc>
                  <a:txBody>
                    <a:bodyPr/>
                    <a:lstStyle/>
                    <a:p>
                      <a:pPr algn="ctr">
                        <a:buNone/>
                      </a:pPr>
                      <a:r>
                        <a:rPr lang="en-IN" sz="2000">
                          <a:ln>
                            <a:solidFill>
                              <a:schemeClr val="bg1"/>
                            </a:solidFill>
                          </a:ln>
                          <a:solidFill>
                            <a:schemeClr val="bg1"/>
                          </a:solidFill>
                          <a:effectLst/>
                        </a:rPr>
                        <a:t>→</a:t>
                      </a:r>
                      <a:endParaRPr lang="en-IN" sz="2000">
                        <a:ln>
                          <a:solidFill>
                            <a:schemeClr val="bg1"/>
                          </a:solidFill>
                        </a:ln>
                        <a:solidFill>
                          <a:schemeClr val="bg1"/>
                        </a:solidFill>
                        <a:effectLst/>
                        <a:latin typeface="Times New Roman" panose="02020603050405020304" pitchFamily="18" charset="0"/>
                        <a:ea typeface="Times New Roman" panose="02020603050405020304" pitchFamily="18" charset="0"/>
                      </a:endParaRPr>
                    </a:p>
                  </a:txBody>
                  <a:tcPr marL="5443" marR="5443"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cell3D prstMaterial="dkEdge">
                      <a:bevel/>
                      <a:lightRig rig="flood" dir="t"/>
                    </a:cell3D>
                    <a:solidFill>
                      <a:schemeClr val="tx2"/>
                    </a:solidFill>
                  </a:tcPr>
                </a:tc>
                <a:tc>
                  <a:txBody>
                    <a:bodyPr/>
                    <a:lstStyle/>
                    <a:p>
                      <a:pPr algn="ctr">
                        <a:spcBef>
                          <a:spcPts val="500"/>
                        </a:spcBef>
                        <a:spcAft>
                          <a:spcPts val="500"/>
                        </a:spcAft>
                        <a:buNone/>
                      </a:pPr>
                      <a:r>
                        <a:rPr lang="en-IN" sz="2000">
                          <a:ln>
                            <a:solidFill>
                              <a:schemeClr val="bg1"/>
                            </a:solidFill>
                          </a:ln>
                          <a:solidFill>
                            <a:schemeClr val="bg1"/>
                          </a:solidFill>
                          <a:effectLst/>
                        </a:rPr>
                        <a:t>DECRYPTION</a:t>
                      </a:r>
                    </a:p>
                    <a:p>
                      <a:pPr algn="ctr">
                        <a:spcBef>
                          <a:spcPts val="250"/>
                        </a:spcBef>
                        <a:spcAft>
                          <a:spcPts val="500"/>
                        </a:spcAft>
                        <a:buNone/>
                      </a:pPr>
                      <a:r>
                        <a:rPr lang="en-IN" sz="2000">
                          <a:ln>
                            <a:solidFill>
                              <a:schemeClr val="bg1"/>
                            </a:solidFill>
                          </a:ln>
                          <a:solidFill>
                            <a:schemeClr val="bg1"/>
                          </a:solidFill>
                          <a:effectLst/>
                        </a:rPr>
                        <a:t>Client Side  Private Key  ŷ = Decrypt(ĉy)</a:t>
                      </a:r>
                    </a:p>
                    <a:p>
                      <a:pPr algn="ctr">
                        <a:spcBef>
                          <a:spcPts val="250"/>
                        </a:spcBef>
                        <a:spcAft>
                          <a:spcPts val="250"/>
                        </a:spcAft>
                        <a:buNone/>
                      </a:pPr>
                      <a:r>
                        <a:rPr lang="en-IN" sz="2000">
                          <a:ln>
                            <a:solidFill>
                              <a:schemeClr val="bg1"/>
                            </a:solidFill>
                          </a:ln>
                          <a:solidFill>
                            <a:schemeClr val="bg1"/>
                          </a:solidFill>
                          <a:effectLst/>
                        </a:rPr>
                        <a:t>Step 7</a:t>
                      </a:r>
                      <a:endParaRPr lang="en-IN" sz="2000">
                        <a:ln>
                          <a:solidFill>
                            <a:schemeClr val="bg1"/>
                          </a:solidFill>
                        </a:ln>
                        <a:solidFill>
                          <a:schemeClr val="bg1"/>
                        </a:solidFill>
                        <a:effectLst/>
                        <a:latin typeface="Times New Roman" panose="02020603050405020304" pitchFamily="18" charset="0"/>
                        <a:ea typeface="Times New Roman" panose="02020603050405020304" pitchFamily="18" charset="0"/>
                      </a:endParaRPr>
                    </a:p>
                  </a:txBody>
                  <a:tcPr marL="54429" marR="54429" marT="81643" marB="8164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cell3D prstMaterial="dkEdge">
                      <a:bevel/>
                      <a:lightRig rig="flood" dir="t"/>
                    </a:cell3D>
                    <a:solidFill>
                      <a:schemeClr val="tx2"/>
                    </a:solidFill>
                  </a:tcPr>
                </a:tc>
                <a:tc>
                  <a:txBody>
                    <a:bodyPr/>
                    <a:lstStyle/>
                    <a:p>
                      <a:pPr algn="ctr">
                        <a:buNone/>
                      </a:pPr>
                      <a:r>
                        <a:rPr lang="en-IN" sz="2000">
                          <a:ln>
                            <a:solidFill>
                              <a:schemeClr val="bg1"/>
                            </a:solidFill>
                          </a:ln>
                          <a:solidFill>
                            <a:schemeClr val="bg1"/>
                          </a:solidFill>
                          <a:effectLst/>
                        </a:rPr>
                        <a:t>→</a:t>
                      </a:r>
                      <a:endParaRPr lang="en-IN" sz="2000">
                        <a:ln>
                          <a:solidFill>
                            <a:schemeClr val="bg1"/>
                          </a:solidFill>
                        </a:ln>
                        <a:solidFill>
                          <a:schemeClr val="bg1"/>
                        </a:solidFill>
                        <a:effectLst/>
                        <a:latin typeface="Times New Roman" panose="02020603050405020304" pitchFamily="18" charset="0"/>
                        <a:ea typeface="Times New Roman" panose="02020603050405020304" pitchFamily="18" charset="0"/>
                      </a:endParaRPr>
                    </a:p>
                  </a:txBody>
                  <a:tcPr marL="5443" marR="5443"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cell3D prstMaterial="dkEdge">
                      <a:bevel/>
                      <a:lightRig rig="flood" dir="t"/>
                    </a:cell3D>
                    <a:solidFill>
                      <a:schemeClr val="tx2"/>
                    </a:solidFill>
                  </a:tcPr>
                </a:tc>
                <a:tc>
                  <a:txBody>
                    <a:bodyPr/>
                    <a:lstStyle/>
                    <a:p>
                      <a:pPr algn="ctr">
                        <a:spcBef>
                          <a:spcPts val="500"/>
                        </a:spcBef>
                        <a:spcAft>
                          <a:spcPts val="500"/>
                        </a:spcAft>
                        <a:buNone/>
                      </a:pPr>
                      <a:r>
                        <a:rPr lang="en-IN" sz="2000">
                          <a:ln>
                            <a:solidFill>
                              <a:schemeClr val="bg1"/>
                            </a:solidFill>
                          </a:ln>
                          <a:solidFill>
                            <a:schemeClr val="bg1"/>
                          </a:solidFill>
                          <a:effectLst/>
                        </a:rPr>
                        <a:t>SHAP EXPLAINABILITY</a:t>
                      </a:r>
                    </a:p>
                    <a:p>
                      <a:pPr algn="ctr">
                        <a:spcBef>
                          <a:spcPts val="250"/>
                        </a:spcBef>
                        <a:spcAft>
                          <a:spcPts val="500"/>
                        </a:spcAft>
                        <a:buNone/>
                      </a:pPr>
                      <a:r>
                        <a:rPr lang="en-IN" sz="2000">
                          <a:ln>
                            <a:solidFill>
                              <a:schemeClr val="bg1"/>
                            </a:solidFill>
                          </a:ln>
                          <a:solidFill>
                            <a:schemeClr val="bg1"/>
                          </a:solidFill>
                          <a:effectLst/>
                        </a:rPr>
                        <a:t>Feature Attribution  Clinical Mapping  Visualizations</a:t>
                      </a:r>
                    </a:p>
                    <a:p>
                      <a:pPr algn="ctr">
                        <a:spcBef>
                          <a:spcPts val="250"/>
                        </a:spcBef>
                        <a:spcAft>
                          <a:spcPts val="250"/>
                        </a:spcAft>
                        <a:buNone/>
                      </a:pPr>
                      <a:r>
                        <a:rPr lang="en-IN" sz="2000">
                          <a:ln>
                            <a:solidFill>
                              <a:schemeClr val="bg1"/>
                            </a:solidFill>
                          </a:ln>
                          <a:solidFill>
                            <a:schemeClr val="bg1"/>
                          </a:solidFill>
                          <a:effectLst/>
                        </a:rPr>
                        <a:t>Step 8</a:t>
                      </a:r>
                      <a:endParaRPr lang="en-IN" sz="2000">
                        <a:ln>
                          <a:solidFill>
                            <a:schemeClr val="bg1"/>
                          </a:solidFill>
                        </a:ln>
                        <a:solidFill>
                          <a:schemeClr val="bg1"/>
                        </a:solidFill>
                        <a:effectLst/>
                        <a:latin typeface="Times New Roman" panose="02020603050405020304" pitchFamily="18" charset="0"/>
                        <a:ea typeface="Times New Roman" panose="02020603050405020304" pitchFamily="18" charset="0"/>
                      </a:endParaRPr>
                    </a:p>
                  </a:txBody>
                  <a:tcPr marL="54429" marR="54429" marT="81643" marB="8164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cell3D prstMaterial="dkEdge">
                      <a:bevel/>
                      <a:lightRig rig="flood" dir="t"/>
                    </a:cell3D>
                    <a:solidFill>
                      <a:schemeClr val="tx2"/>
                    </a:solidFill>
                  </a:tcPr>
                </a:tc>
                <a:tc>
                  <a:txBody>
                    <a:bodyPr/>
                    <a:lstStyle/>
                    <a:p>
                      <a:pPr algn="ctr">
                        <a:buNone/>
                      </a:pPr>
                      <a:r>
                        <a:rPr lang="en-IN" sz="2000">
                          <a:ln>
                            <a:solidFill>
                              <a:schemeClr val="bg1"/>
                            </a:solidFill>
                          </a:ln>
                          <a:solidFill>
                            <a:schemeClr val="bg1"/>
                          </a:solidFill>
                          <a:effectLst/>
                        </a:rPr>
                        <a:t>→</a:t>
                      </a:r>
                      <a:endParaRPr lang="en-IN" sz="2000">
                        <a:ln>
                          <a:solidFill>
                            <a:schemeClr val="bg1"/>
                          </a:solidFill>
                        </a:ln>
                        <a:solidFill>
                          <a:schemeClr val="bg1"/>
                        </a:solidFill>
                        <a:effectLst/>
                        <a:latin typeface="Times New Roman" panose="02020603050405020304" pitchFamily="18" charset="0"/>
                        <a:ea typeface="Times New Roman" panose="02020603050405020304" pitchFamily="18" charset="0"/>
                      </a:endParaRPr>
                    </a:p>
                  </a:txBody>
                  <a:tcPr marL="5443" marR="5443"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cell3D prstMaterial="dkEdge">
                      <a:bevel/>
                      <a:lightRig rig="flood" dir="t"/>
                    </a:cell3D>
                    <a:solidFill>
                      <a:schemeClr val="tx2"/>
                    </a:solidFill>
                  </a:tcPr>
                </a:tc>
                <a:tc>
                  <a:txBody>
                    <a:bodyPr/>
                    <a:lstStyle/>
                    <a:p>
                      <a:pPr algn="ctr">
                        <a:spcBef>
                          <a:spcPts val="500"/>
                        </a:spcBef>
                        <a:spcAft>
                          <a:spcPts val="500"/>
                        </a:spcAft>
                        <a:buNone/>
                      </a:pPr>
                      <a:r>
                        <a:rPr lang="en-IN" sz="2000">
                          <a:ln>
                            <a:solidFill>
                              <a:schemeClr val="bg1"/>
                            </a:solidFill>
                          </a:ln>
                          <a:solidFill>
                            <a:schemeClr val="bg1"/>
                          </a:solidFill>
                          <a:effectLst/>
                        </a:rPr>
                        <a:t>CLINICIAN INTERFACE</a:t>
                      </a:r>
                    </a:p>
                    <a:p>
                      <a:pPr algn="ctr">
                        <a:spcBef>
                          <a:spcPts val="250"/>
                        </a:spcBef>
                        <a:spcAft>
                          <a:spcPts val="500"/>
                        </a:spcAft>
                        <a:buNone/>
                      </a:pPr>
                      <a:r>
                        <a:rPr lang="en-IN" sz="2000">
                          <a:ln>
                            <a:solidFill>
                              <a:schemeClr val="bg1"/>
                            </a:solidFill>
                          </a:ln>
                          <a:solidFill>
                            <a:schemeClr val="bg1"/>
                          </a:solidFill>
                          <a:effectLst/>
                        </a:rPr>
                        <a:t>• Prediction display • SHAP visuals • Confidence scores</a:t>
                      </a:r>
                    </a:p>
                    <a:p>
                      <a:pPr algn="ctr">
                        <a:spcBef>
                          <a:spcPts val="250"/>
                        </a:spcBef>
                        <a:spcAft>
                          <a:spcPts val="250"/>
                        </a:spcAft>
                        <a:buNone/>
                      </a:pPr>
                      <a:r>
                        <a:rPr lang="en-IN" sz="2000">
                          <a:ln>
                            <a:solidFill>
                              <a:schemeClr val="bg1"/>
                            </a:solidFill>
                          </a:ln>
                          <a:solidFill>
                            <a:schemeClr val="bg1"/>
                          </a:solidFill>
                          <a:effectLst/>
                        </a:rPr>
                        <a:t>Step 9</a:t>
                      </a:r>
                      <a:endParaRPr lang="en-IN" sz="2000">
                        <a:ln>
                          <a:solidFill>
                            <a:schemeClr val="bg1"/>
                          </a:solidFill>
                        </a:ln>
                        <a:solidFill>
                          <a:schemeClr val="bg1"/>
                        </a:solidFill>
                        <a:effectLst/>
                        <a:latin typeface="Times New Roman" panose="02020603050405020304" pitchFamily="18" charset="0"/>
                        <a:ea typeface="Times New Roman" panose="02020603050405020304" pitchFamily="18" charset="0"/>
                      </a:endParaRPr>
                    </a:p>
                  </a:txBody>
                  <a:tcPr marL="54429" marR="54429" marT="81643" marB="8164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cell3D prstMaterial="dkEdge">
                      <a:bevel/>
                      <a:lightRig rig="flood" dir="t"/>
                    </a:cell3D>
                    <a:solidFill>
                      <a:schemeClr val="tx2"/>
                    </a:solidFill>
                  </a:tcPr>
                </a:tc>
                <a:tc>
                  <a:txBody>
                    <a:bodyPr/>
                    <a:lstStyle/>
                    <a:p>
                      <a:pPr algn="ctr">
                        <a:buNone/>
                      </a:pPr>
                      <a:r>
                        <a:rPr lang="en-IN" sz="2000">
                          <a:ln>
                            <a:solidFill>
                              <a:schemeClr val="bg1"/>
                            </a:solidFill>
                          </a:ln>
                          <a:solidFill>
                            <a:schemeClr val="bg1"/>
                          </a:solidFill>
                          <a:effectLst/>
                        </a:rPr>
                        <a:t>→</a:t>
                      </a:r>
                      <a:endParaRPr lang="en-IN" sz="2000">
                        <a:ln>
                          <a:solidFill>
                            <a:schemeClr val="bg1"/>
                          </a:solidFill>
                        </a:ln>
                        <a:solidFill>
                          <a:schemeClr val="bg1"/>
                        </a:solidFill>
                        <a:effectLst/>
                        <a:latin typeface="Times New Roman" panose="02020603050405020304" pitchFamily="18" charset="0"/>
                        <a:ea typeface="Times New Roman" panose="02020603050405020304" pitchFamily="18" charset="0"/>
                      </a:endParaRPr>
                    </a:p>
                  </a:txBody>
                  <a:tcPr marL="5443" marR="5443"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cell3D prstMaterial="dkEdge">
                      <a:bevel/>
                      <a:lightRig rig="flood" dir="t"/>
                    </a:cell3D>
                    <a:solidFill>
                      <a:schemeClr val="tx2"/>
                    </a:solidFill>
                  </a:tcPr>
                </a:tc>
                <a:tc>
                  <a:txBody>
                    <a:bodyPr/>
                    <a:lstStyle/>
                    <a:p>
                      <a:pPr algn="ctr">
                        <a:spcBef>
                          <a:spcPts val="500"/>
                        </a:spcBef>
                        <a:spcAft>
                          <a:spcPts val="500"/>
                        </a:spcAft>
                        <a:buNone/>
                      </a:pPr>
                      <a:r>
                        <a:rPr lang="en-IN" sz="2000" dirty="0">
                          <a:ln>
                            <a:solidFill>
                              <a:schemeClr val="bg1"/>
                            </a:solidFill>
                          </a:ln>
                          <a:solidFill>
                            <a:schemeClr val="bg1"/>
                          </a:solidFill>
                          <a:effectLst/>
                        </a:rPr>
                        <a:t>FINAL DIAGNOSIS</a:t>
                      </a:r>
                    </a:p>
                    <a:p>
                      <a:pPr algn="ctr">
                        <a:spcBef>
                          <a:spcPts val="250"/>
                        </a:spcBef>
                        <a:spcAft>
                          <a:spcPts val="500"/>
                        </a:spcAft>
                        <a:buNone/>
                      </a:pPr>
                      <a:r>
                        <a:rPr lang="en-IN" sz="2000" dirty="0">
                          <a:ln>
                            <a:solidFill>
                              <a:schemeClr val="bg1"/>
                            </a:solidFill>
                          </a:ln>
                          <a:solidFill>
                            <a:schemeClr val="bg1"/>
                          </a:solidFill>
                          <a:effectLst/>
                        </a:rPr>
                        <a:t>✓ Disease Classification  ✓ Explainable  ✓ Secure</a:t>
                      </a:r>
                    </a:p>
                    <a:p>
                      <a:pPr algn="ctr">
                        <a:spcBef>
                          <a:spcPts val="250"/>
                        </a:spcBef>
                        <a:spcAft>
                          <a:spcPts val="250"/>
                        </a:spcAft>
                        <a:buNone/>
                      </a:pPr>
                      <a:r>
                        <a:rPr lang="en-IN" sz="2000" dirty="0">
                          <a:ln>
                            <a:solidFill>
                              <a:schemeClr val="bg1"/>
                            </a:solidFill>
                          </a:ln>
                          <a:solidFill>
                            <a:schemeClr val="bg1"/>
                          </a:solidFill>
                          <a:effectLst/>
                        </a:rPr>
                        <a:t>Step 10</a:t>
                      </a:r>
                      <a:endParaRPr lang="en-IN" sz="2000" dirty="0">
                        <a:ln>
                          <a:solidFill>
                            <a:schemeClr val="bg1"/>
                          </a:solidFill>
                        </a:ln>
                        <a:solidFill>
                          <a:schemeClr val="bg1"/>
                        </a:solidFill>
                        <a:effectLst/>
                        <a:latin typeface="Times New Roman" panose="02020603050405020304" pitchFamily="18" charset="0"/>
                        <a:ea typeface="Times New Roman" panose="02020603050405020304" pitchFamily="18" charset="0"/>
                      </a:endParaRPr>
                    </a:p>
                  </a:txBody>
                  <a:tcPr marL="54429" marR="54429" marT="81643" marB="8164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cell3D prstMaterial="dkEdge">
                      <a:bevel/>
                      <a:lightRig rig="flood" dir="t"/>
                    </a:cell3D>
                    <a:solidFill>
                      <a:schemeClr val="tx2"/>
                    </a:solidFill>
                  </a:tcPr>
                </a:tc>
                <a:extLst>
                  <a:ext uri="{0D108BD9-81ED-4DB2-BD59-A6C34878D82A}">
                    <a16:rowId xmlns:a16="http://schemas.microsoft.com/office/drawing/2014/main" val="2168357795"/>
                  </a:ext>
                </a:extLst>
              </a:tr>
            </a:tbl>
          </a:graphicData>
        </a:graphic>
      </p:graphicFrame>
      <p:sp>
        <p:nvSpPr>
          <p:cNvPr id="54" name="Rectangle 1">
            <a:extLst>
              <a:ext uri="{FF2B5EF4-FFF2-40B4-BE49-F238E27FC236}">
                <a16:creationId xmlns:a16="http://schemas.microsoft.com/office/drawing/2014/main" id="{F10D220C-554A-05E6-628C-0D6B2B13B7FD}"/>
              </a:ext>
            </a:extLst>
          </p:cNvPr>
          <p:cNvSpPr>
            <a:spLocks noChangeArrowheads="1"/>
          </p:cNvSpPr>
          <p:nvPr/>
        </p:nvSpPr>
        <p:spPr bwMode="auto">
          <a:xfrm>
            <a:off x="9101607" y="5939485"/>
            <a:ext cx="1828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grpSp>
        <p:nvGrpSpPr>
          <p:cNvPr id="4" name="Group 4"/>
          <p:cNvGrpSpPr/>
          <p:nvPr/>
        </p:nvGrpSpPr>
        <p:grpSpPr>
          <a:xfrm>
            <a:off x="164433" y="179198"/>
            <a:ext cx="17959134" cy="9910974"/>
            <a:chOff x="0" y="0"/>
            <a:chExt cx="4729978" cy="2610298"/>
          </a:xfrm>
        </p:grpSpPr>
        <p:sp>
          <p:nvSpPr>
            <p:cNvPr id="5" name="Freeform 5"/>
            <p:cNvSpPr/>
            <p:nvPr/>
          </p:nvSpPr>
          <p:spPr>
            <a:xfrm>
              <a:off x="0" y="0"/>
              <a:ext cx="4729978" cy="2610298"/>
            </a:xfrm>
            <a:custGeom>
              <a:avLst/>
              <a:gdLst/>
              <a:ahLst/>
              <a:cxnLst/>
              <a:rect l="l" t="t" r="r" b="b"/>
              <a:pathLst>
                <a:path w="4729978" h="2610298">
                  <a:moveTo>
                    <a:pt x="0" y="0"/>
                  </a:moveTo>
                  <a:lnTo>
                    <a:pt x="4729978" y="0"/>
                  </a:lnTo>
                  <a:lnTo>
                    <a:pt x="4729978" y="2610298"/>
                  </a:lnTo>
                  <a:lnTo>
                    <a:pt x="0" y="2610298"/>
                  </a:lnTo>
                  <a:close/>
                </a:path>
              </a:pathLst>
            </a:custGeom>
            <a:solidFill>
              <a:srgbClr val="000000">
                <a:alpha val="0"/>
              </a:srgbClr>
            </a:solidFill>
            <a:ln w="28575" cap="sq">
              <a:solidFill>
                <a:srgbClr val="000000"/>
              </a:solidFill>
              <a:prstDash val="solid"/>
              <a:miter/>
            </a:ln>
          </p:spPr>
        </p:sp>
        <p:sp>
          <p:nvSpPr>
            <p:cNvPr id="6" name="TextBox 6"/>
            <p:cNvSpPr txBox="1"/>
            <p:nvPr/>
          </p:nvSpPr>
          <p:spPr>
            <a:xfrm>
              <a:off x="0" y="-38100"/>
              <a:ext cx="4729978" cy="2648398"/>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392782" y="9324975"/>
            <a:ext cx="578768" cy="578768"/>
            <a:chOff x="0" y="0"/>
            <a:chExt cx="152433" cy="152433"/>
          </a:xfrm>
        </p:grpSpPr>
        <p:sp>
          <p:nvSpPr>
            <p:cNvPr id="9" name="Freeform 9"/>
            <p:cNvSpPr/>
            <p:nvPr/>
          </p:nvSpPr>
          <p:spPr>
            <a:xfrm>
              <a:off x="0" y="0"/>
              <a:ext cx="152433" cy="152433"/>
            </a:xfrm>
            <a:custGeom>
              <a:avLst/>
              <a:gdLst/>
              <a:ahLst/>
              <a:cxnLst/>
              <a:rect l="l" t="t" r="r" b="b"/>
              <a:pathLst>
                <a:path w="152433" h="152433">
                  <a:moveTo>
                    <a:pt x="0" y="0"/>
                  </a:moveTo>
                  <a:lnTo>
                    <a:pt x="152433" y="0"/>
                  </a:lnTo>
                  <a:lnTo>
                    <a:pt x="152433" y="152433"/>
                  </a:lnTo>
                  <a:lnTo>
                    <a:pt x="0" y="152433"/>
                  </a:lnTo>
                  <a:close/>
                </a:path>
              </a:pathLst>
            </a:custGeom>
            <a:solidFill>
              <a:srgbClr val="FF4500"/>
            </a:solidFill>
          </p:spPr>
        </p:sp>
        <p:sp>
          <p:nvSpPr>
            <p:cNvPr id="10" name="TextBox 10"/>
            <p:cNvSpPr txBox="1"/>
            <p:nvPr/>
          </p:nvSpPr>
          <p:spPr>
            <a:xfrm>
              <a:off x="0" y="-47625"/>
              <a:ext cx="152433" cy="200058"/>
            </a:xfrm>
            <a:prstGeom prst="rect">
              <a:avLst/>
            </a:prstGeom>
          </p:spPr>
          <p:txBody>
            <a:bodyPr lIns="50800" tIns="50800" rIns="50800" bIns="50800" rtlCol="0" anchor="ctr"/>
            <a:lstStyle/>
            <a:p>
              <a:pPr algn="ctr">
                <a:lnSpc>
                  <a:spcPts val="3499"/>
                </a:lnSpc>
              </a:pPr>
              <a:r>
                <a:rPr lang="en-US" sz="2499">
                  <a:solidFill>
                    <a:srgbClr val="FFFFFF"/>
                  </a:solidFill>
                  <a:latin typeface="Canva Sans"/>
                  <a:ea typeface="Canva Sans"/>
                  <a:cs typeface="Canva Sans"/>
                  <a:sym typeface="Canva Sans"/>
                </a:rPr>
                <a:t>12</a:t>
              </a:r>
            </a:p>
          </p:txBody>
        </p:sp>
      </p:grpSp>
      <p:grpSp>
        <p:nvGrpSpPr>
          <p:cNvPr id="11" name="Group 11"/>
          <p:cNvGrpSpPr/>
          <p:nvPr/>
        </p:nvGrpSpPr>
        <p:grpSpPr>
          <a:xfrm>
            <a:off x="682166" y="179198"/>
            <a:ext cx="13970595" cy="1285882"/>
            <a:chOff x="0" y="0"/>
            <a:chExt cx="18627460" cy="1714510"/>
          </a:xfrm>
        </p:grpSpPr>
        <p:sp>
          <p:nvSpPr>
            <p:cNvPr id="12" name="Freeform 12"/>
            <p:cNvSpPr/>
            <p:nvPr/>
          </p:nvSpPr>
          <p:spPr>
            <a:xfrm>
              <a:off x="0" y="0"/>
              <a:ext cx="18627460" cy="1714510"/>
            </a:xfrm>
            <a:custGeom>
              <a:avLst/>
              <a:gdLst/>
              <a:ahLst/>
              <a:cxnLst/>
              <a:rect l="l" t="t" r="r" b="b"/>
              <a:pathLst>
                <a:path w="18627460" h="1714510">
                  <a:moveTo>
                    <a:pt x="0" y="0"/>
                  </a:moveTo>
                  <a:lnTo>
                    <a:pt x="18627460" y="0"/>
                  </a:lnTo>
                  <a:lnTo>
                    <a:pt x="18627460" y="1714510"/>
                  </a:lnTo>
                  <a:lnTo>
                    <a:pt x="0" y="1714510"/>
                  </a:lnTo>
                  <a:close/>
                </a:path>
              </a:pathLst>
            </a:custGeom>
            <a:solidFill>
              <a:srgbClr val="000000">
                <a:alpha val="0"/>
              </a:srgbClr>
            </a:solidFill>
          </p:spPr>
        </p:sp>
        <p:sp>
          <p:nvSpPr>
            <p:cNvPr id="13" name="TextBox 13"/>
            <p:cNvSpPr txBox="1"/>
            <p:nvPr/>
          </p:nvSpPr>
          <p:spPr>
            <a:xfrm>
              <a:off x="0" y="-123825"/>
              <a:ext cx="18627460" cy="1838335"/>
            </a:xfrm>
            <a:prstGeom prst="rect">
              <a:avLst/>
            </a:prstGeom>
          </p:spPr>
          <p:txBody>
            <a:bodyPr lIns="0" tIns="0" rIns="0" bIns="0" rtlCol="0" anchor="b"/>
            <a:lstStyle/>
            <a:p>
              <a:pPr algn="l">
                <a:lnSpc>
                  <a:spcPts val="7200"/>
                </a:lnSpc>
              </a:pPr>
              <a:r>
                <a:rPr lang="en-US" sz="6000" b="1">
                  <a:solidFill>
                    <a:srgbClr val="001D58"/>
                  </a:solidFill>
                  <a:latin typeface="Times New Roman Bold"/>
                  <a:ea typeface="Times New Roman Bold"/>
                  <a:cs typeface="Times New Roman Bold"/>
                  <a:sym typeface="Times New Roman Bold"/>
                </a:rPr>
                <a:t>MODULES</a:t>
              </a:r>
            </a:p>
          </p:txBody>
        </p:sp>
      </p:grpSp>
      <p:sp>
        <p:nvSpPr>
          <p:cNvPr id="14" name="Freeform 14"/>
          <p:cNvSpPr/>
          <p:nvPr/>
        </p:nvSpPr>
        <p:spPr>
          <a:xfrm>
            <a:off x="13976138" y="404027"/>
            <a:ext cx="3922888" cy="880198"/>
          </a:xfrm>
          <a:custGeom>
            <a:avLst/>
            <a:gdLst/>
            <a:ahLst/>
            <a:cxnLst/>
            <a:rect l="l" t="t" r="r" b="b"/>
            <a:pathLst>
              <a:path w="3922888" h="880198">
                <a:moveTo>
                  <a:pt x="0" y="0"/>
                </a:moveTo>
                <a:lnTo>
                  <a:pt x="3922888" y="0"/>
                </a:lnTo>
                <a:lnTo>
                  <a:pt x="3922888" y="880199"/>
                </a:lnTo>
                <a:lnTo>
                  <a:pt x="0" y="880199"/>
                </a:lnTo>
                <a:lnTo>
                  <a:pt x="0" y="0"/>
                </a:lnTo>
                <a:close/>
              </a:path>
            </a:pathLst>
          </a:custGeom>
          <a:blipFill>
            <a:blip r:embed="rId2"/>
            <a:stretch>
              <a:fillRect/>
            </a:stretch>
          </a:blipFill>
        </p:spPr>
      </p:sp>
      <p:sp>
        <p:nvSpPr>
          <p:cNvPr id="15" name="TextBox 15"/>
          <p:cNvSpPr txBox="1"/>
          <p:nvPr/>
        </p:nvSpPr>
        <p:spPr>
          <a:xfrm>
            <a:off x="15490814" y="9030873"/>
            <a:ext cx="1853882" cy="528991"/>
          </a:xfrm>
          <a:prstGeom prst="rect">
            <a:avLst/>
          </a:prstGeom>
        </p:spPr>
        <p:txBody>
          <a:bodyPr lIns="0" tIns="0" rIns="0" bIns="0" rtlCol="0" anchor="t">
            <a:spAutoFit/>
          </a:bodyPr>
          <a:lstStyle/>
          <a:p>
            <a:pPr algn="ctr">
              <a:lnSpc>
                <a:spcPts val="4480"/>
              </a:lnSpc>
            </a:pPr>
            <a:r>
              <a:rPr lang="en-US" sz="3200" dirty="0">
                <a:solidFill>
                  <a:srgbClr val="000000"/>
                </a:solidFill>
                <a:latin typeface="Times New Roman"/>
                <a:ea typeface="Times New Roman"/>
                <a:cs typeface="Times New Roman"/>
                <a:sym typeface="Times New Roman"/>
              </a:rPr>
              <a:t>16/02/2026</a:t>
            </a:r>
          </a:p>
        </p:txBody>
      </p:sp>
      <p:sp>
        <p:nvSpPr>
          <p:cNvPr id="16" name="TextBox 15">
            <a:extLst>
              <a:ext uri="{FF2B5EF4-FFF2-40B4-BE49-F238E27FC236}">
                <a16:creationId xmlns:a16="http://schemas.microsoft.com/office/drawing/2014/main" id="{7956506B-AA8A-5DBE-2B91-62DB0911C5AC}"/>
              </a:ext>
            </a:extLst>
          </p:cNvPr>
          <p:cNvSpPr txBox="1"/>
          <p:nvPr/>
        </p:nvSpPr>
        <p:spPr>
          <a:xfrm>
            <a:off x="682166" y="1360765"/>
            <a:ext cx="16005633" cy="8279190"/>
          </a:xfrm>
          <a:prstGeom prst="rect">
            <a:avLst/>
          </a:prstGeom>
          <a:noFill/>
        </p:spPr>
        <p:txBody>
          <a:bodyPr wrap="square" rtlCol="0">
            <a:spAutoFit/>
          </a:bodyPr>
          <a:lstStyle/>
          <a:p>
            <a:r>
              <a:rPr lang="en-US" sz="2800" b="1" dirty="0"/>
              <a:t>MODULE 1: INPUT AND SYSTEM OVERVIEW</a:t>
            </a:r>
          </a:p>
          <a:p>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1.1 Security Analyst Query Interface</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1.2 Target Environment Specification (Operating System, Services, Exposure)</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1.3 Threat Scope Definition</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1.4 Context Encoding and Validation</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1.5 Input Normalization and Structuring</a:t>
            </a:r>
            <a:endParaRPr lang="en-US" sz="2800" b="1"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MODULE 2: KNOWLEDGE BASE CONSTRUCTION (MITRE ATT&amp;CK AND PENTEST DATA)</a:t>
            </a:r>
          </a:p>
          <a:p>
            <a:r>
              <a:rPr lang="en-US" sz="2800" dirty="0">
                <a:latin typeface="Times New Roman" panose="02020603050405020304" pitchFamily="18" charset="0"/>
                <a:cs typeface="Times New Roman" panose="02020603050405020304" pitchFamily="18" charset="0"/>
              </a:rPr>
              <a:t>	2.1 MITRE ATT&amp;CK Knowledge Collection</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2.2 Technique and Tactic Structuring</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2.3 Penetration Testing Methodology Integration</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2.4 Text Chunking and Metadata Tagging</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2.5 Knowledge Base Versioning and Updates</a:t>
            </a:r>
          </a:p>
          <a:p>
            <a:r>
              <a:rPr lang="en-IN" sz="2800" b="1" dirty="0">
                <a:latin typeface="Times New Roman" panose="02020603050405020304" pitchFamily="18" charset="0"/>
                <a:cs typeface="Times New Roman" panose="02020603050405020304" pitchFamily="18" charset="0"/>
              </a:rPr>
              <a:t>MODULE 3: VECTOR DATABASE AND RETRIEVAL (RAG PIPELINE)</a:t>
            </a:r>
          </a:p>
          <a:p>
            <a:r>
              <a:rPr lang="en-US" sz="2800" dirty="0">
                <a:latin typeface="Times New Roman" panose="02020603050405020304" pitchFamily="18" charset="0"/>
                <a:cs typeface="Times New Roman" panose="02020603050405020304" pitchFamily="18" charset="0"/>
              </a:rPr>
              <a:t>	3.1 Embedding Generation using Sentence Transformers</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3.2 Vector Storage using </a:t>
            </a:r>
            <a:r>
              <a:rPr lang="en-US" sz="2800" dirty="0" err="1">
                <a:latin typeface="Times New Roman" panose="02020603050405020304" pitchFamily="18" charset="0"/>
                <a:cs typeface="Times New Roman" panose="02020603050405020304" pitchFamily="18" charset="0"/>
              </a:rPr>
              <a:t>ChromaDB</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3.3 Similarity Search and Retrieval Logic</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3.4 Context Fusion from Multiple Knowledge Sources</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3.5 Retrieval Optimization for Edge Deployment</a:t>
            </a:r>
            <a:endParaRPr lang="en-US" sz="28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endParaRPr lang="en-IN"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3B9AA-12C7-C6D7-A16A-D0FFB3362B1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06B335E-64D5-1163-4CCF-BCDD52D84E2E}"/>
              </a:ext>
            </a:extLst>
          </p:cNvPr>
          <p:cNvGrpSpPr/>
          <p:nvPr/>
        </p:nvGrpSpPr>
        <p:grpSpPr>
          <a:xfrm>
            <a:off x="0" y="0"/>
            <a:ext cx="18288000" cy="10287000"/>
            <a:chOff x="0" y="0"/>
            <a:chExt cx="24384000" cy="13716000"/>
          </a:xfrm>
        </p:grpSpPr>
        <p:sp>
          <p:nvSpPr>
            <p:cNvPr id="3" name="Freeform 3">
              <a:extLst>
                <a:ext uri="{FF2B5EF4-FFF2-40B4-BE49-F238E27FC236}">
                  <a16:creationId xmlns:a16="http://schemas.microsoft.com/office/drawing/2014/main" id="{9FE3682A-26BB-2072-5F29-73E812902353}"/>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grpSp>
        <p:nvGrpSpPr>
          <p:cNvPr id="4" name="Group 4">
            <a:extLst>
              <a:ext uri="{FF2B5EF4-FFF2-40B4-BE49-F238E27FC236}">
                <a16:creationId xmlns:a16="http://schemas.microsoft.com/office/drawing/2014/main" id="{6E456BAD-A3D3-C49C-C5BF-322BA3AD7191}"/>
              </a:ext>
            </a:extLst>
          </p:cNvPr>
          <p:cNvGrpSpPr/>
          <p:nvPr/>
        </p:nvGrpSpPr>
        <p:grpSpPr>
          <a:xfrm>
            <a:off x="164433" y="179198"/>
            <a:ext cx="17959134" cy="9910974"/>
            <a:chOff x="0" y="0"/>
            <a:chExt cx="4729978" cy="2610298"/>
          </a:xfrm>
        </p:grpSpPr>
        <p:sp>
          <p:nvSpPr>
            <p:cNvPr id="5" name="Freeform 5">
              <a:extLst>
                <a:ext uri="{FF2B5EF4-FFF2-40B4-BE49-F238E27FC236}">
                  <a16:creationId xmlns:a16="http://schemas.microsoft.com/office/drawing/2014/main" id="{A295F41D-FC48-05D8-EEAD-74AA5599502B}"/>
                </a:ext>
              </a:extLst>
            </p:cNvPr>
            <p:cNvSpPr/>
            <p:nvPr/>
          </p:nvSpPr>
          <p:spPr>
            <a:xfrm>
              <a:off x="0" y="0"/>
              <a:ext cx="4729978" cy="2610298"/>
            </a:xfrm>
            <a:custGeom>
              <a:avLst/>
              <a:gdLst/>
              <a:ahLst/>
              <a:cxnLst/>
              <a:rect l="l" t="t" r="r" b="b"/>
              <a:pathLst>
                <a:path w="4729978" h="2610298">
                  <a:moveTo>
                    <a:pt x="0" y="0"/>
                  </a:moveTo>
                  <a:lnTo>
                    <a:pt x="4729978" y="0"/>
                  </a:lnTo>
                  <a:lnTo>
                    <a:pt x="4729978" y="2610298"/>
                  </a:lnTo>
                  <a:lnTo>
                    <a:pt x="0" y="2610298"/>
                  </a:lnTo>
                  <a:close/>
                </a:path>
              </a:pathLst>
            </a:custGeom>
            <a:solidFill>
              <a:srgbClr val="000000">
                <a:alpha val="0"/>
              </a:srgbClr>
            </a:solidFill>
            <a:ln w="28575" cap="sq">
              <a:solidFill>
                <a:srgbClr val="000000"/>
              </a:solidFill>
              <a:prstDash val="solid"/>
              <a:miter/>
            </a:ln>
          </p:spPr>
        </p:sp>
        <p:sp>
          <p:nvSpPr>
            <p:cNvPr id="6" name="TextBox 6">
              <a:extLst>
                <a:ext uri="{FF2B5EF4-FFF2-40B4-BE49-F238E27FC236}">
                  <a16:creationId xmlns:a16="http://schemas.microsoft.com/office/drawing/2014/main" id="{0FB0F168-CA5E-E6C3-5CF1-2D5253489960}"/>
                </a:ext>
              </a:extLst>
            </p:cNvPr>
            <p:cNvSpPr txBox="1"/>
            <p:nvPr/>
          </p:nvSpPr>
          <p:spPr>
            <a:xfrm>
              <a:off x="0" y="-38100"/>
              <a:ext cx="4729978" cy="2648398"/>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FD2D738D-EFE1-672E-E901-B9393CB24976}"/>
              </a:ext>
            </a:extLst>
          </p:cNvPr>
          <p:cNvGrpSpPr/>
          <p:nvPr/>
        </p:nvGrpSpPr>
        <p:grpSpPr>
          <a:xfrm>
            <a:off x="392782" y="9324975"/>
            <a:ext cx="578768" cy="578768"/>
            <a:chOff x="0" y="0"/>
            <a:chExt cx="152433" cy="152433"/>
          </a:xfrm>
        </p:grpSpPr>
        <p:sp>
          <p:nvSpPr>
            <p:cNvPr id="9" name="Freeform 9">
              <a:extLst>
                <a:ext uri="{FF2B5EF4-FFF2-40B4-BE49-F238E27FC236}">
                  <a16:creationId xmlns:a16="http://schemas.microsoft.com/office/drawing/2014/main" id="{CB36F53D-1581-A651-786E-11D44FB1D504}"/>
                </a:ext>
              </a:extLst>
            </p:cNvPr>
            <p:cNvSpPr/>
            <p:nvPr/>
          </p:nvSpPr>
          <p:spPr>
            <a:xfrm>
              <a:off x="0" y="0"/>
              <a:ext cx="152433" cy="152433"/>
            </a:xfrm>
            <a:custGeom>
              <a:avLst/>
              <a:gdLst/>
              <a:ahLst/>
              <a:cxnLst/>
              <a:rect l="l" t="t" r="r" b="b"/>
              <a:pathLst>
                <a:path w="152433" h="152433">
                  <a:moveTo>
                    <a:pt x="0" y="0"/>
                  </a:moveTo>
                  <a:lnTo>
                    <a:pt x="152433" y="0"/>
                  </a:lnTo>
                  <a:lnTo>
                    <a:pt x="152433" y="152433"/>
                  </a:lnTo>
                  <a:lnTo>
                    <a:pt x="0" y="152433"/>
                  </a:lnTo>
                  <a:close/>
                </a:path>
              </a:pathLst>
            </a:custGeom>
            <a:solidFill>
              <a:srgbClr val="FF4500"/>
            </a:solidFill>
          </p:spPr>
        </p:sp>
        <p:sp>
          <p:nvSpPr>
            <p:cNvPr id="10" name="TextBox 10">
              <a:extLst>
                <a:ext uri="{FF2B5EF4-FFF2-40B4-BE49-F238E27FC236}">
                  <a16:creationId xmlns:a16="http://schemas.microsoft.com/office/drawing/2014/main" id="{2953B1CB-C489-5353-0EE7-82DF4D5B1129}"/>
                </a:ext>
              </a:extLst>
            </p:cNvPr>
            <p:cNvSpPr txBox="1"/>
            <p:nvPr/>
          </p:nvSpPr>
          <p:spPr>
            <a:xfrm>
              <a:off x="0" y="-47625"/>
              <a:ext cx="152433" cy="200058"/>
            </a:xfrm>
            <a:prstGeom prst="rect">
              <a:avLst/>
            </a:prstGeom>
          </p:spPr>
          <p:txBody>
            <a:bodyPr lIns="50800" tIns="50800" rIns="50800" bIns="50800" rtlCol="0" anchor="ctr"/>
            <a:lstStyle/>
            <a:p>
              <a:pPr algn="ctr">
                <a:lnSpc>
                  <a:spcPts val="3499"/>
                </a:lnSpc>
              </a:pPr>
              <a:r>
                <a:rPr lang="en-US" sz="2499">
                  <a:solidFill>
                    <a:srgbClr val="FFFFFF"/>
                  </a:solidFill>
                  <a:latin typeface="Canva Sans"/>
                  <a:ea typeface="Canva Sans"/>
                  <a:cs typeface="Canva Sans"/>
                  <a:sym typeface="Canva Sans"/>
                </a:rPr>
                <a:t>12</a:t>
              </a:r>
            </a:p>
          </p:txBody>
        </p:sp>
      </p:grpSp>
      <p:grpSp>
        <p:nvGrpSpPr>
          <p:cNvPr id="11" name="Group 11">
            <a:extLst>
              <a:ext uri="{FF2B5EF4-FFF2-40B4-BE49-F238E27FC236}">
                <a16:creationId xmlns:a16="http://schemas.microsoft.com/office/drawing/2014/main" id="{FA2CDFF5-C577-7373-E694-7FA808C4DA02}"/>
              </a:ext>
            </a:extLst>
          </p:cNvPr>
          <p:cNvGrpSpPr/>
          <p:nvPr/>
        </p:nvGrpSpPr>
        <p:grpSpPr>
          <a:xfrm>
            <a:off x="682166" y="179198"/>
            <a:ext cx="13970595" cy="1285882"/>
            <a:chOff x="0" y="0"/>
            <a:chExt cx="18627460" cy="1714510"/>
          </a:xfrm>
        </p:grpSpPr>
        <p:sp>
          <p:nvSpPr>
            <p:cNvPr id="12" name="Freeform 12">
              <a:extLst>
                <a:ext uri="{FF2B5EF4-FFF2-40B4-BE49-F238E27FC236}">
                  <a16:creationId xmlns:a16="http://schemas.microsoft.com/office/drawing/2014/main" id="{129279B1-0B76-9E3C-7A5F-ADE314DD9F7F}"/>
                </a:ext>
              </a:extLst>
            </p:cNvPr>
            <p:cNvSpPr/>
            <p:nvPr/>
          </p:nvSpPr>
          <p:spPr>
            <a:xfrm>
              <a:off x="0" y="0"/>
              <a:ext cx="18627460" cy="1714510"/>
            </a:xfrm>
            <a:custGeom>
              <a:avLst/>
              <a:gdLst/>
              <a:ahLst/>
              <a:cxnLst/>
              <a:rect l="l" t="t" r="r" b="b"/>
              <a:pathLst>
                <a:path w="18627460" h="1714510">
                  <a:moveTo>
                    <a:pt x="0" y="0"/>
                  </a:moveTo>
                  <a:lnTo>
                    <a:pt x="18627460" y="0"/>
                  </a:lnTo>
                  <a:lnTo>
                    <a:pt x="18627460" y="1714510"/>
                  </a:lnTo>
                  <a:lnTo>
                    <a:pt x="0" y="1714510"/>
                  </a:lnTo>
                  <a:close/>
                </a:path>
              </a:pathLst>
            </a:custGeom>
            <a:solidFill>
              <a:srgbClr val="000000">
                <a:alpha val="0"/>
              </a:srgbClr>
            </a:solidFill>
          </p:spPr>
        </p:sp>
        <p:sp>
          <p:nvSpPr>
            <p:cNvPr id="13" name="TextBox 13">
              <a:extLst>
                <a:ext uri="{FF2B5EF4-FFF2-40B4-BE49-F238E27FC236}">
                  <a16:creationId xmlns:a16="http://schemas.microsoft.com/office/drawing/2014/main" id="{87C70209-C8B0-9D1C-B836-41F9AD6D4552}"/>
                </a:ext>
              </a:extLst>
            </p:cNvPr>
            <p:cNvSpPr txBox="1"/>
            <p:nvPr/>
          </p:nvSpPr>
          <p:spPr>
            <a:xfrm>
              <a:off x="0" y="-123825"/>
              <a:ext cx="18627460" cy="1838335"/>
            </a:xfrm>
            <a:prstGeom prst="rect">
              <a:avLst/>
            </a:prstGeom>
          </p:spPr>
          <p:txBody>
            <a:bodyPr lIns="0" tIns="0" rIns="0" bIns="0" rtlCol="0" anchor="b"/>
            <a:lstStyle/>
            <a:p>
              <a:pPr algn="l">
                <a:lnSpc>
                  <a:spcPts val="7200"/>
                </a:lnSpc>
              </a:pPr>
              <a:r>
                <a:rPr lang="en-US" sz="6000" b="1">
                  <a:solidFill>
                    <a:srgbClr val="001D58"/>
                  </a:solidFill>
                  <a:latin typeface="Times New Roman Bold"/>
                  <a:ea typeface="Times New Roman Bold"/>
                  <a:cs typeface="Times New Roman Bold"/>
                  <a:sym typeface="Times New Roman Bold"/>
                </a:rPr>
                <a:t>MODULES</a:t>
              </a:r>
            </a:p>
          </p:txBody>
        </p:sp>
      </p:grpSp>
      <p:sp>
        <p:nvSpPr>
          <p:cNvPr id="14" name="Freeform 14">
            <a:extLst>
              <a:ext uri="{FF2B5EF4-FFF2-40B4-BE49-F238E27FC236}">
                <a16:creationId xmlns:a16="http://schemas.microsoft.com/office/drawing/2014/main" id="{7F936118-366A-8824-B2FF-F2C4BE6335D6}"/>
              </a:ext>
            </a:extLst>
          </p:cNvPr>
          <p:cNvSpPr/>
          <p:nvPr/>
        </p:nvSpPr>
        <p:spPr>
          <a:xfrm>
            <a:off x="13976138" y="404027"/>
            <a:ext cx="3922888" cy="880198"/>
          </a:xfrm>
          <a:custGeom>
            <a:avLst/>
            <a:gdLst/>
            <a:ahLst/>
            <a:cxnLst/>
            <a:rect l="l" t="t" r="r" b="b"/>
            <a:pathLst>
              <a:path w="3922888" h="880198">
                <a:moveTo>
                  <a:pt x="0" y="0"/>
                </a:moveTo>
                <a:lnTo>
                  <a:pt x="3922888" y="0"/>
                </a:lnTo>
                <a:lnTo>
                  <a:pt x="3922888" y="880199"/>
                </a:lnTo>
                <a:lnTo>
                  <a:pt x="0" y="880199"/>
                </a:lnTo>
                <a:lnTo>
                  <a:pt x="0" y="0"/>
                </a:lnTo>
                <a:close/>
              </a:path>
            </a:pathLst>
          </a:custGeom>
          <a:blipFill>
            <a:blip r:embed="rId2"/>
            <a:stretch>
              <a:fillRect/>
            </a:stretch>
          </a:blipFill>
        </p:spPr>
      </p:sp>
      <p:sp>
        <p:nvSpPr>
          <p:cNvPr id="15" name="TextBox 15">
            <a:extLst>
              <a:ext uri="{FF2B5EF4-FFF2-40B4-BE49-F238E27FC236}">
                <a16:creationId xmlns:a16="http://schemas.microsoft.com/office/drawing/2014/main" id="{BC49AE18-1971-24AC-E64C-E1C779519E56}"/>
              </a:ext>
            </a:extLst>
          </p:cNvPr>
          <p:cNvSpPr txBox="1"/>
          <p:nvPr/>
        </p:nvSpPr>
        <p:spPr>
          <a:xfrm>
            <a:off x="15490814" y="9030873"/>
            <a:ext cx="1853882" cy="528991"/>
          </a:xfrm>
          <a:prstGeom prst="rect">
            <a:avLst/>
          </a:prstGeom>
        </p:spPr>
        <p:txBody>
          <a:bodyPr lIns="0" tIns="0" rIns="0" bIns="0" rtlCol="0" anchor="t">
            <a:spAutoFit/>
          </a:bodyPr>
          <a:lstStyle/>
          <a:p>
            <a:pPr algn="ctr">
              <a:lnSpc>
                <a:spcPts val="4480"/>
              </a:lnSpc>
            </a:pPr>
            <a:r>
              <a:rPr lang="en-US" sz="3200" dirty="0">
                <a:solidFill>
                  <a:srgbClr val="000000"/>
                </a:solidFill>
                <a:latin typeface="Times New Roman"/>
                <a:ea typeface="Times New Roman"/>
                <a:cs typeface="Times New Roman"/>
                <a:sym typeface="Times New Roman"/>
              </a:rPr>
              <a:t>16/02/2026</a:t>
            </a:r>
          </a:p>
        </p:txBody>
      </p:sp>
      <p:sp>
        <p:nvSpPr>
          <p:cNvPr id="16" name="TextBox 15">
            <a:extLst>
              <a:ext uri="{FF2B5EF4-FFF2-40B4-BE49-F238E27FC236}">
                <a16:creationId xmlns:a16="http://schemas.microsoft.com/office/drawing/2014/main" id="{4000A942-639F-3011-4450-D85B4E29F764}"/>
              </a:ext>
            </a:extLst>
          </p:cNvPr>
          <p:cNvSpPr txBox="1"/>
          <p:nvPr/>
        </p:nvSpPr>
        <p:spPr>
          <a:xfrm>
            <a:off x="392782" y="1609741"/>
            <a:ext cx="16295018" cy="7848302"/>
          </a:xfrm>
          <a:prstGeom prst="rect">
            <a:avLst/>
          </a:prstGeom>
          <a:noFill/>
        </p:spPr>
        <p:txBody>
          <a:bodyPr wrap="square" rtlCol="0">
            <a:spAutoFit/>
          </a:bodyPr>
          <a:lstStyle/>
          <a:p>
            <a:r>
              <a:rPr lang="en-US" sz="2800" b="1" dirty="0"/>
              <a:t>MODULE 4: RED ELISAR REASONING ENGINE (LLM CORE)</a:t>
            </a:r>
          </a:p>
          <a:p>
            <a:r>
              <a:rPr lang="en-IN" sz="2800" dirty="0"/>
              <a:t>	4.1 On-device LLM Deployment using DeepSeek-R1</a:t>
            </a:r>
            <a:br>
              <a:rPr lang="en-IN" sz="2800" dirty="0"/>
            </a:br>
            <a:r>
              <a:rPr lang="en-IN" sz="2800" dirty="0"/>
              <a:t>	4.2 Adversarial Prompt Engineering</a:t>
            </a:r>
            <a:br>
              <a:rPr lang="en-IN" sz="2800" dirty="0"/>
            </a:br>
            <a:r>
              <a:rPr lang="en-IN" sz="2800" dirty="0"/>
              <a:t>	4.3 MITRE-driven Attack Reasoning</a:t>
            </a:r>
            <a:br>
              <a:rPr lang="en-IN" sz="2800" dirty="0"/>
            </a:br>
            <a:r>
              <a:rPr lang="en-IN" sz="2800" dirty="0"/>
              <a:t>	4.4 Logical Dependency and Constraint Analysis</a:t>
            </a:r>
            <a:br>
              <a:rPr lang="en-IN" sz="2800" dirty="0"/>
            </a:br>
            <a:r>
              <a:rPr lang="en-IN" sz="2800" dirty="0"/>
              <a:t>	4.5 Privacy-Preserving Offline Inference</a:t>
            </a:r>
          </a:p>
          <a:p>
            <a:r>
              <a:rPr lang="en-US" sz="2800" b="1" dirty="0"/>
              <a:t>MODULE 5: CHAIN-OF-THOUGHT ATTACK PLANNING</a:t>
            </a:r>
          </a:p>
          <a:p>
            <a:r>
              <a:rPr lang="en-US" sz="2800" dirty="0"/>
              <a:t>	5.1 Attack Lifecycle Modeling (Initial Access to Impact)</a:t>
            </a:r>
            <a:br>
              <a:rPr lang="en-US" sz="2800" dirty="0"/>
            </a:br>
            <a:r>
              <a:rPr lang="en-US" sz="2800" dirty="0"/>
              <a:t>	5.2 Step-wise Attack Strategy Synthesis</a:t>
            </a:r>
            <a:br>
              <a:rPr lang="en-US" sz="2800" dirty="0"/>
            </a:br>
            <a:r>
              <a:rPr lang="en-US" sz="2800" dirty="0"/>
              <a:t>	5.3 Constraint-aware Planning and Validation</a:t>
            </a:r>
            <a:br>
              <a:rPr lang="en-US" sz="2800" dirty="0"/>
            </a:br>
            <a:r>
              <a:rPr lang="en-US" sz="2800" dirty="0"/>
              <a:t>	5.4 Attack Path Consistency Checking</a:t>
            </a:r>
            <a:br>
              <a:rPr lang="en-US" sz="2800" dirty="0"/>
            </a:br>
            <a:r>
              <a:rPr lang="en-US" sz="2800" dirty="0"/>
              <a:t>	5.5 Explainability-Oriented Reasoning Structuring</a:t>
            </a:r>
          </a:p>
          <a:p>
            <a:r>
              <a:rPr lang="en-IN" sz="2800" b="1" dirty="0"/>
              <a:t>MODULE 6: PERFORMANCE EVALUATION AND VALIDATION</a:t>
            </a:r>
            <a:endParaRPr lang="en-IN" sz="2800" dirty="0"/>
          </a:p>
          <a:p>
            <a:pPr lvl="1"/>
            <a:r>
              <a:rPr lang="en-IN" sz="2800" dirty="0"/>
              <a:t>6.1 Classification Metrics</a:t>
            </a:r>
          </a:p>
          <a:p>
            <a:pPr lvl="1"/>
            <a:r>
              <a:rPr lang="en-IN" sz="2800" dirty="0"/>
              <a:t>6.2 Computational Performance</a:t>
            </a:r>
          </a:p>
          <a:p>
            <a:pPr lvl="1"/>
            <a:r>
              <a:rPr lang="en-IN" sz="2800" dirty="0"/>
              <a:t>6.3 Explanation Fidelity</a:t>
            </a:r>
          </a:p>
          <a:p>
            <a:pPr lvl="1"/>
            <a:r>
              <a:rPr lang="en-US" sz="2800" dirty="0"/>
              <a:t>6.4 Security Analysis</a:t>
            </a:r>
          </a:p>
          <a:p>
            <a:pPr lvl="1"/>
            <a:r>
              <a:rPr lang="en-US" sz="2800" dirty="0"/>
              <a:t>6.5 Ablation Studies</a:t>
            </a:r>
          </a:p>
        </p:txBody>
      </p:sp>
    </p:spTree>
    <p:extLst>
      <p:ext uri="{BB962C8B-B14F-4D97-AF65-F5344CB8AC3E}">
        <p14:creationId xmlns:p14="http://schemas.microsoft.com/office/powerpoint/2010/main" val="8001477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grpSp>
        <p:nvGrpSpPr>
          <p:cNvPr id="4" name="Group 4"/>
          <p:cNvGrpSpPr/>
          <p:nvPr/>
        </p:nvGrpSpPr>
        <p:grpSpPr>
          <a:xfrm>
            <a:off x="161077" y="196828"/>
            <a:ext cx="17959134" cy="9910974"/>
            <a:chOff x="0" y="0"/>
            <a:chExt cx="4729978" cy="2610298"/>
          </a:xfrm>
        </p:grpSpPr>
        <p:sp>
          <p:nvSpPr>
            <p:cNvPr id="5" name="Freeform 5"/>
            <p:cNvSpPr/>
            <p:nvPr/>
          </p:nvSpPr>
          <p:spPr>
            <a:xfrm>
              <a:off x="0" y="0"/>
              <a:ext cx="4729978" cy="2610298"/>
            </a:xfrm>
            <a:custGeom>
              <a:avLst/>
              <a:gdLst/>
              <a:ahLst/>
              <a:cxnLst/>
              <a:rect l="l" t="t" r="r" b="b"/>
              <a:pathLst>
                <a:path w="4729978" h="2610298">
                  <a:moveTo>
                    <a:pt x="0" y="0"/>
                  </a:moveTo>
                  <a:lnTo>
                    <a:pt x="4729978" y="0"/>
                  </a:lnTo>
                  <a:lnTo>
                    <a:pt x="4729978" y="2610298"/>
                  </a:lnTo>
                  <a:lnTo>
                    <a:pt x="0" y="2610298"/>
                  </a:lnTo>
                  <a:close/>
                </a:path>
              </a:pathLst>
            </a:custGeom>
            <a:solidFill>
              <a:srgbClr val="000000">
                <a:alpha val="0"/>
              </a:srgbClr>
            </a:solidFill>
            <a:ln w="28575" cap="sq">
              <a:solidFill>
                <a:srgbClr val="000000"/>
              </a:solidFill>
              <a:prstDash val="solid"/>
              <a:miter/>
            </a:ln>
          </p:spPr>
        </p:sp>
        <p:sp>
          <p:nvSpPr>
            <p:cNvPr id="6" name="TextBox 6"/>
            <p:cNvSpPr txBox="1"/>
            <p:nvPr/>
          </p:nvSpPr>
          <p:spPr>
            <a:xfrm>
              <a:off x="0" y="-38100"/>
              <a:ext cx="4729978" cy="2648398"/>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392782" y="9324975"/>
            <a:ext cx="578768" cy="578768"/>
            <a:chOff x="0" y="0"/>
            <a:chExt cx="152433" cy="152433"/>
          </a:xfrm>
        </p:grpSpPr>
        <p:sp>
          <p:nvSpPr>
            <p:cNvPr id="8" name="Freeform 8"/>
            <p:cNvSpPr/>
            <p:nvPr/>
          </p:nvSpPr>
          <p:spPr>
            <a:xfrm>
              <a:off x="0" y="0"/>
              <a:ext cx="152433" cy="152433"/>
            </a:xfrm>
            <a:custGeom>
              <a:avLst/>
              <a:gdLst/>
              <a:ahLst/>
              <a:cxnLst/>
              <a:rect l="l" t="t" r="r" b="b"/>
              <a:pathLst>
                <a:path w="152433" h="152433">
                  <a:moveTo>
                    <a:pt x="0" y="0"/>
                  </a:moveTo>
                  <a:lnTo>
                    <a:pt x="152433" y="0"/>
                  </a:lnTo>
                  <a:lnTo>
                    <a:pt x="152433" y="152433"/>
                  </a:lnTo>
                  <a:lnTo>
                    <a:pt x="0" y="152433"/>
                  </a:lnTo>
                  <a:close/>
                </a:path>
              </a:pathLst>
            </a:custGeom>
            <a:solidFill>
              <a:srgbClr val="FF4500"/>
            </a:solidFill>
          </p:spPr>
        </p:sp>
        <p:sp>
          <p:nvSpPr>
            <p:cNvPr id="9" name="TextBox 9"/>
            <p:cNvSpPr txBox="1"/>
            <p:nvPr/>
          </p:nvSpPr>
          <p:spPr>
            <a:xfrm>
              <a:off x="0" y="-47625"/>
              <a:ext cx="152433" cy="200058"/>
            </a:xfrm>
            <a:prstGeom prst="rect">
              <a:avLst/>
            </a:prstGeom>
          </p:spPr>
          <p:txBody>
            <a:bodyPr lIns="50800" tIns="50800" rIns="50800" bIns="50800" rtlCol="0" anchor="ctr"/>
            <a:lstStyle/>
            <a:p>
              <a:pPr algn="ctr">
                <a:lnSpc>
                  <a:spcPts val="3499"/>
                </a:lnSpc>
              </a:pPr>
              <a:r>
                <a:rPr lang="en-US" sz="2499">
                  <a:solidFill>
                    <a:srgbClr val="FFFFFF"/>
                  </a:solidFill>
                  <a:latin typeface="Canva Sans"/>
                  <a:ea typeface="Canva Sans"/>
                  <a:cs typeface="Canva Sans"/>
                  <a:sym typeface="Canva Sans"/>
                </a:rPr>
                <a:t>13</a:t>
              </a:r>
            </a:p>
          </p:txBody>
        </p:sp>
      </p:grpSp>
      <p:sp>
        <p:nvSpPr>
          <p:cNvPr id="10" name="TextBox 10"/>
          <p:cNvSpPr txBox="1"/>
          <p:nvPr/>
        </p:nvSpPr>
        <p:spPr>
          <a:xfrm>
            <a:off x="365350" y="1390399"/>
            <a:ext cx="17502436" cy="6923049"/>
          </a:xfrm>
          <a:prstGeom prst="rect">
            <a:avLst/>
          </a:prstGeom>
        </p:spPr>
        <p:txBody>
          <a:bodyPr wrap="square" lIns="0" tIns="0" rIns="0" bIns="0" rtlCol="0" anchor="t">
            <a:spAutoFit/>
          </a:bodyPr>
          <a:lstStyle/>
          <a:p>
            <a:pPr marL="323849" lvl="1" algn="just"/>
            <a:r>
              <a:rPr lang="en-US" sz="2999" b="1" dirty="0">
                <a:solidFill>
                  <a:srgbClr val="000000"/>
                </a:solidFill>
                <a:latin typeface="Times New Roman"/>
                <a:ea typeface="Times New Roman"/>
                <a:cs typeface="Times New Roman"/>
                <a:sym typeface="Times New Roman"/>
              </a:rPr>
              <a:t>1. Privacy-Accuracy-Interpretability Triad:</a:t>
            </a:r>
          </a:p>
          <a:p>
            <a:pPr marL="647698" lvl="1" indent="-323849" algn="just">
              <a:buFont typeface="Arial"/>
              <a:buChar char="•"/>
            </a:pPr>
            <a:r>
              <a:rPr lang="en-US" sz="2999" dirty="0">
                <a:solidFill>
                  <a:srgbClr val="000000"/>
                </a:solidFill>
                <a:latin typeface="Times New Roman"/>
                <a:ea typeface="Times New Roman"/>
                <a:cs typeface="Times New Roman"/>
                <a:sym typeface="Times New Roman"/>
              </a:rPr>
              <a:t>   This framework successfully demonstrates that privacy, accuracy, and interpretability can coexist in cloud-based medical AI systems, achieving  93.4% encrypted inference accuracy with 91% clinician  agreement—proving  homomorphic encryption is practical for real-world ECG diagnostics.</a:t>
            </a:r>
          </a:p>
          <a:p>
            <a:pPr marL="323849" lvl="1" algn="just"/>
            <a:r>
              <a:rPr lang="en-US" sz="2999" b="1" dirty="0">
                <a:solidFill>
                  <a:srgbClr val="000000"/>
                </a:solidFill>
                <a:latin typeface="Times New Roman"/>
                <a:ea typeface="Times New Roman"/>
                <a:cs typeface="Times New Roman"/>
                <a:sym typeface="Times New Roman"/>
              </a:rPr>
              <a:t>2. Clinical Trust Through Explainability:</a:t>
            </a:r>
          </a:p>
          <a:p>
            <a:pPr marL="647698" lvl="1" indent="-323849" algn="just">
              <a:buFont typeface="Arial"/>
              <a:buChar char="•"/>
            </a:pPr>
            <a:r>
              <a:rPr lang="en-US" sz="2999" dirty="0">
                <a:solidFill>
                  <a:srgbClr val="000000"/>
                </a:solidFill>
                <a:latin typeface="Times New Roman"/>
                <a:ea typeface="Times New Roman"/>
                <a:cs typeface="Times New Roman"/>
                <a:sym typeface="Times New Roman"/>
              </a:rPr>
              <a:t>   The integration of SHAP explanations bridges the gap between AI automation and clinical validation, ensuring medical professionals can understand and trust automated diagnoses with 88.6% explanation fidelity.</a:t>
            </a:r>
          </a:p>
          <a:p>
            <a:pPr marL="323849" lvl="1" algn="just"/>
            <a:r>
              <a:rPr lang="en-US" sz="2999" b="1" dirty="0">
                <a:solidFill>
                  <a:srgbClr val="000000"/>
                </a:solidFill>
                <a:latin typeface="Times New Roman"/>
                <a:ea typeface="Times New Roman"/>
                <a:cs typeface="Times New Roman"/>
                <a:sym typeface="Times New Roman"/>
              </a:rPr>
              <a:t>3. Dataset Viability and Expected Performance:</a:t>
            </a:r>
          </a:p>
          <a:p>
            <a:pPr marL="647698" lvl="1" indent="-323849" algn="just">
              <a:buFont typeface="Arial"/>
              <a:buChar char="•"/>
            </a:pPr>
            <a:r>
              <a:rPr lang="en-US" sz="2999" dirty="0">
                <a:solidFill>
                  <a:srgbClr val="000000"/>
                </a:solidFill>
                <a:latin typeface="Times New Roman"/>
                <a:ea typeface="Times New Roman"/>
                <a:cs typeface="Times New Roman"/>
                <a:sym typeface="Times New Roman"/>
              </a:rPr>
              <a:t>   Our implementation with the available dataset (707 → 3,500-7,000 augmented images) is expected to achieve 85-92% accuracy using transfer </a:t>
            </a:r>
            <a:r>
              <a:rPr lang="en-US" sz="2999" dirty="0" err="1">
                <a:solidFill>
                  <a:srgbClr val="000000"/>
                </a:solidFill>
                <a:latin typeface="Times New Roman"/>
                <a:ea typeface="Times New Roman"/>
                <a:cs typeface="Times New Roman"/>
                <a:sym typeface="Times New Roman"/>
              </a:rPr>
              <a:t>learning,making</a:t>
            </a:r>
            <a:r>
              <a:rPr lang="en-US" sz="2999" dirty="0">
                <a:solidFill>
                  <a:srgbClr val="000000"/>
                </a:solidFill>
                <a:latin typeface="Times New Roman"/>
                <a:ea typeface="Times New Roman"/>
                <a:cs typeface="Times New Roman"/>
                <a:sym typeface="Times New Roman"/>
              </a:rPr>
              <a:t> it a viable solution for secure heart disease diagnosis in cloud environments.</a:t>
            </a:r>
          </a:p>
          <a:p>
            <a:pPr marL="323849" lvl="1" algn="just"/>
            <a:r>
              <a:rPr lang="en-US" sz="2999" b="1" dirty="0">
                <a:solidFill>
                  <a:srgbClr val="000000"/>
                </a:solidFill>
                <a:latin typeface="Times New Roman"/>
                <a:ea typeface="Times New Roman"/>
                <a:cs typeface="Times New Roman"/>
                <a:sym typeface="Times New Roman"/>
              </a:rPr>
              <a:t>4. Regulatory Compliance and Security:</a:t>
            </a:r>
          </a:p>
          <a:p>
            <a:pPr marL="647698" lvl="1" indent="-323849" algn="just">
              <a:buFont typeface="Arial"/>
              <a:buChar char="•"/>
            </a:pPr>
            <a:r>
              <a:rPr lang="en-US" sz="2999" dirty="0">
                <a:solidFill>
                  <a:srgbClr val="000000"/>
                </a:solidFill>
                <a:latin typeface="Times New Roman"/>
                <a:ea typeface="Times New Roman"/>
                <a:cs typeface="Times New Roman"/>
                <a:sym typeface="Times New Roman"/>
              </a:rPr>
              <a:t>   With 128-bit encryption, HIPAA and GDPR compliance, and resistance to model inversion attacks, this framework addresses critical healthcare data protection requirements while maintaining computational efficiency  (~420ms inference time).</a:t>
            </a:r>
          </a:p>
        </p:txBody>
      </p:sp>
      <p:grpSp>
        <p:nvGrpSpPr>
          <p:cNvPr id="11" name="Group 11"/>
          <p:cNvGrpSpPr/>
          <p:nvPr/>
        </p:nvGrpSpPr>
        <p:grpSpPr>
          <a:xfrm>
            <a:off x="392782" y="196828"/>
            <a:ext cx="13970595" cy="1285882"/>
            <a:chOff x="0" y="0"/>
            <a:chExt cx="18627460" cy="1714510"/>
          </a:xfrm>
        </p:grpSpPr>
        <p:sp>
          <p:nvSpPr>
            <p:cNvPr id="12" name="Freeform 12"/>
            <p:cNvSpPr/>
            <p:nvPr/>
          </p:nvSpPr>
          <p:spPr>
            <a:xfrm>
              <a:off x="0" y="0"/>
              <a:ext cx="18627460" cy="1714510"/>
            </a:xfrm>
            <a:custGeom>
              <a:avLst/>
              <a:gdLst/>
              <a:ahLst/>
              <a:cxnLst/>
              <a:rect l="l" t="t" r="r" b="b"/>
              <a:pathLst>
                <a:path w="18627460" h="1714510">
                  <a:moveTo>
                    <a:pt x="0" y="0"/>
                  </a:moveTo>
                  <a:lnTo>
                    <a:pt x="18627460" y="0"/>
                  </a:lnTo>
                  <a:lnTo>
                    <a:pt x="18627460" y="1714510"/>
                  </a:lnTo>
                  <a:lnTo>
                    <a:pt x="0" y="1714510"/>
                  </a:lnTo>
                  <a:close/>
                </a:path>
              </a:pathLst>
            </a:custGeom>
            <a:solidFill>
              <a:srgbClr val="000000">
                <a:alpha val="0"/>
              </a:srgbClr>
            </a:solidFill>
          </p:spPr>
        </p:sp>
        <p:sp>
          <p:nvSpPr>
            <p:cNvPr id="13" name="TextBox 13"/>
            <p:cNvSpPr txBox="1"/>
            <p:nvPr/>
          </p:nvSpPr>
          <p:spPr>
            <a:xfrm>
              <a:off x="0" y="-123825"/>
              <a:ext cx="18627460" cy="1838335"/>
            </a:xfrm>
            <a:prstGeom prst="rect">
              <a:avLst/>
            </a:prstGeom>
          </p:spPr>
          <p:txBody>
            <a:bodyPr lIns="0" tIns="0" rIns="0" bIns="0" rtlCol="0" anchor="b"/>
            <a:lstStyle/>
            <a:p>
              <a:pPr algn="l">
                <a:lnSpc>
                  <a:spcPts val="7200"/>
                </a:lnSpc>
              </a:pPr>
              <a:r>
                <a:rPr lang="en-US" sz="6000" b="1">
                  <a:solidFill>
                    <a:srgbClr val="001D58"/>
                  </a:solidFill>
                  <a:latin typeface="Times New Roman Bold"/>
                  <a:ea typeface="Times New Roman Bold"/>
                  <a:cs typeface="Times New Roman Bold"/>
                  <a:sym typeface="Times New Roman Bold"/>
                </a:rPr>
                <a:t>CONCLUSION</a:t>
              </a:r>
            </a:p>
          </p:txBody>
        </p:sp>
      </p:grpSp>
      <p:sp>
        <p:nvSpPr>
          <p:cNvPr id="14" name="Freeform 14"/>
          <p:cNvSpPr/>
          <p:nvPr/>
        </p:nvSpPr>
        <p:spPr>
          <a:xfrm>
            <a:off x="13976138" y="404027"/>
            <a:ext cx="3922888" cy="880198"/>
          </a:xfrm>
          <a:custGeom>
            <a:avLst/>
            <a:gdLst/>
            <a:ahLst/>
            <a:cxnLst/>
            <a:rect l="l" t="t" r="r" b="b"/>
            <a:pathLst>
              <a:path w="3922888" h="880198">
                <a:moveTo>
                  <a:pt x="0" y="0"/>
                </a:moveTo>
                <a:lnTo>
                  <a:pt x="3922888" y="0"/>
                </a:lnTo>
                <a:lnTo>
                  <a:pt x="3922888" y="880199"/>
                </a:lnTo>
                <a:lnTo>
                  <a:pt x="0" y="880199"/>
                </a:lnTo>
                <a:lnTo>
                  <a:pt x="0" y="0"/>
                </a:lnTo>
                <a:close/>
              </a:path>
            </a:pathLst>
          </a:custGeom>
          <a:blipFill>
            <a:blip r:embed="rId2"/>
            <a:stretch>
              <a:fillRect/>
            </a:stretch>
          </a:blipFill>
        </p:spPr>
      </p:sp>
      <p:sp>
        <p:nvSpPr>
          <p:cNvPr id="15" name="TextBox 15"/>
          <p:cNvSpPr txBox="1"/>
          <p:nvPr/>
        </p:nvSpPr>
        <p:spPr>
          <a:xfrm>
            <a:off x="15500339" y="9030873"/>
            <a:ext cx="1853882" cy="528991"/>
          </a:xfrm>
          <a:prstGeom prst="rect">
            <a:avLst/>
          </a:prstGeom>
        </p:spPr>
        <p:txBody>
          <a:bodyPr lIns="0" tIns="0" rIns="0" bIns="0" rtlCol="0" anchor="t">
            <a:spAutoFit/>
          </a:bodyPr>
          <a:lstStyle/>
          <a:p>
            <a:pPr algn="ctr">
              <a:lnSpc>
                <a:spcPts val="4480"/>
              </a:lnSpc>
            </a:pPr>
            <a:r>
              <a:rPr lang="en-US" sz="3200" dirty="0">
                <a:solidFill>
                  <a:srgbClr val="000000"/>
                </a:solidFill>
                <a:latin typeface="Times New Roman"/>
                <a:ea typeface="Times New Roman"/>
                <a:cs typeface="Times New Roman"/>
                <a:sym typeface="Times New Roman"/>
              </a:rPr>
              <a:t>16/02/2026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1077" y="196828"/>
            <a:ext cx="17959134" cy="9910974"/>
            <a:chOff x="0" y="0"/>
            <a:chExt cx="4729978" cy="2610298"/>
          </a:xfrm>
        </p:grpSpPr>
        <p:sp>
          <p:nvSpPr>
            <p:cNvPr id="3" name="Freeform 3"/>
            <p:cNvSpPr/>
            <p:nvPr/>
          </p:nvSpPr>
          <p:spPr>
            <a:xfrm>
              <a:off x="0" y="0"/>
              <a:ext cx="4729978" cy="2610298"/>
            </a:xfrm>
            <a:custGeom>
              <a:avLst/>
              <a:gdLst/>
              <a:ahLst/>
              <a:cxnLst/>
              <a:rect l="l" t="t" r="r" b="b"/>
              <a:pathLst>
                <a:path w="4729978" h="2610298">
                  <a:moveTo>
                    <a:pt x="0" y="0"/>
                  </a:moveTo>
                  <a:lnTo>
                    <a:pt x="4729978" y="0"/>
                  </a:lnTo>
                  <a:lnTo>
                    <a:pt x="4729978" y="2610298"/>
                  </a:lnTo>
                  <a:lnTo>
                    <a:pt x="0" y="2610298"/>
                  </a:lnTo>
                  <a:close/>
                </a:path>
              </a:pathLst>
            </a:custGeom>
            <a:solidFill>
              <a:srgbClr val="000000">
                <a:alpha val="0"/>
              </a:srgbClr>
            </a:solidFill>
            <a:ln w="28575" cap="sq">
              <a:solidFill>
                <a:srgbClr val="000000"/>
              </a:solidFill>
              <a:prstDash val="solid"/>
              <a:miter/>
            </a:ln>
          </p:spPr>
        </p:sp>
        <p:sp>
          <p:nvSpPr>
            <p:cNvPr id="4" name="TextBox 4"/>
            <p:cNvSpPr txBox="1"/>
            <p:nvPr/>
          </p:nvSpPr>
          <p:spPr>
            <a:xfrm>
              <a:off x="0" y="-38100"/>
              <a:ext cx="4729978" cy="2648398"/>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392782" y="9324975"/>
            <a:ext cx="578768" cy="578768"/>
            <a:chOff x="0" y="0"/>
            <a:chExt cx="152433" cy="152433"/>
          </a:xfrm>
        </p:grpSpPr>
        <p:sp>
          <p:nvSpPr>
            <p:cNvPr id="6" name="Freeform 6"/>
            <p:cNvSpPr/>
            <p:nvPr/>
          </p:nvSpPr>
          <p:spPr>
            <a:xfrm>
              <a:off x="0" y="0"/>
              <a:ext cx="152433" cy="152433"/>
            </a:xfrm>
            <a:custGeom>
              <a:avLst/>
              <a:gdLst/>
              <a:ahLst/>
              <a:cxnLst/>
              <a:rect l="l" t="t" r="r" b="b"/>
              <a:pathLst>
                <a:path w="152433" h="152433">
                  <a:moveTo>
                    <a:pt x="0" y="0"/>
                  </a:moveTo>
                  <a:lnTo>
                    <a:pt x="152433" y="0"/>
                  </a:lnTo>
                  <a:lnTo>
                    <a:pt x="152433" y="152433"/>
                  </a:lnTo>
                  <a:lnTo>
                    <a:pt x="0" y="152433"/>
                  </a:lnTo>
                  <a:close/>
                </a:path>
              </a:pathLst>
            </a:custGeom>
            <a:solidFill>
              <a:srgbClr val="FF4500"/>
            </a:solidFill>
          </p:spPr>
        </p:sp>
        <p:sp>
          <p:nvSpPr>
            <p:cNvPr id="7" name="TextBox 7"/>
            <p:cNvSpPr txBox="1"/>
            <p:nvPr/>
          </p:nvSpPr>
          <p:spPr>
            <a:xfrm>
              <a:off x="0" y="-47625"/>
              <a:ext cx="152433" cy="200058"/>
            </a:xfrm>
            <a:prstGeom prst="rect">
              <a:avLst/>
            </a:prstGeom>
          </p:spPr>
          <p:txBody>
            <a:bodyPr lIns="50800" tIns="50800" rIns="50800" bIns="50800" rtlCol="0" anchor="ctr"/>
            <a:lstStyle/>
            <a:p>
              <a:pPr algn="ctr">
                <a:lnSpc>
                  <a:spcPts val="3499"/>
                </a:lnSpc>
              </a:pPr>
              <a:r>
                <a:rPr lang="en-US" sz="2499">
                  <a:solidFill>
                    <a:srgbClr val="FFFFFF"/>
                  </a:solidFill>
                  <a:latin typeface="Canva Sans"/>
                  <a:ea typeface="Canva Sans"/>
                  <a:cs typeface="Canva Sans"/>
                  <a:sym typeface="Canva Sans"/>
                </a:rPr>
                <a:t>14</a:t>
              </a:r>
            </a:p>
          </p:txBody>
        </p:sp>
      </p:grpSp>
      <p:grpSp>
        <p:nvGrpSpPr>
          <p:cNvPr id="8" name="Group 8"/>
          <p:cNvGrpSpPr/>
          <p:nvPr/>
        </p:nvGrpSpPr>
        <p:grpSpPr>
          <a:xfrm>
            <a:off x="392782" y="196828"/>
            <a:ext cx="13970595" cy="1285882"/>
            <a:chOff x="0" y="0"/>
            <a:chExt cx="18627460" cy="1714510"/>
          </a:xfrm>
        </p:grpSpPr>
        <p:sp>
          <p:nvSpPr>
            <p:cNvPr id="9" name="Freeform 9"/>
            <p:cNvSpPr/>
            <p:nvPr/>
          </p:nvSpPr>
          <p:spPr>
            <a:xfrm>
              <a:off x="0" y="0"/>
              <a:ext cx="18627460" cy="1714510"/>
            </a:xfrm>
            <a:custGeom>
              <a:avLst/>
              <a:gdLst/>
              <a:ahLst/>
              <a:cxnLst/>
              <a:rect l="l" t="t" r="r" b="b"/>
              <a:pathLst>
                <a:path w="18627460" h="1714510">
                  <a:moveTo>
                    <a:pt x="0" y="0"/>
                  </a:moveTo>
                  <a:lnTo>
                    <a:pt x="18627460" y="0"/>
                  </a:lnTo>
                  <a:lnTo>
                    <a:pt x="18627460" y="1714510"/>
                  </a:lnTo>
                  <a:lnTo>
                    <a:pt x="0" y="1714510"/>
                  </a:lnTo>
                  <a:close/>
                </a:path>
              </a:pathLst>
            </a:custGeom>
            <a:solidFill>
              <a:srgbClr val="000000">
                <a:alpha val="0"/>
              </a:srgbClr>
            </a:solidFill>
          </p:spPr>
        </p:sp>
        <p:sp>
          <p:nvSpPr>
            <p:cNvPr id="10" name="TextBox 10"/>
            <p:cNvSpPr txBox="1"/>
            <p:nvPr/>
          </p:nvSpPr>
          <p:spPr>
            <a:xfrm>
              <a:off x="0" y="-123825"/>
              <a:ext cx="18627460" cy="1838335"/>
            </a:xfrm>
            <a:prstGeom prst="rect">
              <a:avLst/>
            </a:prstGeom>
          </p:spPr>
          <p:txBody>
            <a:bodyPr lIns="0" tIns="0" rIns="0" bIns="0" rtlCol="0" anchor="b"/>
            <a:lstStyle/>
            <a:p>
              <a:pPr algn="l">
                <a:lnSpc>
                  <a:spcPts val="7200"/>
                </a:lnSpc>
              </a:pPr>
              <a:r>
                <a:rPr lang="en-US" sz="6000" b="1">
                  <a:solidFill>
                    <a:srgbClr val="001D58"/>
                  </a:solidFill>
                  <a:latin typeface="Times New Roman Bold"/>
                  <a:ea typeface="Times New Roman Bold"/>
                  <a:cs typeface="Times New Roman Bold"/>
                  <a:sym typeface="Times New Roman Bold"/>
                </a:rPr>
                <a:t>REFERENCES</a:t>
              </a:r>
            </a:p>
          </p:txBody>
        </p:sp>
      </p:grpSp>
      <p:sp>
        <p:nvSpPr>
          <p:cNvPr id="11" name="TextBox 11"/>
          <p:cNvSpPr txBox="1"/>
          <p:nvPr/>
        </p:nvSpPr>
        <p:spPr>
          <a:xfrm>
            <a:off x="488032" y="1563876"/>
            <a:ext cx="16866518" cy="7447936"/>
          </a:xfrm>
          <a:prstGeom prst="rect">
            <a:avLst/>
          </a:prstGeom>
        </p:spPr>
        <p:txBody>
          <a:bodyPr lIns="0" tIns="0" rIns="0" bIns="0" rtlCol="0" anchor="t">
            <a:spAutoFit/>
          </a:bodyPr>
          <a:lstStyle/>
          <a:p>
            <a:pPr marL="323849" lvl="1" algn="just">
              <a:lnSpc>
                <a:spcPts val="4499"/>
              </a:lnSpc>
            </a:pPr>
            <a:r>
              <a:rPr lang="en-US" sz="2999" dirty="0">
                <a:solidFill>
                  <a:srgbClr val="000000"/>
                </a:solidFill>
                <a:latin typeface="Times New Roman"/>
                <a:ea typeface="Times New Roman"/>
                <a:cs typeface="Times New Roman"/>
                <a:sym typeface="Times New Roman"/>
              </a:rPr>
              <a:t>1.[1] D. </a:t>
            </a:r>
            <a:r>
              <a:rPr lang="en-US" sz="2999" dirty="0" err="1">
                <a:solidFill>
                  <a:srgbClr val="000000"/>
                </a:solidFill>
                <a:latin typeface="Times New Roman"/>
                <a:ea typeface="Times New Roman"/>
                <a:cs typeface="Times New Roman"/>
                <a:sym typeface="Times New Roman"/>
              </a:rPr>
              <a:t>Cenitta</a:t>
            </a:r>
            <a:r>
              <a:rPr lang="en-US" sz="2999" dirty="0">
                <a:solidFill>
                  <a:srgbClr val="000000"/>
                </a:solidFill>
                <a:latin typeface="Times New Roman"/>
                <a:ea typeface="Times New Roman"/>
                <a:cs typeface="Times New Roman"/>
                <a:sym typeface="Times New Roman"/>
              </a:rPr>
              <a:t>, G. K. Shwetha, K. P. Vyshali Rao, S. Ramisetty, N. Arul, and R. Vijaya Arjunan, "Explainable AI With Homomorphic Encryption for Secure Cloud-Based ECG Analysis in Heart Disease Diagnosis," IEEE Access,  vol. 13, pp. 1-15, 2025. DOI: 10.1109/ACCESS.2025.3614655</a:t>
            </a:r>
          </a:p>
          <a:p>
            <a:pPr marL="323849" lvl="1" algn="just">
              <a:lnSpc>
                <a:spcPts val="4499"/>
              </a:lnSpc>
            </a:pPr>
            <a:r>
              <a:rPr lang="en-US" sz="2999" dirty="0">
                <a:solidFill>
                  <a:srgbClr val="000000"/>
                </a:solidFill>
                <a:latin typeface="Times New Roman"/>
                <a:ea typeface="Times New Roman"/>
                <a:cs typeface="Times New Roman"/>
                <a:sym typeface="Times New Roman"/>
              </a:rPr>
              <a:t>2.[2] G. B. Moody and R. G. Mark, "The impact of the MIT-BIH Arrhythmia  Database," IEEE Engineering in Medicine and Biology Magazine, vol. 20, no. 3, pp. 45-50, May-June 2001.</a:t>
            </a:r>
          </a:p>
          <a:p>
            <a:pPr marL="323849" lvl="1" algn="just">
              <a:lnSpc>
                <a:spcPts val="4499"/>
              </a:lnSpc>
            </a:pPr>
            <a:r>
              <a:rPr lang="en-US" sz="2999" dirty="0">
                <a:solidFill>
                  <a:srgbClr val="000000"/>
                </a:solidFill>
                <a:latin typeface="Times New Roman"/>
                <a:ea typeface="Times New Roman"/>
                <a:cs typeface="Times New Roman"/>
                <a:sym typeface="Times New Roman"/>
              </a:rPr>
              <a:t>3.[3] S. M. Lundberg and S.-I. Lee, "A unified approach to interpreting model predictions," in Proc. 31st Int. Conf. Neural Information Processing Systems (NIPS), 2017, pp. 4765-4774.</a:t>
            </a:r>
          </a:p>
          <a:p>
            <a:pPr marL="323849" lvl="1" algn="just">
              <a:lnSpc>
                <a:spcPts val="4499"/>
              </a:lnSpc>
            </a:pPr>
            <a:r>
              <a:rPr lang="en-US" sz="2999" dirty="0">
                <a:solidFill>
                  <a:srgbClr val="000000"/>
                </a:solidFill>
                <a:latin typeface="Times New Roman"/>
                <a:ea typeface="Times New Roman"/>
                <a:cs typeface="Times New Roman"/>
                <a:sym typeface="Times New Roman"/>
              </a:rPr>
              <a:t>4.[4] J. H. Cheon, A. Kim, M. Kim, and Y. Song, "Homomorphic encryption for arithmetic of approximate numbers," in Advances in Cryptology – ASIACRYPT  2017, LNCS 10624, pp. 409-437, 2017.</a:t>
            </a:r>
          </a:p>
          <a:p>
            <a:pPr marL="323849" lvl="1" algn="just">
              <a:lnSpc>
                <a:spcPts val="4499"/>
              </a:lnSpc>
            </a:pPr>
            <a:r>
              <a:rPr lang="en-US" sz="2999" dirty="0">
                <a:solidFill>
                  <a:srgbClr val="000000"/>
                </a:solidFill>
                <a:latin typeface="Times New Roman"/>
                <a:ea typeface="Times New Roman"/>
                <a:cs typeface="Times New Roman"/>
                <a:sym typeface="Times New Roman"/>
              </a:rPr>
              <a:t>5.[5] World Health Organization, "Cardiovascular diseases (CVDs) Fact Sheet," WHO, Geneva, Switzerland, 2023. [Online]. </a:t>
            </a:r>
          </a:p>
          <a:p>
            <a:pPr marL="323849" lvl="1" algn="just">
              <a:lnSpc>
                <a:spcPts val="4499"/>
              </a:lnSpc>
            </a:pPr>
            <a:r>
              <a:rPr lang="en-US" sz="2999" dirty="0">
                <a:solidFill>
                  <a:srgbClr val="000000"/>
                </a:solidFill>
                <a:latin typeface="Times New Roman"/>
                <a:ea typeface="Times New Roman"/>
                <a:cs typeface="Times New Roman"/>
                <a:sym typeface="Times New Roman"/>
              </a:rPr>
              <a:t>6.[6] K. He, X. Zhang, S. Ren, and J. Sun, "Deep residual learning for image recognition," in Proc. IEEE Conf. Computer Vision and Pattern Recognition (CVPR), 2016, pp. 770-778.</a:t>
            </a:r>
          </a:p>
        </p:txBody>
      </p:sp>
      <p:sp>
        <p:nvSpPr>
          <p:cNvPr id="12" name="Freeform 12"/>
          <p:cNvSpPr/>
          <p:nvPr/>
        </p:nvSpPr>
        <p:spPr>
          <a:xfrm>
            <a:off x="13976138" y="404027"/>
            <a:ext cx="3922888" cy="880198"/>
          </a:xfrm>
          <a:custGeom>
            <a:avLst/>
            <a:gdLst/>
            <a:ahLst/>
            <a:cxnLst/>
            <a:rect l="l" t="t" r="r" b="b"/>
            <a:pathLst>
              <a:path w="3922888" h="880198">
                <a:moveTo>
                  <a:pt x="0" y="0"/>
                </a:moveTo>
                <a:lnTo>
                  <a:pt x="3922888" y="0"/>
                </a:lnTo>
                <a:lnTo>
                  <a:pt x="3922888" y="880199"/>
                </a:lnTo>
                <a:lnTo>
                  <a:pt x="0" y="880199"/>
                </a:lnTo>
                <a:lnTo>
                  <a:pt x="0" y="0"/>
                </a:lnTo>
                <a:close/>
              </a:path>
            </a:pathLst>
          </a:custGeom>
          <a:blipFill>
            <a:blip r:embed="rId2"/>
            <a:stretch>
              <a:fillRect/>
            </a:stretch>
          </a:blipFill>
        </p:spPr>
      </p:sp>
      <p:sp>
        <p:nvSpPr>
          <p:cNvPr id="13" name="TextBox 13"/>
          <p:cNvSpPr txBox="1"/>
          <p:nvPr/>
        </p:nvSpPr>
        <p:spPr>
          <a:xfrm>
            <a:off x="15490814" y="9030873"/>
            <a:ext cx="1853882" cy="528991"/>
          </a:xfrm>
          <a:prstGeom prst="rect">
            <a:avLst/>
          </a:prstGeom>
        </p:spPr>
        <p:txBody>
          <a:bodyPr lIns="0" tIns="0" rIns="0" bIns="0" rtlCol="0" anchor="t">
            <a:spAutoFit/>
          </a:bodyPr>
          <a:lstStyle/>
          <a:p>
            <a:pPr algn="ctr">
              <a:lnSpc>
                <a:spcPts val="4480"/>
              </a:lnSpc>
            </a:pPr>
            <a:r>
              <a:rPr lang="en-US" sz="3200" dirty="0">
                <a:solidFill>
                  <a:srgbClr val="000000"/>
                </a:solidFill>
                <a:latin typeface="Times New Roman"/>
                <a:ea typeface="Times New Roman"/>
                <a:cs typeface="Times New Roman"/>
                <a:sym typeface="Times New Roman"/>
              </a:rPr>
              <a:t>16/02/2026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grpSp>
        <p:nvGrpSpPr>
          <p:cNvPr id="4" name="Group 4"/>
          <p:cNvGrpSpPr/>
          <p:nvPr/>
        </p:nvGrpSpPr>
        <p:grpSpPr>
          <a:xfrm>
            <a:off x="161077" y="196828"/>
            <a:ext cx="17959134" cy="9910974"/>
            <a:chOff x="0" y="0"/>
            <a:chExt cx="4729978" cy="2610298"/>
          </a:xfrm>
        </p:grpSpPr>
        <p:sp>
          <p:nvSpPr>
            <p:cNvPr id="5" name="Freeform 5"/>
            <p:cNvSpPr/>
            <p:nvPr/>
          </p:nvSpPr>
          <p:spPr>
            <a:xfrm>
              <a:off x="0" y="0"/>
              <a:ext cx="4729978" cy="2610298"/>
            </a:xfrm>
            <a:custGeom>
              <a:avLst/>
              <a:gdLst/>
              <a:ahLst/>
              <a:cxnLst/>
              <a:rect l="l" t="t" r="r" b="b"/>
              <a:pathLst>
                <a:path w="4729978" h="2610298">
                  <a:moveTo>
                    <a:pt x="0" y="0"/>
                  </a:moveTo>
                  <a:lnTo>
                    <a:pt x="4729978" y="0"/>
                  </a:lnTo>
                  <a:lnTo>
                    <a:pt x="4729978" y="2610298"/>
                  </a:lnTo>
                  <a:lnTo>
                    <a:pt x="0" y="2610298"/>
                  </a:lnTo>
                  <a:close/>
                </a:path>
              </a:pathLst>
            </a:custGeom>
            <a:solidFill>
              <a:srgbClr val="000000">
                <a:alpha val="0"/>
              </a:srgbClr>
            </a:solidFill>
            <a:ln w="28575" cap="sq">
              <a:solidFill>
                <a:srgbClr val="000000"/>
              </a:solidFill>
              <a:prstDash val="solid"/>
              <a:miter/>
            </a:ln>
          </p:spPr>
        </p:sp>
        <p:sp>
          <p:nvSpPr>
            <p:cNvPr id="6" name="TextBox 6"/>
            <p:cNvSpPr txBox="1"/>
            <p:nvPr/>
          </p:nvSpPr>
          <p:spPr>
            <a:xfrm>
              <a:off x="0" y="-38100"/>
              <a:ext cx="4729978" cy="2648398"/>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1817676" y="3829542"/>
            <a:ext cx="13677103" cy="2645546"/>
            <a:chOff x="0" y="0"/>
            <a:chExt cx="18236137" cy="3527394"/>
          </a:xfrm>
        </p:grpSpPr>
        <p:sp>
          <p:nvSpPr>
            <p:cNvPr id="8" name="Freeform 8"/>
            <p:cNvSpPr/>
            <p:nvPr/>
          </p:nvSpPr>
          <p:spPr>
            <a:xfrm>
              <a:off x="0" y="0"/>
              <a:ext cx="18236136" cy="3527394"/>
            </a:xfrm>
            <a:custGeom>
              <a:avLst/>
              <a:gdLst/>
              <a:ahLst/>
              <a:cxnLst/>
              <a:rect l="l" t="t" r="r" b="b"/>
              <a:pathLst>
                <a:path w="18236136" h="3527394">
                  <a:moveTo>
                    <a:pt x="0" y="0"/>
                  </a:moveTo>
                  <a:lnTo>
                    <a:pt x="18236136" y="0"/>
                  </a:lnTo>
                  <a:lnTo>
                    <a:pt x="18236136" y="3527394"/>
                  </a:lnTo>
                  <a:lnTo>
                    <a:pt x="0" y="3527394"/>
                  </a:lnTo>
                  <a:close/>
                </a:path>
              </a:pathLst>
            </a:custGeom>
            <a:solidFill>
              <a:srgbClr val="000000">
                <a:alpha val="0"/>
              </a:srgbClr>
            </a:solidFill>
          </p:spPr>
        </p:sp>
        <p:sp>
          <p:nvSpPr>
            <p:cNvPr id="9" name="TextBox 9"/>
            <p:cNvSpPr txBox="1"/>
            <p:nvPr/>
          </p:nvSpPr>
          <p:spPr>
            <a:xfrm>
              <a:off x="0" y="-266700"/>
              <a:ext cx="18236137" cy="3794094"/>
            </a:xfrm>
            <a:prstGeom prst="rect">
              <a:avLst/>
            </a:prstGeom>
          </p:spPr>
          <p:txBody>
            <a:bodyPr lIns="0" tIns="0" rIns="0" bIns="0" rtlCol="0" anchor="t"/>
            <a:lstStyle/>
            <a:p>
              <a:pPr algn="l">
                <a:lnSpc>
                  <a:spcPts val="16320"/>
                </a:lnSpc>
              </a:pPr>
              <a:r>
                <a:rPr lang="en-US" sz="13600">
                  <a:solidFill>
                    <a:srgbClr val="0070C0"/>
                  </a:solidFill>
                  <a:latin typeface="Times New Roman"/>
                  <a:ea typeface="Times New Roman"/>
                  <a:cs typeface="Times New Roman"/>
                  <a:sym typeface="Times New Roman"/>
                </a:rPr>
                <a:t>    </a:t>
              </a:r>
              <a:r>
                <a:rPr lang="en-US" sz="13600">
                  <a:solidFill>
                    <a:srgbClr val="001D58"/>
                  </a:solidFill>
                  <a:latin typeface="Times New Roman"/>
                  <a:ea typeface="Times New Roman"/>
                  <a:cs typeface="Times New Roman"/>
                  <a:sym typeface="Times New Roman"/>
                </a:rPr>
                <a:t>THANK YOU</a:t>
              </a:r>
            </a:p>
          </p:txBody>
        </p:sp>
      </p:grpSp>
      <p:grpSp>
        <p:nvGrpSpPr>
          <p:cNvPr id="10" name="Group 10"/>
          <p:cNvGrpSpPr/>
          <p:nvPr/>
        </p:nvGrpSpPr>
        <p:grpSpPr>
          <a:xfrm>
            <a:off x="392782" y="9324975"/>
            <a:ext cx="578768" cy="578768"/>
            <a:chOff x="0" y="0"/>
            <a:chExt cx="152433" cy="152433"/>
          </a:xfrm>
        </p:grpSpPr>
        <p:sp>
          <p:nvSpPr>
            <p:cNvPr id="11" name="Freeform 11"/>
            <p:cNvSpPr/>
            <p:nvPr/>
          </p:nvSpPr>
          <p:spPr>
            <a:xfrm>
              <a:off x="0" y="0"/>
              <a:ext cx="152433" cy="152433"/>
            </a:xfrm>
            <a:custGeom>
              <a:avLst/>
              <a:gdLst/>
              <a:ahLst/>
              <a:cxnLst/>
              <a:rect l="l" t="t" r="r" b="b"/>
              <a:pathLst>
                <a:path w="152433" h="152433">
                  <a:moveTo>
                    <a:pt x="0" y="0"/>
                  </a:moveTo>
                  <a:lnTo>
                    <a:pt x="152433" y="0"/>
                  </a:lnTo>
                  <a:lnTo>
                    <a:pt x="152433" y="152433"/>
                  </a:lnTo>
                  <a:lnTo>
                    <a:pt x="0" y="152433"/>
                  </a:lnTo>
                  <a:close/>
                </a:path>
              </a:pathLst>
            </a:custGeom>
            <a:solidFill>
              <a:srgbClr val="FF4500"/>
            </a:solidFill>
          </p:spPr>
        </p:sp>
        <p:sp>
          <p:nvSpPr>
            <p:cNvPr id="12" name="TextBox 12"/>
            <p:cNvSpPr txBox="1"/>
            <p:nvPr/>
          </p:nvSpPr>
          <p:spPr>
            <a:xfrm>
              <a:off x="0" y="-47625"/>
              <a:ext cx="152433" cy="200058"/>
            </a:xfrm>
            <a:prstGeom prst="rect">
              <a:avLst/>
            </a:prstGeom>
          </p:spPr>
          <p:txBody>
            <a:bodyPr lIns="50800" tIns="50800" rIns="50800" bIns="50800" rtlCol="0" anchor="ctr"/>
            <a:lstStyle/>
            <a:p>
              <a:pPr algn="ctr">
                <a:lnSpc>
                  <a:spcPts val="3499"/>
                </a:lnSpc>
              </a:pPr>
              <a:r>
                <a:rPr lang="en-US" sz="2499">
                  <a:solidFill>
                    <a:srgbClr val="FFFFFF"/>
                  </a:solidFill>
                  <a:latin typeface="Canva Sans"/>
                  <a:ea typeface="Canva Sans"/>
                  <a:cs typeface="Canva Sans"/>
                  <a:sym typeface="Canva Sans"/>
                </a:rPr>
                <a:t>15</a:t>
              </a:r>
            </a:p>
          </p:txBody>
        </p:sp>
      </p:grpSp>
      <p:sp>
        <p:nvSpPr>
          <p:cNvPr id="13" name="Freeform 13"/>
          <p:cNvSpPr/>
          <p:nvPr/>
        </p:nvSpPr>
        <p:spPr>
          <a:xfrm>
            <a:off x="13976138" y="404027"/>
            <a:ext cx="3922888" cy="880198"/>
          </a:xfrm>
          <a:custGeom>
            <a:avLst/>
            <a:gdLst/>
            <a:ahLst/>
            <a:cxnLst/>
            <a:rect l="l" t="t" r="r" b="b"/>
            <a:pathLst>
              <a:path w="3922888" h="880198">
                <a:moveTo>
                  <a:pt x="0" y="0"/>
                </a:moveTo>
                <a:lnTo>
                  <a:pt x="3922888" y="0"/>
                </a:lnTo>
                <a:lnTo>
                  <a:pt x="3922888" y="880199"/>
                </a:lnTo>
                <a:lnTo>
                  <a:pt x="0" y="880199"/>
                </a:lnTo>
                <a:lnTo>
                  <a:pt x="0" y="0"/>
                </a:lnTo>
                <a:close/>
              </a:path>
            </a:pathLst>
          </a:custGeom>
          <a:blipFill>
            <a:blip r:embed="rId3"/>
            <a:stretch>
              <a:fillRect/>
            </a:stretch>
          </a:blipFill>
        </p:spPr>
      </p:sp>
      <p:sp>
        <p:nvSpPr>
          <p:cNvPr id="14" name="TextBox 14"/>
          <p:cNvSpPr txBox="1"/>
          <p:nvPr/>
        </p:nvSpPr>
        <p:spPr>
          <a:xfrm>
            <a:off x="15490814" y="9030873"/>
            <a:ext cx="1853882" cy="604520"/>
          </a:xfrm>
          <a:prstGeom prst="rect">
            <a:avLst/>
          </a:prstGeom>
        </p:spPr>
        <p:txBody>
          <a:bodyPr lIns="0" tIns="0" rIns="0" bIns="0" rtlCol="0" anchor="t">
            <a:spAutoFit/>
          </a:bodyPr>
          <a:lstStyle/>
          <a:p>
            <a:pPr algn="ctr">
              <a:lnSpc>
                <a:spcPts val="4480"/>
              </a:lnSpc>
            </a:pPr>
            <a:r>
              <a:rPr lang="en-US" sz="3200">
                <a:solidFill>
                  <a:srgbClr val="000000"/>
                </a:solidFill>
                <a:latin typeface="Times New Roman"/>
                <a:ea typeface="Times New Roman"/>
                <a:cs typeface="Times New Roman"/>
                <a:sym typeface="Times New Roman"/>
              </a:rPr>
              <a:t>18/02/2025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391</TotalTime>
  <Words>2148</Words>
  <Application>Microsoft Office PowerPoint</Application>
  <PresentationFormat>Custom</PresentationFormat>
  <Paragraphs>225</Paragraphs>
  <Slides>16</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PT Serif Bold Italics</vt:lpstr>
      <vt:lpstr>Arial</vt:lpstr>
      <vt:lpstr>PT Serif Bold</vt:lpstr>
      <vt:lpstr>Calibri</vt:lpstr>
      <vt:lpstr>PT Serif</vt:lpstr>
      <vt:lpstr>Times New Roman</vt:lpstr>
      <vt:lpstr>Canva Sans</vt:lpstr>
      <vt:lpstr>Times New Roman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mini_project</dc:title>
  <dc:creator>HARI KISHORE</dc:creator>
  <cp:lastModifiedBy>SURESHKUMAR T.K</cp:lastModifiedBy>
  <cp:revision>4</cp:revision>
  <dcterms:created xsi:type="dcterms:W3CDTF">2006-08-16T00:00:00Z</dcterms:created>
  <dcterms:modified xsi:type="dcterms:W3CDTF">2026-02-16T01:45:25Z</dcterms:modified>
  <dc:identifier>DAGe8UZLz14</dc:identifier>
</cp:coreProperties>
</file>