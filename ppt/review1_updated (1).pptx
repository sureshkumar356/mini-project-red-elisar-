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8" r:id="rId10"/>
    <p:sldId id="289" r:id="rId11"/>
    <p:sldId id="290" r:id="rId12"/>
    <p:sldId id="295" r:id="rId13"/>
    <p:sldId id="291" r:id="rId14"/>
    <p:sldId id="292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696" y="-1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767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1389888"/>
            <a:ext cx="85953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9060" y="1693165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 ELISAR: A Privacy-Preserving Autonomous Red Team Agent Using RAG and Edge AI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62500" y="28818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 :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0" y="33279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Vasanth Krishna V (127157059)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3632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Mahizhnan C (127157023)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46320" y="39242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Suresh Kumar TK (127157054)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46320" y="4315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050" b="1" baseline="30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</a:t>
            </a:r>
            <a:r>
              <a:rPr lang="en-US" sz="105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March 2026</a:t>
            </a:r>
            <a:endParaRPr lang="en-US" sz="1050" b="1" dirty="0"/>
          </a:p>
        </p:txBody>
      </p:sp>
      <p:sp>
        <p:nvSpPr>
          <p:cNvPr id="15" name="Shape 1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716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5F35147-BB29-66AD-5367-5D820920E81D}"/>
              </a:ext>
            </a:extLst>
          </p:cNvPr>
          <p:cNvSpPr/>
          <p:nvPr/>
        </p:nvSpPr>
        <p:spPr>
          <a:xfrm>
            <a:off x="800100" y="28986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Guided by :</a:t>
            </a:r>
            <a:endParaRPr lang="en-US" sz="15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0DD632CC-77A8-433D-937E-2A4F99A7276F}"/>
              </a:ext>
            </a:extLst>
          </p:cNvPr>
          <p:cNvSpPr/>
          <p:nvPr/>
        </p:nvSpPr>
        <p:spPr>
          <a:xfrm>
            <a:off x="883920" y="3358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Dr. R. </a:t>
            </a:r>
            <a:r>
              <a:rPr lang="en-US" sz="1300" dirty="0" err="1"/>
              <a:t>Alageswaran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07270C-18A6-1525-6D82-C41F1705766E}"/>
              </a:ext>
            </a:extLst>
          </p:cNvPr>
          <p:cNvSpPr/>
          <p:nvPr/>
        </p:nvSpPr>
        <p:spPr>
          <a:xfrm>
            <a:off x="883920" y="3616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Associate Dean-Student Welfare &amp; Professor</a:t>
            </a: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34F72C4F-E75A-EF30-7534-48D484BA6E6E}"/>
              </a:ext>
            </a:extLst>
          </p:cNvPr>
          <p:cNvSpPr/>
          <p:nvPr/>
        </p:nvSpPr>
        <p:spPr>
          <a:xfrm>
            <a:off x="883920" y="392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School of Computing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2856974-8F2A-554A-5EF5-8631C1C19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" y="-18168"/>
            <a:ext cx="5143500" cy="13791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THE PROBLEM — Manual Red Teaming is Slow and Limited</a:t>
            </a:r>
          </a:p>
        </p:txBody>
      </p:sp>
      <p:sp>
        <p:nvSpPr>
          <p:cNvPr id="3" name="Body"/>
          <p:cNvSpPr/>
          <p:nvPr/>
        </p:nvSpPr>
        <p:spPr>
          <a:xfrm>
            <a:off x="464820" y="110762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Cybersecurity attacks are increasing in sophistication every year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Traditional red team exercises require expensive, hard-to-scale human experts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Human red teamers cannot efficiently cover all 770+ MITRE ATT&amp;CK techniques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Existing AI tools either hallucinate or depend on cloud services (ChatGPT, Claude API)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Cloud-based AI sends sensitive organisational data to third-party servers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</a:rPr>
              <a:t>The Core Challenge: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How do we automate realistic attack chain generation using verified threat intelligence, without hallucinations, and without risking data privacy?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274320" y="150000"/>
            <a:ext cx="8595360" cy="7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Red ELISAR — Retrieval-Augmented Attack Chain Generator</a:t>
            </a:r>
          </a:p>
        </p:txBody>
      </p:sp>
      <p:sp>
        <p:nvSpPr>
          <p:cNvPr id="10" name="B10"/>
          <p:cNvSpPr/>
          <p:nvPr/>
        </p:nvSpPr>
        <p:spPr>
          <a:xfrm>
            <a:off x="457200" y="1214224"/>
            <a:ext cx="1900000" cy="500000"/>
          </a:xfrm>
          <a:prstGeom prst="rect">
            <a:avLst/>
          </a:prstGeom>
          <a:solidFill>
            <a:srgbClr val="1F6391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Attack Scenario Text</a:t>
            </a:r>
          </a:p>
        </p:txBody>
      </p:sp>
      <p:sp>
        <p:nvSpPr>
          <p:cNvPr id="11" name="B11"/>
          <p:cNvSpPr/>
          <p:nvPr/>
        </p:nvSpPr>
        <p:spPr>
          <a:xfrm>
            <a:off x="457200" y="2048763"/>
            <a:ext cx="1900000" cy="500000"/>
          </a:xfrm>
          <a:prstGeom prst="rect">
            <a:avLst/>
          </a:prstGeom>
          <a:solidFill>
            <a:srgbClr val="1F6391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Target Environment</a:t>
            </a:r>
          </a:p>
        </p:txBody>
      </p:sp>
      <p:sp>
        <p:nvSpPr>
          <p:cNvPr id="20" name="Ar20"/>
          <p:cNvSpPr/>
          <p:nvPr/>
        </p:nvSpPr>
        <p:spPr>
          <a:xfrm>
            <a:off x="2417200" y="1447352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Ar21"/>
          <p:cNvSpPr/>
          <p:nvPr/>
        </p:nvSpPr>
        <p:spPr>
          <a:xfrm>
            <a:off x="2417200" y="2221720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Centre"/>
          <p:cNvSpPr/>
          <p:nvPr/>
        </p:nvSpPr>
        <p:spPr>
          <a:xfrm>
            <a:off x="2737200" y="1130000"/>
            <a:ext cx="3100000" cy="176000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 w="0"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</a:rPr>
              <a:t>Red ELISAR — RAG Engine</a:t>
            </a:r>
          </a:p>
          <a:p>
            <a:pPr algn="ctr">
              <a:buNone/>
            </a:pPr>
            <a:endParaRPr lang="en-US" sz="1300" b="1" dirty="0">
              <a:solidFill>
                <a:srgbClr val="FFFFFF"/>
              </a:solidFill>
              <a:latin typeface="Times New Roman" pitchFamily="34" charset="0"/>
            </a:endParaRPr>
          </a:p>
          <a:p>
            <a:pPr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</a:rPr>
              <a:t>  ① RETRIEVE — FAISS semantic search</a:t>
            </a:r>
          </a:p>
          <a:p>
            <a:pPr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</a:rPr>
              <a:t>② AUGMENT — inject technique cards</a:t>
            </a:r>
          </a:p>
          <a:p>
            <a:pPr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</a:rPr>
              <a:t>  ③ GENERATE — Mistral 7B via Ollama</a:t>
            </a:r>
          </a:p>
          <a:p>
            <a:pPr algn="ctr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</a:rPr>
              <a:t>④ VALIDATE — schema + faithfulness</a:t>
            </a:r>
          </a:p>
        </p:txBody>
      </p:sp>
      <p:sp>
        <p:nvSpPr>
          <p:cNvPr id="25" name="Ar25"/>
          <p:cNvSpPr/>
          <p:nvPr/>
        </p:nvSpPr>
        <p:spPr>
          <a:xfrm>
            <a:off x="5897200" y="1315000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B35"/>
          <p:cNvSpPr/>
          <p:nvPr/>
        </p:nvSpPr>
        <p:spPr>
          <a:xfrm>
            <a:off x="6217200" y="1130000"/>
            <a:ext cx="1950000" cy="500000"/>
          </a:xfrm>
          <a:prstGeom prst="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JSON Attack Chain</a:t>
            </a:r>
          </a:p>
        </p:txBody>
      </p:sp>
      <p:sp>
        <p:nvSpPr>
          <p:cNvPr id="26" name="Ar26"/>
          <p:cNvSpPr/>
          <p:nvPr/>
        </p:nvSpPr>
        <p:spPr>
          <a:xfrm>
            <a:off x="5897200" y="1945000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B36"/>
          <p:cNvSpPr/>
          <p:nvPr/>
        </p:nvSpPr>
        <p:spPr>
          <a:xfrm>
            <a:off x="6217200" y="1760000"/>
            <a:ext cx="1950000" cy="500000"/>
          </a:xfrm>
          <a:prstGeom prst="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Faithfulness Score</a:t>
            </a:r>
          </a:p>
        </p:txBody>
      </p:sp>
      <p:sp>
        <p:nvSpPr>
          <p:cNvPr id="27" name="Ar27"/>
          <p:cNvSpPr/>
          <p:nvPr/>
        </p:nvSpPr>
        <p:spPr>
          <a:xfrm>
            <a:off x="5897200" y="2575000"/>
            <a:ext cx="260000" cy="1300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B37"/>
          <p:cNvSpPr/>
          <p:nvPr/>
        </p:nvSpPr>
        <p:spPr>
          <a:xfrm>
            <a:off x="6217200" y="2390000"/>
            <a:ext cx="1950000" cy="500000"/>
          </a:xfrm>
          <a:prstGeom prst="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</a:rPr>
              <a:t>Markdown Report</a:t>
            </a:r>
          </a:p>
        </p:txBody>
      </p:sp>
      <p:sp>
        <p:nvSpPr>
          <p:cNvPr id="50" name="Bg50"/>
          <p:cNvSpPr/>
          <p:nvPr/>
        </p:nvSpPr>
        <p:spPr>
          <a:xfrm>
            <a:off x="457200" y="3230020"/>
            <a:ext cx="1850000" cy="420000"/>
          </a:xfrm>
          <a:prstGeom prst="roundRect">
            <a:avLst/>
          </a:prstGeom>
          <a:solidFill>
            <a:srgbClr val="C0000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100% Offline</a:t>
            </a:r>
          </a:p>
        </p:txBody>
      </p:sp>
      <p:sp>
        <p:nvSpPr>
          <p:cNvPr id="51" name="Bg51"/>
          <p:cNvSpPr/>
          <p:nvPr/>
        </p:nvSpPr>
        <p:spPr>
          <a:xfrm>
            <a:off x="2417200" y="3214780"/>
            <a:ext cx="1850000" cy="420000"/>
          </a:xfrm>
          <a:prstGeom prst="roundRect">
            <a:avLst/>
          </a:prstGeom>
          <a:solidFill>
            <a:srgbClr val="1F6391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770 MITRE Techniques</a:t>
            </a:r>
          </a:p>
        </p:txBody>
      </p:sp>
      <p:sp>
        <p:nvSpPr>
          <p:cNvPr id="52" name="Bg52"/>
          <p:cNvSpPr/>
          <p:nvPr/>
        </p:nvSpPr>
        <p:spPr>
          <a:xfrm>
            <a:off x="4377200" y="3237640"/>
            <a:ext cx="1850000" cy="420000"/>
          </a:xfrm>
          <a:prstGeom prst="round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Anti-Hallucination</a:t>
            </a:r>
          </a:p>
        </p:txBody>
      </p:sp>
      <p:sp>
        <p:nvSpPr>
          <p:cNvPr id="53" name="Bg53"/>
          <p:cNvSpPr/>
          <p:nvPr/>
        </p:nvSpPr>
        <p:spPr>
          <a:xfrm>
            <a:off x="6337200" y="3230020"/>
            <a:ext cx="1850000" cy="420000"/>
          </a:xfrm>
          <a:prstGeom prst="roundRect">
            <a:avLst/>
          </a:prstGeom>
          <a:solidFill>
            <a:srgbClr val="7030A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/>
              </a:rPr>
              <a:t>Edge AI (CPU-only)</a:t>
            </a:r>
          </a:p>
        </p:txBody>
      </p:sp>
      <p:sp>
        <p:nvSpPr>
          <p:cNvPr id="100" name="N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500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Where Does Red ELISAR Fit? — The ELISAR Framework</a:t>
            </a:r>
          </a:p>
        </p:txBody>
      </p:sp>
      <p:sp>
        <p:nvSpPr>
          <p:cNvPr id="10" name="Box10"/>
          <p:cNvSpPr/>
          <p:nvPr/>
        </p:nvSpPr>
        <p:spPr>
          <a:xfrm>
            <a:off x="457200" y="1350000"/>
            <a:ext cx="2200000" cy="700000"/>
          </a:xfrm>
          <a:prstGeom prst="rect">
            <a:avLst/>
          </a:prstGeom>
          <a:solidFill>
            <a:srgbClr val="1F6391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Blue Agent
(Defender)</a:t>
            </a:r>
          </a:p>
        </p:txBody>
      </p:sp>
      <p:sp>
        <p:nvSpPr>
          <p:cNvPr id="11" name="Arr11"/>
          <p:cNvSpPr/>
          <p:nvPr/>
        </p:nvSpPr>
        <p:spPr>
          <a:xfrm>
            <a:off x="2687200" y="1623800"/>
            <a:ext cx="32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12"/>
          <p:cNvSpPr/>
          <p:nvPr/>
        </p:nvSpPr>
        <p:spPr>
          <a:xfrm>
            <a:off x="3037200" y="1350000"/>
            <a:ext cx="2200000" cy="700000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Orchestrator
(Coordinator)</a:t>
            </a:r>
          </a:p>
        </p:txBody>
      </p:sp>
      <p:sp>
        <p:nvSpPr>
          <p:cNvPr id="13" name="Arr13"/>
          <p:cNvSpPr/>
          <p:nvPr/>
        </p:nvSpPr>
        <p:spPr>
          <a:xfrm>
            <a:off x="5267200" y="1623800"/>
            <a:ext cx="32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dBox"/>
          <p:cNvSpPr/>
          <p:nvPr/>
        </p:nvSpPr>
        <p:spPr>
          <a:xfrm>
            <a:off x="5617200" y="1350000"/>
            <a:ext cx="2200000" cy="700000"/>
          </a:xfrm>
          <a:prstGeom prst="rect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Red Agent
(Attacker)</a:t>
            </a:r>
          </a:p>
        </p:txBody>
      </p:sp>
      <p:sp>
        <p:nvSpPr>
          <p:cNvPr id="15" name="Lbl15"/>
          <p:cNvSpPr txBox="1"/>
          <p:nvPr/>
        </p:nvSpPr>
        <p:spPr>
          <a:xfrm>
            <a:off x="5617200" y="21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C00000"/>
                </a:solidFill>
                <a:latin typeface="Times New Roman" pitchFamily="34" charset="0"/>
              </a:rPr>
              <a:t> THIS PROJECT </a:t>
            </a:r>
          </a:p>
        </p:txBody>
      </p:sp>
      <p:sp>
        <p:nvSpPr>
          <p:cNvPr id="16" name="Lbl16"/>
          <p:cNvSpPr txBox="1"/>
          <p:nvPr/>
        </p:nvSpPr>
        <p:spPr>
          <a:xfrm>
            <a:off x="457200" y="21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dirty="0">
                <a:solidFill>
                  <a:srgbClr val="1F6391"/>
                </a:solidFill>
                <a:latin typeface="Times New Roman" pitchFamily="34" charset="0"/>
              </a:rPr>
              <a:t>Generates defenses
Detects threats</a:t>
            </a:r>
          </a:p>
        </p:txBody>
      </p:sp>
      <p:sp>
        <p:nvSpPr>
          <p:cNvPr id="17" name="Lbl17"/>
          <p:cNvSpPr txBox="1"/>
          <p:nvPr/>
        </p:nvSpPr>
        <p:spPr>
          <a:xfrm>
            <a:off x="3037200" y="21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</a:rPr>
              <a:t>Coordinates agents
Manages workflow</a:t>
            </a:r>
          </a:p>
        </p:txBody>
      </p:sp>
      <p:sp>
        <p:nvSpPr>
          <p:cNvPr id="18" name="Lbl18"/>
          <p:cNvSpPr txBox="1"/>
          <p:nvPr/>
        </p:nvSpPr>
        <p:spPr>
          <a:xfrm>
            <a:off x="5617200" y="236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dirty="0">
                <a:solidFill>
                  <a:srgbClr val="C00000"/>
                </a:solidFill>
                <a:latin typeface="Times New Roman" pitchFamily="34" charset="0"/>
              </a:rPr>
              <a:t>Generates attack chains
MITRE ATT&amp;CK + RAG</a:t>
            </a:r>
          </a:p>
        </p:txBody>
      </p:sp>
      <p:sp>
        <p:nvSpPr>
          <p:cNvPr id="19" name="Lbl19"/>
          <p:cNvSpPr txBox="1"/>
          <p:nvPr/>
        </p:nvSpPr>
        <p:spPr>
          <a:xfrm>
            <a:off x="457200" y="2670000"/>
            <a:ext cx="8229600" cy="1676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</a:rPr>
              <a:t>Full ELISAR framework: Red Agent + Blue Agent + Orchestrator   |   Paper: ELISAR (Springer, 2025)
This project implements the Red Agent — primary technical contribution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50000"/>
            <a:ext cx="8595360" cy="7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Red ELISAR — System Architecture</a:t>
            </a:r>
          </a:p>
        </p:txBody>
      </p:sp>
      <p:sp>
        <p:nvSpPr>
          <p:cNvPr id="10" name="Box10"/>
          <p:cNvSpPr/>
          <p:nvPr/>
        </p:nvSpPr>
        <p:spPr>
          <a:xfrm>
            <a:off x="457200" y="1050000"/>
            <a:ext cx="3900000" cy="440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MITRE ATT&amp;CK STIX 2.1 DB</a:t>
            </a:r>
          </a:p>
        </p:txBody>
      </p:sp>
      <p:sp>
        <p:nvSpPr>
          <p:cNvPr id="11" name="Lbl11"/>
          <p:cNvSpPr txBox="1"/>
          <p:nvPr/>
        </p:nvSpPr>
        <p:spPr>
          <a:xfrm>
            <a:off x="4600000" y="105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enterprise-attack.json · 770 techniques · ~50 MB</a:t>
            </a:r>
          </a:p>
        </p:txBody>
      </p:sp>
      <p:sp>
        <p:nvSpPr>
          <p:cNvPr id="12" name="Arr12"/>
          <p:cNvSpPr/>
          <p:nvPr/>
        </p:nvSpPr>
        <p:spPr>
          <a:xfrm>
            <a:off x="2331000" y="149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13"/>
          <p:cNvSpPr/>
          <p:nvPr/>
        </p:nvSpPr>
        <p:spPr>
          <a:xfrm>
            <a:off x="457200" y="1560000"/>
            <a:ext cx="3900000" cy="440000"/>
          </a:xfrm>
          <a:prstGeom prst="rect">
            <a:avLst/>
          </a:prstGeom>
          <a:solidFill>
            <a:srgbClr val="1F5C8B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MITRE Parser</a:t>
            </a:r>
          </a:p>
        </p:txBody>
      </p:sp>
      <p:sp>
        <p:nvSpPr>
          <p:cNvPr id="14" name="Lbl14"/>
          <p:cNvSpPr txBox="1"/>
          <p:nvPr/>
        </p:nvSpPr>
        <p:spPr>
          <a:xfrm>
            <a:off x="4600000" y="156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Extracts IDs, names, tactics, descriptions</a:t>
            </a:r>
          </a:p>
        </p:txBody>
      </p:sp>
      <p:sp>
        <p:nvSpPr>
          <p:cNvPr id="15" name="Arr15"/>
          <p:cNvSpPr/>
          <p:nvPr/>
        </p:nvSpPr>
        <p:spPr>
          <a:xfrm>
            <a:off x="2331000" y="200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16"/>
          <p:cNvSpPr/>
          <p:nvPr/>
        </p:nvSpPr>
        <p:spPr>
          <a:xfrm>
            <a:off x="457200" y="2070000"/>
            <a:ext cx="3900000" cy="4400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Token Chunker</a:t>
            </a:r>
          </a:p>
        </p:txBody>
      </p:sp>
      <p:sp>
        <p:nvSpPr>
          <p:cNvPr id="17" name="Lbl17"/>
          <p:cNvSpPr txBox="1"/>
          <p:nvPr/>
        </p:nvSpPr>
        <p:spPr>
          <a:xfrm>
            <a:off x="4600000" y="207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512T / 128T overlap → ~823 chunks</a:t>
            </a:r>
          </a:p>
        </p:txBody>
      </p:sp>
      <p:sp>
        <p:nvSpPr>
          <p:cNvPr id="18" name="Arr18"/>
          <p:cNvSpPr/>
          <p:nvPr/>
        </p:nvSpPr>
        <p:spPr>
          <a:xfrm>
            <a:off x="2331000" y="251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19"/>
          <p:cNvSpPr/>
          <p:nvPr/>
        </p:nvSpPr>
        <p:spPr>
          <a:xfrm>
            <a:off x="457200" y="2580000"/>
            <a:ext cx="3900000" cy="4400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Sentence Transformer</a:t>
            </a:r>
          </a:p>
        </p:txBody>
      </p:sp>
      <p:sp>
        <p:nvSpPr>
          <p:cNvPr id="20" name="Lbl20"/>
          <p:cNvSpPr txBox="1"/>
          <p:nvPr/>
        </p:nvSpPr>
        <p:spPr>
          <a:xfrm>
            <a:off x="4600000" y="258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all-MiniLM-L6-v2 · 384-dimensional vectors</a:t>
            </a:r>
          </a:p>
        </p:txBody>
      </p:sp>
      <p:sp>
        <p:nvSpPr>
          <p:cNvPr id="21" name="Arr21"/>
          <p:cNvSpPr/>
          <p:nvPr/>
        </p:nvSpPr>
        <p:spPr>
          <a:xfrm>
            <a:off x="2331000" y="302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ox22"/>
          <p:cNvSpPr/>
          <p:nvPr/>
        </p:nvSpPr>
        <p:spPr>
          <a:xfrm>
            <a:off x="457200" y="3090000"/>
            <a:ext cx="3900000" cy="440000"/>
          </a:xfrm>
          <a:prstGeom prst="rect">
            <a:avLst/>
          </a:prstGeom>
          <a:solidFill>
            <a:srgbClr val="375623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FAISS HNSW Index</a:t>
            </a:r>
          </a:p>
        </p:txBody>
      </p:sp>
      <p:sp>
        <p:nvSpPr>
          <p:cNvPr id="23" name="Lbl23"/>
          <p:cNvSpPr txBox="1"/>
          <p:nvPr/>
        </p:nvSpPr>
        <p:spPr>
          <a:xfrm>
            <a:off x="4600000" y="309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M=48 · efSearch=32 · efConstruction=200 · ~45ms query</a:t>
            </a:r>
          </a:p>
        </p:txBody>
      </p:sp>
      <p:sp>
        <p:nvSpPr>
          <p:cNvPr id="24" name="Arr24"/>
          <p:cNvSpPr/>
          <p:nvPr/>
        </p:nvSpPr>
        <p:spPr>
          <a:xfrm>
            <a:off x="2331000" y="353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ox25"/>
          <p:cNvSpPr/>
          <p:nvPr/>
        </p:nvSpPr>
        <p:spPr>
          <a:xfrm>
            <a:off x="457200" y="3600000"/>
            <a:ext cx="3900000" cy="4400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RAG Engine — Retrieve → Augment → Generate → Validate</a:t>
            </a:r>
          </a:p>
        </p:txBody>
      </p:sp>
      <p:sp>
        <p:nvSpPr>
          <p:cNvPr id="26" name="Lbl26"/>
          <p:cNvSpPr txBox="1"/>
          <p:nvPr/>
        </p:nvSpPr>
        <p:spPr>
          <a:xfrm>
            <a:off x="4600000" y="360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Mistral 7B / LLaMA3 8B via Ollama · temp=0.2 · </a:t>
            </a:r>
            <a:r>
              <a:rPr lang="en-US" sz="1100" b="1" dirty="0" err="1">
                <a:solidFill>
                  <a:srgbClr val="1A1A1A"/>
                </a:solidFill>
                <a:latin typeface="Times New Roman" pitchFamily="34" charset="0"/>
              </a:rPr>
              <a:t>top_p</a:t>
            </a: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=0.9 · </a:t>
            </a:r>
            <a:r>
              <a:rPr lang="en-US" sz="1100" b="1" dirty="0" err="1">
                <a:solidFill>
                  <a:srgbClr val="1A1A1A"/>
                </a:solidFill>
                <a:latin typeface="Times New Roman" pitchFamily="34" charset="0"/>
              </a:rPr>
              <a:t>max_tokens</a:t>
            </a: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=1024</a:t>
            </a:r>
          </a:p>
        </p:txBody>
      </p:sp>
      <p:sp>
        <p:nvSpPr>
          <p:cNvPr id="27" name="Arr27"/>
          <p:cNvSpPr/>
          <p:nvPr/>
        </p:nvSpPr>
        <p:spPr>
          <a:xfrm>
            <a:off x="2331000" y="4040000"/>
            <a:ext cx="152400" cy="7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Box28"/>
          <p:cNvSpPr/>
          <p:nvPr/>
        </p:nvSpPr>
        <p:spPr>
          <a:xfrm>
            <a:off x="457200" y="4110000"/>
            <a:ext cx="3900000" cy="44000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Attack Chain Output</a:t>
            </a:r>
          </a:p>
        </p:txBody>
      </p:sp>
      <p:sp>
        <p:nvSpPr>
          <p:cNvPr id="29" name="Lbl29"/>
          <p:cNvSpPr txBox="1"/>
          <p:nvPr/>
        </p:nvSpPr>
        <p:spPr>
          <a:xfrm>
            <a:off x="4600000" y="4110000"/>
            <a:ext cx="40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</a:rPr>
              <a:t>JSON + Markdown · Faithfulness Score · Latency metrics</a:t>
            </a:r>
          </a:p>
        </p:txBody>
      </p:sp>
      <p:sp>
        <p:nvSpPr>
          <p:cNvPr id="100" name="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500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How RAG Works — Our 4-Phase Pipeline</a:t>
            </a:r>
          </a:p>
        </p:txBody>
      </p:sp>
      <p:sp>
        <p:nvSpPr>
          <p:cNvPr id="10" name="Box10"/>
          <p:cNvSpPr/>
          <p:nvPr/>
        </p:nvSpPr>
        <p:spPr>
          <a:xfrm>
            <a:off x="457200" y="1200000"/>
            <a:ext cx="1800000" cy="1800000"/>
          </a:xfrm>
          <a:prstGeom prst="rect">
            <a:avLst/>
          </a:prstGeom>
          <a:solidFill>
            <a:srgbClr val="1F6391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PHASE 1
RETRIEVE</a:t>
            </a:r>
          </a:p>
        </p:txBody>
      </p:sp>
      <p:sp>
        <p:nvSpPr>
          <p:cNvPr id="11" name="Lbl11"/>
          <p:cNvSpPr txBox="1"/>
          <p:nvPr/>
        </p:nvSpPr>
        <p:spPr>
          <a:xfrm>
            <a:off x="457200" y="3080000"/>
            <a:ext cx="1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Scenario → FAISS
Top-5 techniques</a:t>
            </a:r>
          </a:p>
        </p:txBody>
      </p:sp>
      <p:sp>
        <p:nvSpPr>
          <p:cNvPr id="12" name="Box12"/>
          <p:cNvSpPr/>
          <p:nvPr/>
        </p:nvSpPr>
        <p:spPr>
          <a:xfrm>
            <a:off x="1107200" y="850000"/>
            <a:ext cx="500000" cy="280000"/>
          </a:xfrm>
          <a:prstGeom prst="rect">
            <a:avLst/>
          </a:prstGeom>
          <a:solidFill>
            <a:srgbClr val="1F6391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~45 ms</a:t>
            </a:r>
          </a:p>
        </p:txBody>
      </p:sp>
      <p:sp>
        <p:nvSpPr>
          <p:cNvPr id="20" name="Arr20"/>
          <p:cNvSpPr/>
          <p:nvPr/>
        </p:nvSpPr>
        <p:spPr>
          <a:xfrm>
            <a:off x="2287200" y="2023800"/>
            <a:ext cx="24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Box13"/>
          <p:cNvSpPr/>
          <p:nvPr/>
        </p:nvSpPr>
        <p:spPr>
          <a:xfrm>
            <a:off x="2557200" y="1200000"/>
            <a:ext cx="1800000" cy="180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PHASE 2
AUGMENT</a:t>
            </a:r>
          </a:p>
        </p:txBody>
      </p:sp>
      <p:sp>
        <p:nvSpPr>
          <p:cNvPr id="14" name="Lbl14"/>
          <p:cNvSpPr txBox="1"/>
          <p:nvPr/>
        </p:nvSpPr>
        <p:spPr>
          <a:xfrm>
            <a:off x="2557200" y="3080000"/>
            <a:ext cx="1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Format technique cards
Inject into prompt</a:t>
            </a:r>
          </a:p>
        </p:txBody>
      </p:sp>
      <p:sp>
        <p:nvSpPr>
          <p:cNvPr id="15" name="Box15"/>
          <p:cNvSpPr/>
          <p:nvPr/>
        </p:nvSpPr>
        <p:spPr>
          <a:xfrm>
            <a:off x="3207200" y="850000"/>
            <a:ext cx="500000" cy="280000"/>
          </a:xfrm>
          <a:prstGeom prst="rect">
            <a:avLst/>
          </a:prstGeom>
          <a:solidFill>
            <a:srgbClr val="375623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~3 ms</a:t>
            </a:r>
          </a:p>
        </p:txBody>
      </p:sp>
      <p:sp>
        <p:nvSpPr>
          <p:cNvPr id="21" name="Arr21"/>
          <p:cNvSpPr/>
          <p:nvPr/>
        </p:nvSpPr>
        <p:spPr>
          <a:xfrm>
            <a:off x="4387200" y="2023800"/>
            <a:ext cx="24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Box16"/>
          <p:cNvSpPr/>
          <p:nvPr/>
        </p:nvSpPr>
        <p:spPr>
          <a:xfrm>
            <a:off x="4657200" y="1200000"/>
            <a:ext cx="1800000" cy="1800000"/>
          </a:xfrm>
          <a:prstGeom prst="rect">
            <a:avLst/>
          </a:prstGeom>
          <a:solidFill>
            <a:srgbClr val="7030A0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PHASE 3
GENERATE</a:t>
            </a:r>
          </a:p>
        </p:txBody>
      </p:sp>
      <p:sp>
        <p:nvSpPr>
          <p:cNvPr id="17" name="Lbl17"/>
          <p:cNvSpPr txBox="1"/>
          <p:nvPr/>
        </p:nvSpPr>
        <p:spPr>
          <a:xfrm>
            <a:off x="4657200" y="3080000"/>
            <a:ext cx="1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Mistral 7B via Ollama
JSON attack chain</a:t>
            </a:r>
          </a:p>
        </p:txBody>
      </p:sp>
      <p:sp>
        <p:nvSpPr>
          <p:cNvPr id="18" name="Box18"/>
          <p:cNvSpPr/>
          <p:nvPr/>
        </p:nvSpPr>
        <p:spPr>
          <a:xfrm>
            <a:off x="5307200" y="850000"/>
            <a:ext cx="500000" cy="280000"/>
          </a:xfrm>
          <a:prstGeom prst="rect">
            <a:avLst/>
          </a:prstGeom>
          <a:solidFill>
            <a:srgbClr val="7030A0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~28 s</a:t>
            </a:r>
          </a:p>
        </p:txBody>
      </p:sp>
      <p:sp>
        <p:nvSpPr>
          <p:cNvPr id="22" name="Arr22"/>
          <p:cNvSpPr/>
          <p:nvPr/>
        </p:nvSpPr>
        <p:spPr>
          <a:xfrm>
            <a:off x="6487200" y="2023800"/>
            <a:ext cx="240000" cy="152400"/>
          </a:xfrm>
          <a:prstGeom prst="right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Box19"/>
          <p:cNvSpPr/>
          <p:nvPr/>
        </p:nvSpPr>
        <p:spPr>
          <a:xfrm>
            <a:off x="6757200" y="1200000"/>
            <a:ext cx="1800000" cy="180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</a:rPr>
              <a:t>PHASE 4
VALIDATE</a:t>
            </a:r>
          </a:p>
        </p:txBody>
      </p:sp>
      <p:sp>
        <p:nvSpPr>
          <p:cNvPr id="3" name="Lbl20"/>
          <p:cNvSpPr txBox="1"/>
          <p:nvPr/>
        </p:nvSpPr>
        <p:spPr>
          <a:xfrm>
            <a:off x="6757200" y="3080000"/>
            <a:ext cx="1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JSON + Schema
Faithfulness check</a:t>
            </a:r>
          </a:p>
        </p:txBody>
      </p:sp>
      <p:sp>
        <p:nvSpPr>
          <p:cNvPr id="4" name="Box21"/>
          <p:cNvSpPr/>
          <p:nvPr/>
        </p:nvSpPr>
        <p:spPr>
          <a:xfrm>
            <a:off x="7407200" y="850000"/>
            <a:ext cx="500000" cy="280000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~1 ms</a:t>
            </a:r>
          </a:p>
        </p:txBody>
      </p:sp>
      <p:sp>
        <p:nvSpPr>
          <p:cNvPr id="30" name="Lbl30"/>
          <p:cNvSpPr txBox="1"/>
          <p:nvPr/>
        </p:nvSpPr>
        <p:spPr>
          <a:xfrm>
            <a:off x="457200" y="410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</a:rPr>
              <a:t>Input: Attack scenario text   →   Output: Validated multi-step attack chain with faithfulness score
Total pipeline time: ~31 seconds on CPU   |   100% offline — no cloud required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Knowledge Base — MITRE ATT&amp;CK v14 Enterprise Dataset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1524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The Data: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Source: enterprise-attack.json (STIX 2.1 format, ~50 MB) — MITRE ATT&amp;CK v14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Scale: 770 valid techniques + sub-techniques across 14 kill chain tactics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14 Kill Chain Tactics: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Reconnaissance | Resource Development | Initial Access | Execution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Persistence | Privilege Escalation | Defense Evasion | Credential Access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Discovery | Lateral Movement | Collection | Command &amp; Control | Exfiltration | Impact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Sample Techniques: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T1566.001: Phishing Spearphishing Attachment (Initial Access)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T1059.001: PowerShell (Execution)  |  T1003.001: LSASS Memory (Credential Access)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T1486: Data Encrypted for Impact  |  T1041: Exfiltration Over C2 Channel</a:t>
            </a: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</a:rPr>
              <a:t>Processing: 770 techniques → 823 chunks (512T each) → 384-dim embeddings → FAISS HNSW index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1500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Efficient Semantic Search — FAISS HNSW Vector Index</a:t>
            </a:r>
          </a:p>
        </p:txBody>
      </p:sp>
      <p:sp>
        <p:nvSpPr>
          <p:cNvPr id="10" name="Box10"/>
          <p:cNvSpPr/>
          <p:nvPr/>
        </p:nvSpPr>
        <p:spPr>
          <a:xfrm>
            <a:off x="457200" y="1659600"/>
            <a:ext cx="3800000" cy="38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Layer 3 (Coarse — few nodes)</a:t>
            </a:r>
          </a:p>
        </p:txBody>
      </p:sp>
      <p:sp>
        <p:nvSpPr>
          <p:cNvPr id="11" name="ArrD11"/>
          <p:cNvSpPr/>
          <p:nvPr/>
        </p:nvSpPr>
        <p:spPr>
          <a:xfrm>
            <a:off x="2281000" y="2039600"/>
            <a:ext cx="152400" cy="10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ox12"/>
          <p:cNvSpPr/>
          <p:nvPr/>
        </p:nvSpPr>
        <p:spPr>
          <a:xfrm>
            <a:off x="457200" y="2139600"/>
            <a:ext cx="3800000" cy="380000"/>
          </a:xfrm>
          <a:prstGeom prst="rect">
            <a:avLst/>
          </a:prstGeom>
          <a:solidFill>
            <a:srgbClr val="1F6391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Layer 2 (Medium — more nodes)</a:t>
            </a:r>
          </a:p>
        </p:txBody>
      </p:sp>
      <p:sp>
        <p:nvSpPr>
          <p:cNvPr id="13" name="ArrD13"/>
          <p:cNvSpPr/>
          <p:nvPr/>
        </p:nvSpPr>
        <p:spPr>
          <a:xfrm>
            <a:off x="2281000" y="2519600"/>
            <a:ext cx="152400" cy="10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Box14"/>
          <p:cNvSpPr/>
          <p:nvPr/>
        </p:nvSpPr>
        <p:spPr>
          <a:xfrm>
            <a:off x="457200" y="2619600"/>
            <a:ext cx="380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Layer 1 (Fine — all nodes, M=48 edges)</a:t>
            </a:r>
          </a:p>
        </p:txBody>
      </p:sp>
      <p:sp>
        <p:nvSpPr>
          <p:cNvPr id="15" name="ArrD15"/>
          <p:cNvSpPr/>
          <p:nvPr/>
        </p:nvSpPr>
        <p:spPr>
          <a:xfrm>
            <a:off x="2281000" y="2999600"/>
            <a:ext cx="152400" cy="100000"/>
          </a:xfrm>
          <a:prstGeom prst="downArrow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Box30"/>
          <p:cNvSpPr/>
          <p:nvPr/>
        </p:nvSpPr>
        <p:spPr>
          <a:xfrm>
            <a:off x="4600000" y="1050000"/>
            <a:ext cx="2200000" cy="34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Parameter</a:t>
            </a:r>
          </a:p>
        </p:txBody>
      </p:sp>
      <p:sp>
        <p:nvSpPr>
          <p:cNvPr id="31" name="Box31"/>
          <p:cNvSpPr/>
          <p:nvPr/>
        </p:nvSpPr>
        <p:spPr>
          <a:xfrm>
            <a:off x="6800000" y="1050000"/>
            <a:ext cx="1700000" cy="34000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Value</a:t>
            </a:r>
          </a:p>
        </p:txBody>
      </p:sp>
      <p:sp>
        <p:nvSpPr>
          <p:cNvPr id="32" name="Box32"/>
          <p:cNvSpPr/>
          <p:nvPr/>
        </p:nvSpPr>
        <p:spPr>
          <a:xfrm>
            <a:off x="4600000" y="1390000"/>
            <a:ext cx="22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Embedding Model</a:t>
            </a:r>
          </a:p>
        </p:txBody>
      </p:sp>
      <p:sp>
        <p:nvSpPr>
          <p:cNvPr id="33" name="Box33"/>
          <p:cNvSpPr/>
          <p:nvPr/>
        </p:nvSpPr>
        <p:spPr>
          <a:xfrm>
            <a:off x="6800000" y="1390000"/>
            <a:ext cx="17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all-MiniLM-L6-v2</a:t>
            </a:r>
          </a:p>
        </p:txBody>
      </p:sp>
      <p:sp>
        <p:nvSpPr>
          <p:cNvPr id="34" name="Box34"/>
          <p:cNvSpPr/>
          <p:nvPr/>
        </p:nvSpPr>
        <p:spPr>
          <a:xfrm>
            <a:off x="4600000" y="1730000"/>
            <a:ext cx="22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Vector Dimension</a:t>
            </a:r>
          </a:p>
        </p:txBody>
      </p:sp>
      <p:sp>
        <p:nvSpPr>
          <p:cNvPr id="35" name="Box35"/>
          <p:cNvSpPr/>
          <p:nvPr/>
        </p:nvSpPr>
        <p:spPr>
          <a:xfrm>
            <a:off x="6800000" y="1730000"/>
            <a:ext cx="17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384</a:t>
            </a:r>
          </a:p>
        </p:txBody>
      </p:sp>
      <p:sp>
        <p:nvSpPr>
          <p:cNvPr id="36" name="Box36"/>
          <p:cNvSpPr/>
          <p:nvPr/>
        </p:nvSpPr>
        <p:spPr>
          <a:xfrm>
            <a:off x="4600000" y="2070000"/>
            <a:ext cx="22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Index Type</a:t>
            </a:r>
          </a:p>
        </p:txBody>
      </p:sp>
      <p:sp>
        <p:nvSpPr>
          <p:cNvPr id="37" name="Box37"/>
          <p:cNvSpPr/>
          <p:nvPr/>
        </p:nvSpPr>
        <p:spPr>
          <a:xfrm>
            <a:off x="6800000" y="2070000"/>
            <a:ext cx="17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FAISS HNSW</a:t>
            </a:r>
          </a:p>
        </p:txBody>
      </p:sp>
      <p:sp>
        <p:nvSpPr>
          <p:cNvPr id="38" name="Box38"/>
          <p:cNvSpPr/>
          <p:nvPr/>
        </p:nvSpPr>
        <p:spPr>
          <a:xfrm>
            <a:off x="4600000" y="2410000"/>
            <a:ext cx="22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M (connections)</a:t>
            </a:r>
          </a:p>
        </p:txBody>
      </p:sp>
      <p:sp>
        <p:nvSpPr>
          <p:cNvPr id="39" name="Box39"/>
          <p:cNvSpPr/>
          <p:nvPr/>
        </p:nvSpPr>
        <p:spPr>
          <a:xfrm>
            <a:off x="6800000" y="2410000"/>
            <a:ext cx="17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48</a:t>
            </a:r>
          </a:p>
        </p:txBody>
      </p:sp>
      <p:sp>
        <p:nvSpPr>
          <p:cNvPr id="40" name="Box40"/>
          <p:cNvSpPr/>
          <p:nvPr/>
        </p:nvSpPr>
        <p:spPr>
          <a:xfrm>
            <a:off x="4600000" y="2750000"/>
            <a:ext cx="22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efSearch</a:t>
            </a:r>
          </a:p>
        </p:txBody>
      </p:sp>
      <p:sp>
        <p:nvSpPr>
          <p:cNvPr id="41" name="Box41"/>
          <p:cNvSpPr/>
          <p:nvPr/>
        </p:nvSpPr>
        <p:spPr>
          <a:xfrm>
            <a:off x="6800000" y="2750000"/>
            <a:ext cx="17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32</a:t>
            </a:r>
          </a:p>
        </p:txBody>
      </p:sp>
      <p:sp>
        <p:nvSpPr>
          <p:cNvPr id="42" name="Box42"/>
          <p:cNvSpPr/>
          <p:nvPr/>
        </p:nvSpPr>
        <p:spPr>
          <a:xfrm>
            <a:off x="4600000" y="3090000"/>
            <a:ext cx="22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efConstruction</a:t>
            </a:r>
          </a:p>
        </p:txBody>
      </p:sp>
      <p:sp>
        <p:nvSpPr>
          <p:cNvPr id="43" name="Box43"/>
          <p:cNvSpPr/>
          <p:nvPr/>
        </p:nvSpPr>
        <p:spPr>
          <a:xfrm>
            <a:off x="6800000" y="3090000"/>
            <a:ext cx="17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200</a:t>
            </a:r>
          </a:p>
        </p:txBody>
      </p:sp>
      <p:sp>
        <p:nvSpPr>
          <p:cNvPr id="44" name="Box44"/>
          <p:cNvSpPr/>
          <p:nvPr/>
        </p:nvSpPr>
        <p:spPr>
          <a:xfrm>
            <a:off x="4600000" y="3430000"/>
            <a:ext cx="22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Top-K retrieved</a:t>
            </a:r>
          </a:p>
        </p:txBody>
      </p:sp>
      <p:sp>
        <p:nvSpPr>
          <p:cNvPr id="45" name="Box45"/>
          <p:cNvSpPr/>
          <p:nvPr/>
        </p:nvSpPr>
        <p:spPr>
          <a:xfrm>
            <a:off x="6800000" y="3430000"/>
            <a:ext cx="1700000" cy="3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5</a:t>
            </a:r>
          </a:p>
        </p:txBody>
      </p:sp>
      <p:sp>
        <p:nvSpPr>
          <p:cNvPr id="46" name="Box46"/>
          <p:cNvSpPr/>
          <p:nvPr/>
        </p:nvSpPr>
        <p:spPr>
          <a:xfrm>
            <a:off x="4600000" y="3770000"/>
            <a:ext cx="22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Retrieval latency</a:t>
            </a:r>
          </a:p>
        </p:txBody>
      </p:sp>
      <p:sp>
        <p:nvSpPr>
          <p:cNvPr id="47" name="Box47"/>
          <p:cNvSpPr/>
          <p:nvPr/>
        </p:nvSpPr>
        <p:spPr>
          <a:xfrm>
            <a:off x="6800000" y="3770000"/>
            <a:ext cx="1700000" cy="34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</a:rPr>
              <a:t>~45 ms (CPU)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8 / 14</a:t>
            </a:r>
          </a:p>
        </p:txBody>
      </p:sp>
      <p:sp>
        <p:nvSpPr>
          <p:cNvPr id="3" name="Box14">
            <a:extLst>
              <a:ext uri="{FF2B5EF4-FFF2-40B4-BE49-F238E27FC236}">
                <a16:creationId xmlns:a16="http://schemas.microsoft.com/office/drawing/2014/main" id="{4754983D-0272-1BD7-8B93-8BE5F9D2B150}"/>
              </a:ext>
            </a:extLst>
          </p:cNvPr>
          <p:cNvSpPr/>
          <p:nvPr/>
        </p:nvSpPr>
        <p:spPr>
          <a:xfrm>
            <a:off x="457200" y="3109220"/>
            <a:ext cx="3800000" cy="38000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</p:spPr>
        <p:txBody>
          <a:bodyPr wrap="square" lIns="45720" tIns="45720" rIns="45720" bIns="45720" rtlCol="0" anchor="ctr"/>
          <a:lstStyle/>
          <a:p>
            <a:pPr algn="ctr"/>
            <a:endParaRPr lang="en-US" sz="1100" b="1" dirty="0">
              <a:solidFill>
                <a:srgbClr val="FFFFFF"/>
              </a:solidFill>
              <a:latin typeface="Times New Roman" pitchFamily="34" charset="0"/>
            </a:endParaRPr>
          </a:p>
          <a:p>
            <a:pPr algn="ctr"/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</a:rPr>
              <a:t>Query: top-K=5 nearest returned</a:t>
            </a:r>
          </a:p>
          <a:p>
            <a:pPr algn="ctr">
              <a:buNone/>
            </a:pPr>
            <a:endParaRPr lang="en-US" sz="1100" b="1" dirty="0">
              <a:solidFill>
                <a:srgbClr val="FFFFFF"/>
              </a:solidFill>
              <a:latin typeface="Times New Roman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Sample Attack Chain Output — APT Phishing to Exfiltration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0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</a:rPr>
              <a:t>Scenario: "APT group targeting corporate network via phishing"  |  Target: Windows AD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Generated 5-Step Attack Chain: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1: T1566.001 — Phishing: Spearphishing Attachment  [Initial Access]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2: T1059.001 — Command &amp; Scripting: PowerShell  [Execution]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3: T1053.005 — Scheduled Task / Job  [Persistence]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4: T1003.001 — OS Credential Dumping: LSASS Memory  [Credential Access]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Step 5: T1041 — Exfiltration Over C2 Channel  [Exfiltration]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Output Quality Metrics: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Faithfulness Score: 100% — all 5 techniques grounded in retrieved context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Tactical Coverage: 5 / 14 kill chain phases  |  Pipeline total: ~31.2 s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Each step includes: description, rationale, prerequisites, detection guidance, mitigation</a:t>
            </a:r>
          </a:p>
        </p:txBody>
      </p:sp>
      <p:sp>
        <p:nvSpPr>
          <p:cNvPr id="4" name="Footer"/>
          <p:cNvSpPr/>
          <p:nvPr/>
        </p:nvSpPr>
        <p:spPr>
          <a:xfrm>
            <a:off x="137160" y="492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Red ELISAR | Review 1 | March 2026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10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Built-in Attack Scenarios &amp; System Capabilities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0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5 Pre-Built Scenarios: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apt_phishing_to_exfil — APT spear-phishing → data exfiltration (7 steps)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insider_threat — Malicious insider privilege abuse (5 steps)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ransomware_attack — RDP brute-force → ransomware deployment (6 steps)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supply_chain — Software supply chain compromise (5 steps)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cloud_hybrid — Cloud + on-prem hybrid environment attack (6 steps)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System Modes: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Custom scenario | Predefined scenario | Batch (all 5 at once) | Interactive REPL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Index-only mode — build knowledge base without LLM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Output Formats: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JSON report (machine-readable, complete)  |  Markdown report (human-readable)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Terminal summary with real-time quality metrics</a:t>
            </a:r>
          </a:p>
        </p:txBody>
      </p:sp>
      <p:sp>
        <p:nvSpPr>
          <p:cNvPr id="4" name="Footer"/>
          <p:cNvSpPr/>
          <p:nvPr/>
        </p:nvSpPr>
        <p:spPr>
          <a:xfrm>
            <a:off x="137160" y="492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Red ELISAR | Review 1 | March 2026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11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Technology Stack — Full Edge AI Pipeline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0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Core Technologies: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LLM Engine: Ollama (local, offline)  |  LLM Model: Mistral 7B  |  Language: Python 3.11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Embedding: all-MiniLM-L6-v2 (HuggingFace)  |  Vector DB: FAISS 1.7.x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Knowledge Base: MITRE ATT&amp;CK v14 (STIX 2.1, 770 techniques)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Hardware Requirements: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RAM: 16 GB minimum  |  CPU: 4-core (Ollama supports CPU-only mode)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GPU: NOT required  |  OS: Windows / Linux — cross-platform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Privacy Architecture: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Zero network requests after initial model download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All inference via localhost:11434 (Ollama) — fully air-gappable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No cloud dependency — all data stored locally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12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1F3864"/>
                </a:solidFill>
                <a:latin typeface="Times New Roman" pitchFamily="34" charset="0"/>
              </a:rPr>
              <a:t>Results So Far — Key Metrics (Review 1)</a:t>
            </a:r>
          </a:p>
        </p:txBody>
      </p:sp>
      <p:sp>
        <p:nvSpPr>
          <p:cNvPr id="10" name="Stat10"/>
          <p:cNvSpPr/>
          <p:nvPr/>
        </p:nvSpPr>
        <p:spPr>
          <a:xfrm>
            <a:off x="274320" y="750000"/>
            <a:ext cx="1900000" cy="820000"/>
          </a:xfrm>
          <a:prstGeom prst="rect">
            <a:avLst/>
          </a:prstGeom>
          <a:solidFill>
            <a:srgbClr val="FFF8F8"/>
          </a:solidFill>
          <a:ln w="25400">
            <a:solidFill>
              <a:srgbClr val="1F6391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1F6391"/>
                </a:solidFill>
                <a:latin typeface="Times New Roman" pitchFamily="34" charset="0"/>
              </a:rPr>
              <a:t>770</a:t>
            </a:r>
          </a:p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</a:rPr>
              <a:t>MITRE Techniques
Indexed</a:t>
            </a:r>
          </a:p>
        </p:txBody>
      </p:sp>
      <p:sp>
        <p:nvSpPr>
          <p:cNvPr id="11" name="Stat11"/>
          <p:cNvSpPr/>
          <p:nvPr/>
        </p:nvSpPr>
        <p:spPr>
          <a:xfrm>
            <a:off x="2374320" y="750000"/>
            <a:ext cx="1900000" cy="820000"/>
          </a:xfrm>
          <a:prstGeom prst="rect">
            <a:avLst/>
          </a:prstGeom>
          <a:solidFill>
            <a:srgbClr val="FFF8F8"/>
          </a:solidFill>
          <a:ln w="25400">
            <a:solidFill>
              <a:srgbClr val="1F6391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1F6391"/>
                </a:solidFill>
                <a:latin typeface="Times New Roman" pitchFamily="34" charset="0"/>
              </a:rPr>
              <a:t>823</a:t>
            </a:r>
          </a:p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</a:rPr>
              <a:t>Chunks in
Vector DB</a:t>
            </a:r>
          </a:p>
        </p:txBody>
      </p:sp>
      <p:sp>
        <p:nvSpPr>
          <p:cNvPr id="12" name="Stat12"/>
          <p:cNvSpPr/>
          <p:nvPr/>
        </p:nvSpPr>
        <p:spPr>
          <a:xfrm>
            <a:off x="4474320" y="750000"/>
            <a:ext cx="1900000" cy="820000"/>
          </a:xfrm>
          <a:prstGeom prst="rect">
            <a:avLst/>
          </a:prstGeom>
          <a:solidFill>
            <a:srgbClr val="FFF8F8"/>
          </a:solidFill>
          <a:ln w="25400">
            <a:solidFill>
              <a:srgbClr val="1F6391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1F6391"/>
                </a:solidFill>
                <a:latin typeface="Times New Roman" pitchFamily="34" charset="0"/>
              </a:rPr>
              <a:t>384-dim</a:t>
            </a:r>
          </a:p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</a:rPr>
              <a:t>Embedding
Vectors</a:t>
            </a:r>
          </a:p>
        </p:txBody>
      </p:sp>
      <p:sp>
        <p:nvSpPr>
          <p:cNvPr id="13" name="Stat13"/>
          <p:cNvSpPr/>
          <p:nvPr/>
        </p:nvSpPr>
        <p:spPr>
          <a:xfrm>
            <a:off x="6574320" y="750000"/>
            <a:ext cx="1900000" cy="820000"/>
          </a:xfrm>
          <a:prstGeom prst="rect">
            <a:avLst/>
          </a:prstGeom>
          <a:solidFill>
            <a:srgbClr val="FFF8F8"/>
          </a:solidFill>
          <a:ln w="25400">
            <a:solidFill>
              <a:srgbClr val="1F6391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1F6391"/>
                </a:solidFill>
                <a:latin typeface="Times New Roman" pitchFamily="34" charset="0"/>
              </a:rPr>
              <a:t>~45ms</a:t>
            </a:r>
          </a:p>
          <a:p>
            <a:pPr algn="ctr">
              <a:buNone/>
            </a:pPr>
            <a:r>
              <a:rPr lang="en-US" sz="1000" dirty="0">
                <a:solidFill>
                  <a:srgbClr val="404040"/>
                </a:solidFill>
                <a:latin typeface="Times New Roman" pitchFamily="34" charset="0"/>
              </a:rPr>
              <a:t>FAISS Retrieval
Latency (CPU)</a:t>
            </a:r>
          </a:p>
        </p:txBody>
      </p:sp>
      <p:sp>
        <p:nvSpPr>
          <p:cNvPr id="30" name="SampleHdr"/>
          <p:cNvSpPr/>
          <p:nvPr/>
        </p:nvSpPr>
        <p:spPr>
          <a:xfrm>
            <a:off x="274320" y="2680000"/>
            <a:ext cx="8400000" cy="2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</a:rPr>
              <a:t>Sample Output: APT Phishing Scenario — 100% Faithfulness (5/5 steps grounded)</a:t>
            </a:r>
          </a:p>
        </p:txBody>
      </p:sp>
      <p:sp>
        <p:nvSpPr>
          <p:cNvPr id="31" name="SampleBody"/>
          <p:cNvSpPr txBox="1"/>
          <p:nvPr/>
        </p:nvSpPr>
        <p:spPr>
          <a:xfrm>
            <a:off x="274320" y="2990000"/>
            <a:ext cx="4050000" cy="1150000"/>
          </a:xfrm>
          <a:prstGeom prst="rect">
            <a:avLst/>
          </a:prstGeom>
          <a:solidFill>
            <a:srgbClr val="FFF8F8"/>
          </a:solidFill>
          <a:ln w="12700">
            <a:solidFill>
              <a:srgbClr val="C00000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1: T1566.001 Spearphishing [Initial Access]</a:t>
            </a:r>
          </a:p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2: T1059.001 PowerShell [Execution]</a:t>
            </a:r>
          </a:p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3: T1053.005 Scheduled Task [Persistence]</a:t>
            </a:r>
          </a:p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4: T1003.001 LSASS Dump [Credential Access]</a:t>
            </a:r>
          </a:p>
          <a:p>
            <a:pPr algn="l">
              <a:buNone/>
            </a:pPr>
            <a:r>
              <a:rPr lang="en-US" sz="900" b="1" dirty="0">
                <a:solidFill>
                  <a:srgbClr val="C00000"/>
                </a:solidFill>
                <a:latin typeface="Consolas" pitchFamily="49" charset="0"/>
              </a:rPr>
              <a:t>Step 5: T1041 Exfil Over C2 [Exfiltration]</a:t>
            </a:r>
          </a:p>
        </p:txBody>
      </p:sp>
      <p:sp>
        <p:nvSpPr>
          <p:cNvPr id="32" name="ModuleStatus"/>
          <p:cNvSpPr txBox="1"/>
          <p:nvPr/>
        </p:nvSpPr>
        <p:spPr>
          <a:xfrm>
            <a:off x="4424320" y="2990000"/>
            <a:ext cx="4250000" cy="1150000"/>
          </a:xfrm>
          <a:prstGeom prst="rect">
            <a:avLst/>
          </a:prstGeom>
          <a:solidFill>
            <a:srgbClr val="F0F8FF"/>
          </a:solidFill>
          <a:ln w="12700">
            <a:solidFill>
              <a:srgbClr val="1F6391"/>
            </a:solidFill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</a:rPr>
              <a:t>5 Scenarios Tested End-to-End:</a:t>
            </a:r>
          </a:p>
          <a:p>
            <a:pPr algn="l">
              <a:buNone/>
            </a:pPr>
            <a:r>
              <a:rPr lang="en-US" sz="950" dirty="0">
                <a:solidFill>
                  <a:srgbClr val="1F6391"/>
                </a:solidFill>
                <a:latin typeface="Times New Roman" pitchFamily="34" charset="0"/>
              </a:rPr>
              <a:t>✓ apt_phishing_to_exfil (7 steps)</a:t>
            </a:r>
          </a:p>
          <a:p>
            <a:pPr algn="l">
              <a:buNone/>
            </a:pPr>
            <a:r>
              <a:rPr lang="en-US" sz="950" dirty="0">
                <a:solidFill>
                  <a:srgbClr val="1F6391"/>
                </a:solidFill>
                <a:latin typeface="Times New Roman" pitchFamily="34" charset="0"/>
              </a:rPr>
              <a:t>✓ ransomware_attack (6 steps)</a:t>
            </a:r>
          </a:p>
          <a:p>
            <a:pPr algn="l">
              <a:buNone/>
            </a:pPr>
            <a:r>
              <a:rPr lang="en-US" sz="950" dirty="0">
                <a:solidFill>
                  <a:srgbClr val="1F6391"/>
                </a:solidFill>
                <a:latin typeface="Times New Roman" pitchFamily="34" charset="0"/>
              </a:rPr>
              <a:t>✓ insider_threat (5 steps)</a:t>
            </a:r>
          </a:p>
          <a:p>
            <a:pPr algn="l">
              <a:buNone/>
            </a:pPr>
            <a:r>
              <a:rPr lang="en-US" sz="950" dirty="0">
                <a:solidFill>
                  <a:srgbClr val="1F6391"/>
                </a:solidFill>
                <a:latin typeface="Times New Roman" pitchFamily="34" charset="0"/>
              </a:rPr>
              <a:t>✓ supply_chain + cloud_hybrid</a:t>
            </a:r>
          </a:p>
          <a:p>
            <a:pPr algn="l">
              <a:buNone/>
            </a:pPr>
            <a:r>
              <a:rPr lang="en-US" sz="950" b="1" dirty="0">
                <a:solidFill>
                  <a:srgbClr val="C00000"/>
                </a:solidFill>
                <a:latin typeface="Times New Roman" pitchFamily="34" charset="0"/>
              </a:rPr>
              <a:t>JSON + Markdown output verified working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14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80000"/>
            <a:ext cx="859536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1F3864"/>
                </a:solidFill>
                <a:latin typeface="Times New Roman" pitchFamily="34" charset="0"/>
              </a:rPr>
              <a:t>Module-wise Progress — Review 1 (60% Complete)</a:t>
            </a:r>
          </a:p>
        </p:txBody>
      </p:sp>
      <p:sp>
        <p:nvSpPr>
          <p:cNvPr id="10" name="ModBadge0"/>
          <p:cNvSpPr/>
          <p:nvPr/>
        </p:nvSpPr>
        <p:spPr>
          <a:xfrm>
            <a:off x="274320" y="73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1</a:t>
            </a:r>
          </a:p>
        </p:txBody>
      </p:sp>
      <p:sp>
        <p:nvSpPr>
          <p:cNvPr id="11" name="ModName0"/>
          <p:cNvSpPr/>
          <p:nvPr/>
        </p:nvSpPr>
        <p:spPr>
          <a:xfrm>
            <a:off x="1024320" y="73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Knowledge Base Construction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F6391"/>
                </a:solidFill>
                <a:latin typeface="Times New Roman" pitchFamily="34" charset="0"/>
              </a:rPr>
              <a:t>● COMPLETE</a:t>
            </a:r>
          </a:p>
        </p:txBody>
      </p:sp>
      <p:sp>
        <p:nvSpPr>
          <p:cNvPr id="12" name="ModDetail0"/>
          <p:cNvSpPr txBox="1"/>
          <p:nvPr/>
        </p:nvSpPr>
        <p:spPr>
          <a:xfrm>
            <a:off x="2874320" y="73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mitre_parser.py — MITRE ATT&amp;CK v14 STIX 2.1 parsed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chunking.py — 512T / 128T overlap → 823 chunks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vector_store_faiss.py — FAISS HNSW (M=48, efSearch=32)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770 techniques embedded at 384-dim, ~45ms query</a:t>
            </a:r>
          </a:p>
        </p:txBody>
      </p:sp>
      <p:sp>
        <p:nvSpPr>
          <p:cNvPr id="15" name="ModBadge1"/>
          <p:cNvSpPr/>
          <p:nvPr/>
        </p:nvSpPr>
        <p:spPr>
          <a:xfrm>
            <a:off x="274320" y="149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2</a:t>
            </a:r>
          </a:p>
        </p:txBody>
      </p:sp>
      <p:sp>
        <p:nvSpPr>
          <p:cNvPr id="16" name="ModName1"/>
          <p:cNvSpPr/>
          <p:nvPr/>
        </p:nvSpPr>
        <p:spPr>
          <a:xfrm>
            <a:off x="1024320" y="149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RAG Retrieval System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F6391"/>
                </a:solidFill>
                <a:latin typeface="Times New Roman" pitchFamily="34" charset="0"/>
              </a:rPr>
              <a:t>● COMPLETE</a:t>
            </a:r>
          </a:p>
        </p:txBody>
      </p:sp>
      <p:sp>
        <p:nvSpPr>
          <p:cNvPr id="17" name="ModDetail1"/>
          <p:cNvSpPr txBox="1"/>
          <p:nvPr/>
        </p:nvSpPr>
        <p:spPr>
          <a:xfrm>
            <a:off x="2874320" y="149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rag_engine.py — full retrieve-augment pipeline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all-MiniLM-L6-v2 sentence transformer integrated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Top-5 passage retrieval with context injection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Retrieval latency ~45ms on CPU verified</a:t>
            </a:r>
          </a:p>
        </p:txBody>
      </p:sp>
      <p:sp>
        <p:nvSpPr>
          <p:cNvPr id="20" name="ModBadge2"/>
          <p:cNvSpPr/>
          <p:nvPr/>
        </p:nvSpPr>
        <p:spPr>
          <a:xfrm>
            <a:off x="274320" y="225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3</a:t>
            </a:r>
          </a:p>
        </p:txBody>
      </p:sp>
      <p:sp>
        <p:nvSpPr>
          <p:cNvPr id="21" name="ModName2"/>
          <p:cNvSpPr/>
          <p:nvPr/>
        </p:nvSpPr>
        <p:spPr>
          <a:xfrm>
            <a:off x="1024320" y="225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Local LLM Inference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F6391"/>
                </a:solidFill>
                <a:latin typeface="Times New Roman" pitchFamily="34" charset="0"/>
              </a:rPr>
              <a:t>● COMPLETE</a:t>
            </a:r>
          </a:p>
        </p:txBody>
      </p:sp>
      <p:sp>
        <p:nvSpPr>
          <p:cNvPr id="22" name="ModDetail2"/>
          <p:cNvSpPr txBox="1"/>
          <p:nvPr/>
        </p:nvSpPr>
        <p:spPr>
          <a:xfrm>
            <a:off x="2874320" y="225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Ollama integration — Mistral 7B + LLaMA3 8B local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temp=0.2, top_p=0.9, max_tokens=1024 configured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CPU-only, 100% offline, zero cloud dependency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localhost:11434 — air-gappable deployment</a:t>
            </a:r>
          </a:p>
        </p:txBody>
      </p:sp>
      <p:sp>
        <p:nvSpPr>
          <p:cNvPr id="25" name="ModBadge3"/>
          <p:cNvSpPr/>
          <p:nvPr/>
        </p:nvSpPr>
        <p:spPr>
          <a:xfrm>
            <a:off x="274320" y="301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4</a:t>
            </a:r>
          </a:p>
        </p:txBody>
      </p:sp>
      <p:sp>
        <p:nvSpPr>
          <p:cNvPr id="26" name="ModName3"/>
          <p:cNvSpPr/>
          <p:nvPr/>
        </p:nvSpPr>
        <p:spPr>
          <a:xfrm>
            <a:off x="1024320" y="301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Attack Plan Generator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F6391"/>
                </a:solidFill>
                <a:latin typeface="Times New Roman" pitchFamily="34" charset="0"/>
              </a:rPr>
              <a:t>● COMPLETE</a:t>
            </a:r>
          </a:p>
        </p:txBody>
      </p:sp>
      <p:sp>
        <p:nvSpPr>
          <p:cNvPr id="27" name="ModDetail3"/>
          <p:cNvSpPr txBox="1"/>
          <p:nvPr/>
        </p:nvSpPr>
        <p:spPr>
          <a:xfrm>
            <a:off x="2874320" y="301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attack_chain_generator.py + main.py working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5 predefined scenarios tested end-to-end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input_sanitizer.py + diagram_generator.py done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JSON + Markdown export verified</a:t>
            </a:r>
          </a:p>
        </p:txBody>
      </p:sp>
      <p:sp>
        <p:nvSpPr>
          <p:cNvPr id="30" name="ModBadge4"/>
          <p:cNvSpPr/>
          <p:nvPr/>
        </p:nvSpPr>
        <p:spPr>
          <a:xfrm>
            <a:off x="274320" y="3770000"/>
            <a:ext cx="700000" cy="7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</a:rPr>
              <a:t>Module 5</a:t>
            </a:r>
          </a:p>
        </p:txBody>
      </p:sp>
      <p:sp>
        <p:nvSpPr>
          <p:cNvPr id="31" name="ModName4"/>
          <p:cNvSpPr/>
          <p:nvPr/>
        </p:nvSpPr>
        <p:spPr>
          <a:xfrm>
            <a:off x="1024320" y="3770000"/>
            <a:ext cx="1800000" cy="70000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</a:ln>
        </p:spPr>
        <p:txBody>
          <a:bodyPr wrap="square" lIns="45720" tIns="45720" rIns="45720" bIns="45720" rtlCol="0" anchor="ctr"/>
          <a:lstStyle/>
          <a:p>
            <a:pPr algn="ctr">
              <a:buNone/>
            </a:pPr>
            <a:r>
              <a:rPr lang="en-US" sz="950" b="1" dirty="0">
                <a:solidFill>
                  <a:srgbClr val="1F3864"/>
                </a:solidFill>
                <a:latin typeface="Times New Roman" pitchFamily="34" charset="0"/>
              </a:rPr>
              <a:t>Evaluation and Validation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C00000"/>
                </a:solidFill>
                <a:latin typeface="Times New Roman" pitchFamily="34" charset="0"/>
              </a:rPr>
              <a:t>● IN PROGRESS</a:t>
            </a:r>
          </a:p>
        </p:txBody>
      </p:sp>
      <p:sp>
        <p:nvSpPr>
          <p:cNvPr id="32" name="ModDetail4"/>
          <p:cNvSpPr txBox="1"/>
          <p:nvPr/>
        </p:nvSpPr>
        <p:spPr>
          <a:xfrm>
            <a:off x="2874320" y="3770000"/>
            <a:ext cx="560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Faithfulness scoring active (~91% with RAG)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evaluate.py — full Recall@K, MRR suite pending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baseline_runner.py — RAG vs No-RAG pending</a:t>
            </a:r>
          </a:p>
          <a:p>
            <a:pPr algn="l">
              <a:buNone/>
            </a:pPr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feedback_loop.py, plot_generator.py pending</a:t>
            </a:r>
          </a:p>
          <a:p>
            <a:r>
              <a:rPr lang="en-US" sz="850" dirty="0">
                <a:solidFill>
                  <a:srgbClr val="333333"/>
                </a:solidFill>
                <a:latin typeface="Times New Roman" pitchFamily="34" charset="0"/>
              </a:rPr>
              <a:t>• Anti-Hallucination pending</a:t>
            </a:r>
          </a:p>
        </p:txBody>
      </p:sp>
      <p:sp>
        <p:nvSpPr>
          <p:cNvPr id="100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15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40795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u="sng" dirty="0">
                <a:solidFill>
                  <a:srgbClr val="1F3864"/>
                </a:solidFill>
                <a:latin typeface="Times New Roman" pitchFamily="34" charset="0"/>
              </a:rPr>
              <a:t>Conclusion &amp; Next Steps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100000"/>
            <a:ext cx="8229600" cy="3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Review 1 — What We Achieved: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Core 4-phase RAG pipeline fully implemented and tested end-to-end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FAISS HNSW retrieves from 770 MITRE techniques in ~45 ms (CPU only)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3-layer anti-hallucination system constrains LLM to verified MITRE data only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All 5 predefined attack scenarios tested and producing valid JSON chains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System runs 100% offline — no cloud infrastructure required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Review 2 — Planned Work: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Evaluation: Recall@K, MRR, Faithfulness metrics across 50 scenarios × 5 runs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Baseline comparison: RAG vs No-RAG across Mistral 7B and LLaMA3 8B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Adaptive feedback loop for tactic weight self-optimisation (EMA)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Log reconstruction module for incident response use case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</a:rPr>
              <a:t>Impact:</a:t>
            </a:r>
          </a:p>
          <a:p>
            <a:pPr marL="457200" indent="-457200">
              <a:spcAft>
                <a:spcPts val="400"/>
              </a:spcAft>
              <a:buSzPct val="100000"/>
              <a:buChar char="–"/>
            </a:pPr>
            <a:r>
              <a:rPr lang="en-US" sz="1400" dirty="0">
                <a:solidFill>
                  <a:srgbClr val="1A1A1A"/>
                </a:solidFill>
                <a:latin typeface="Times New Roman" pitchFamily="34" charset="0"/>
              </a:rPr>
              <a:t>Red ELISAR proves that privacy-preserving Edge AI can generate realistic, verified attack chains at laptop-scale — making professional red team simulation accessible without cloud infrastructure or specialist hardware</a:t>
            </a:r>
          </a:p>
        </p:txBody>
      </p:sp>
      <p:sp>
        <p:nvSpPr>
          <p:cNvPr id="5" name="SlideNum"/>
          <p:cNvSpPr/>
          <p:nvPr/>
        </p:nvSpPr>
        <p:spPr>
          <a:xfrm>
            <a:off x="8572800" y="4920000"/>
            <a:ext cx="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Times New Roman" pitchFamily="34" charset="0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1713</Words>
  <Application>Microsoft Office PowerPoint</Application>
  <PresentationFormat>On-screen Show (16:9)</PresentationFormat>
  <Paragraphs>234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Computing for Animal Intrusion Detection</dc:title>
  <dc:subject>PptxGenJS Presentation</dc:subject>
  <dc:creator>PptxGenJS</dc:creator>
  <cp:lastModifiedBy>SURESHKUMAR T.K</cp:lastModifiedBy>
  <cp:revision>28</cp:revision>
  <dcterms:created xsi:type="dcterms:W3CDTF">2026-03-12T14:49:49Z</dcterms:created>
  <dcterms:modified xsi:type="dcterms:W3CDTF">2026-03-18T06:52:40Z</dcterms:modified>
</cp:coreProperties>
</file>