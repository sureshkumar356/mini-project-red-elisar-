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Arial"/>
              </a:rPr>
              <a:t>Percentage score per metric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No-RAG Baseline</c:v>
                </c:pt>
              </c:strCache>
            </c:strRef>
          </c:tx>
          <c:spPr>
            <a:solidFill>
              <a:srgbClr val="C550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2F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Tactical
Coverage</c:v>
                  </c:pt>
                  <c:pt idx="1">
                    <c:v>Valid
Techniques</c:v>
                  </c:pt>
                  <c:pt idx="2">
                    <c:v>Grounded
Chain</c:v>
                  </c:pt>
                  <c:pt idx="3">
                    <c:v>Chain Flow
Coherence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75</c:v>
                </c:pt>
                <c:pt idx="2">
                  <c:v>66.8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ELISAR (RAG)</c:v>
                </c:pt>
              </c:strCache>
            </c:strRef>
          </c:tx>
          <c:spPr>
            <a:solidFill>
              <a:srgbClr val="5482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2F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Tactical
Coverage</c:v>
                  </c:pt>
                  <c:pt idx="1">
                    <c:v>Valid
Techniques</c:v>
                  </c:pt>
                  <c:pt idx="2">
                    <c:v>Grounded
Chain</c:v>
                  </c:pt>
                  <c:pt idx="3">
                    <c:v>Chain Flow
Coherence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36.4</c:v>
                </c:pt>
                <c:pt idx="1">
                  <c:v>97.4</c:v>
                </c:pt>
                <c:pt idx="2">
                  <c:v>83.2</c:v>
                </c:pt>
                <c:pt idx="3">
                  <c:v>98.4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F2F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F2F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F2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F2F2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109728" cy="6858000"/>
          </a:xfrm>
          <a:prstGeom prst="rect">
            <a:avLst/>
          </a:prstGeom>
          <a:solidFill>
            <a:srgbClr val="E8A33A"/>
          </a:solidFill>
          <a:ln w="12700">
            <a:solidFill>
              <a:srgbClr val="E8A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|  REVIEW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Analyst-Grade Vulnerability Assessment with RAG and MITRE ATT&amp;CK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raw web findings to precise, context-aware attack chains”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53949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SASTRA Deemed University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640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9601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R. Alageswaran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1417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Dean - Student Welfare &amp; Professor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6766560" cy="0"/>
          </a:xfrm>
          <a:prstGeom prst="line">
            <a:avLst/>
          </a:prstGeom>
          <a:noFill/>
          <a:ln w="12700">
            <a:solidFill>
              <a:srgbClr val="B4C7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560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971800"/>
            <a:ext cx="6766560" cy="502920"/>
          </a:xfrm>
          <a:prstGeom prst="rect">
            <a:avLst/>
          </a:prstGeom>
          <a:solidFill>
            <a:srgbClr val="F7FAFD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127157023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971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Mahizhnan 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566160"/>
            <a:ext cx="6766560" cy="502920"/>
          </a:xfrm>
          <a:prstGeom prst="rect">
            <a:avLst/>
          </a:prstGeom>
          <a:solidFill>
            <a:srgbClr val="F7FAFD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127157054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566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Vasanth Krishna 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4160520"/>
            <a:ext cx="6766560" cy="502920"/>
          </a:xfrm>
          <a:prstGeom prst="rect">
            <a:avLst/>
          </a:prstGeom>
          <a:solidFill>
            <a:srgbClr val="F7FAFD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127157059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4160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Kumar TK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5029200"/>
            <a:ext cx="676656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5029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|  FINAL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56692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of this Presentation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| 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|  RESULTS &amp; EVALUATION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Recap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Focus &amp; Objectives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2834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33832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(Whole Flow)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ATT&amp;CK Flow Enforcement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52628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4480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Coverage &amp; Deduplication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507492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5029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Setup and Commands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1783080"/>
            <a:ext cx="365760" cy="365760"/>
          </a:xfrm>
          <a:prstGeom prst="ellipse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1737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Vulnerability Findings (VulnShop)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2331720"/>
            <a:ext cx="365760" cy="365760"/>
          </a:xfrm>
          <a:prstGeom prst="ellipse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2286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Scenario-wise Attack Chain Reports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880360"/>
            <a:ext cx="365760" cy="365760"/>
          </a:xfrm>
          <a:prstGeom prst="ellipse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2834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Baseline Comparison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3429000"/>
            <a:ext cx="365760" cy="365760"/>
          </a:xfrm>
          <a:prstGeom prst="ellipse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33832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Paper-Aligned Aggregate Metrics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17920" y="3977640"/>
            <a:ext cx="365760" cy="365760"/>
          </a:xfrm>
          <a:prstGeom prst="ellipse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 vs Base Paper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17920" y="4526280"/>
            <a:ext cx="365760" cy="365760"/>
          </a:xfrm>
          <a:prstGeom prst="ellipse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0840" y="4480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Improvements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5074920"/>
            <a:ext cx="365760" cy="365760"/>
          </a:xfrm>
          <a:prstGeom prst="ellipse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20840" y="5029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Work, Conclusion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Recap — What We Achieved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established the foundational offline RAG pipeline for grounded attack chain generation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9536" y="1554480"/>
            <a:ext cx="237744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59536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Techniques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57016" y="1554480"/>
            <a:ext cx="237744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57016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1554480"/>
            <a:ext cx="237744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54496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51976" y="1554480"/>
            <a:ext cx="237744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1976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~45ms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51976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(CPU)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477256" cy="2926080"/>
          </a:xfrm>
          <a:prstGeom prst="rect">
            <a:avLst/>
          </a:prstGeom>
          <a:solidFill>
            <a:srgbClr val="F7FAFD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5477256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00400"/>
            <a:ext cx="5202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Modules (Review 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511149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Construction — MITRE parser, chunker, FAISS HNSW index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System — all-MiniLM-L6-v2, top-5 passage retrieval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 — Ollama with Mistral 7B and LLaMA 3 8B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Plan Generator — 5 predefined scenarios, JSON and Markdown export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4496" y="3200400"/>
            <a:ext cx="5477256" cy="2926080"/>
          </a:xfrm>
          <a:prstGeom prst="rect">
            <a:avLst/>
          </a:prstGeom>
          <a:solidFill>
            <a:srgbClr val="FFF4E4"/>
          </a:solidFill>
          <a:ln w="12700">
            <a:solidFill>
              <a:srgbClr val="E8A3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3200400"/>
            <a:ext cx="5477256" cy="4114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3200400"/>
            <a:ext cx="5202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for Review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37376" y="3703320"/>
            <a:ext cx="511149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vulnerable target — chains were generated only from scenario 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and noisy findings across similar endpoints reduced precision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ATT&amp;CK technique assignments with weak vulnerability context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comparison against No-RAG baselines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Focus &amp;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Red ELISAR from a scenario-only generator into an analyst-grade live vulnerability-to-ATT&amp;CK mapping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6636" y="155448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636" y="1554480"/>
            <a:ext cx="91440" cy="2103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1783080"/>
            <a:ext cx="640080" cy="640080"/>
          </a:xfrm>
          <a:prstGeom prst="ellipse">
            <a:avLst/>
          </a:prstGeom>
          <a:solidFill>
            <a:srgbClr val="DEEB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67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68196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Target 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6676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vulnerabilities from real web targets through route crawling and active form probes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155448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1396" y="1554480"/>
            <a:ext cx="91440" cy="2103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1436" y="1783080"/>
            <a:ext cx="640080" cy="640080"/>
          </a:xfrm>
          <a:prstGeom prst="ellipse">
            <a:avLst/>
          </a:prstGeom>
          <a:solidFill>
            <a:srgbClr val="DEEB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143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62956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Mapping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1436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finding to the correct MITRE ATT&amp;CK primary technique using vulnerability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6156" y="155448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6156" y="1554480"/>
            <a:ext cx="91440" cy="2103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6196" y="1783080"/>
            <a:ext cx="640080" cy="640080"/>
          </a:xfrm>
          <a:prstGeom prst="ellipse">
            <a:avLst/>
          </a:prstGeom>
          <a:solidFill>
            <a:srgbClr val="DEEB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619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57716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Chain Generation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26196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compact and realistic 5 to 6 step attack chains with logical tactic progression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" y="38862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" y="3886200"/>
            <a:ext cx="91440" cy="2103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" y="4114800"/>
            <a:ext cx="640080" cy="640080"/>
          </a:xfrm>
          <a:prstGeom prst="ellipse">
            <a:avLst/>
          </a:prstGeom>
          <a:solidFill>
            <a:srgbClr val="DEEB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6819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Context Filtering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" y="48463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deduplication and remove unrelated malware, cloud, and phishing noise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1396" y="38862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11396" y="3886200"/>
            <a:ext cx="91440" cy="2103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1436" y="4114800"/>
            <a:ext cx="640080" cy="640080"/>
          </a:xfrm>
          <a:prstGeom prst="ellipse">
            <a:avLst/>
          </a:prstGeom>
          <a:solidFill>
            <a:srgbClr val="DEEB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143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6295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Output Formats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31436" y="48463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analyst-friendly reports in JSON, Markdown, and TXT for machine and human use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06156" y="38862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06156" y="3886200"/>
            <a:ext cx="91440" cy="2103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26196" y="4114800"/>
            <a:ext cx="640080" cy="640080"/>
          </a:xfrm>
          <a:prstGeom prst="ellipse">
            <a:avLst/>
          </a:prstGeom>
          <a:solidFill>
            <a:srgbClr val="DEEB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619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5771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Evaluation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26196" y="48463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No-RAG baselines (Mistral, LLaMA 3) with paper-aligned metrics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Why Live Evidence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4480560"/>
          </a:xfrm>
          <a:prstGeom prst="rect">
            <a:avLst/>
          </a:prstGeom>
          <a:solidFill>
            <a:srgbClr val="FDF2F2"/>
          </a:solidFill>
          <a:ln w="12700">
            <a:solidFill>
              <a:srgbClr val="C550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394960" cy="54864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Reports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49377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findings across endpoints create analyst fatigue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or incorrect ATT&amp;CK mapping with no vulnerability context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and data dumps with low practical relevance to web apps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attack narrative from finding to real-world impact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malware and APT-style suggestions on pure web vulnerabilities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enforcement of logical tactic progression in generated chains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4480560"/>
          </a:xfrm>
          <a:prstGeom prst="rect">
            <a:avLst/>
          </a:prstGeom>
          <a:solidFill>
            <a:srgbClr val="E2EFDA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188720"/>
            <a:ext cx="5394960" cy="54864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Refined Goal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011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produces precise, realistic, and actionable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ATT&amp;CK-aligned chains </a:t>
            </a:r>
            <a:pPr indent="0" marL="0">
              <a:buNone/>
            </a:pPr>
            <a:r>
              <a:rPr lang="en-US" sz="15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vulnerability 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3017520"/>
            <a:ext cx="4937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probes on reachable routes and discovered forms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3611880"/>
            <a:ext cx="4937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Grounding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family drives the primary ATT&amp;CK technique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4206240"/>
            <a:ext cx="4937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Merge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4206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type dedup with evidence consolidation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4800600"/>
            <a:ext cx="4937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800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Filtering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48006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Web-relevant tools only; reject irrelevant vectors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— Live Vulnerability to ATT&amp;CK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93876" y="1051560"/>
            <a:ext cx="731520" cy="7315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3876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16836" y="1051560"/>
            <a:ext cx="8778240" cy="731520"/>
          </a:xfrm>
          <a:prstGeom prst="rect">
            <a:avLst/>
          </a:prstGeom>
          <a:solidFill>
            <a:srgbClr val="F7FAFD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6836" y="1051560"/>
            <a:ext cx="73152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99716" y="1051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42916" y="10515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URL (http://127.0.0.1:5000)  |  Optional scenario and target environment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93876" y="1856232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3876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116836" y="1856232"/>
            <a:ext cx="8778240" cy="731520"/>
          </a:xfrm>
          <a:prstGeom prst="rect">
            <a:avLst/>
          </a:prstGeom>
          <a:solidFill>
            <a:srgbClr val="F7FA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16836" y="1856232"/>
            <a:ext cx="73152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9716" y="18562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42916" y="185623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crawl  |  Link extraction  |  Form / action / input extraction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93876" y="2660904"/>
            <a:ext cx="731520" cy="731520"/>
          </a:xfrm>
          <a:prstGeom prst="ellipse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3876" y="26609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116836" y="2660904"/>
            <a:ext cx="8778240" cy="731520"/>
          </a:xfrm>
          <a:prstGeom prst="rect">
            <a:avLst/>
          </a:prstGeom>
          <a:solidFill>
            <a:srgbClr val="F7FAFD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16836" y="2660904"/>
            <a:ext cx="73152" cy="73152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99716" y="266090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42916" y="266090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checks (headers, CORS, SSL)  |  Live probes (SQLi, XSS, auth bypass)  |  Form active probes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93876" y="3465576"/>
            <a:ext cx="731520" cy="73152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3876" y="34655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2116836" y="3465576"/>
            <a:ext cx="8778240" cy="731520"/>
          </a:xfrm>
          <a:prstGeom prst="rect">
            <a:avLst/>
          </a:prstGeom>
          <a:solidFill>
            <a:srgbClr val="F7FAFD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16836" y="3465576"/>
            <a:ext cx="73152" cy="73152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99716" y="346557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+ Dedup 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42916" y="346557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key: endpoint path + vulnerability type  |  Consolidate evidence  |  Severity normalization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93876" y="4270248"/>
            <a:ext cx="731520" cy="73152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3876" y="4270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2116836" y="4270248"/>
            <a:ext cx="8778240" cy="731520"/>
          </a:xfrm>
          <a:prstGeom prst="rect">
            <a:avLst/>
          </a:prstGeom>
          <a:solidFill>
            <a:srgbClr val="F7FAFD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16836" y="4270248"/>
            <a:ext cx="73152" cy="73152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99716" y="42702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Intelligence Layer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42916" y="427024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retrieval over MITRE ATT&amp;CK  |  Context filtering  |  Primary technique enforcement  |  Chain construction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293876" y="5074920"/>
            <a:ext cx="731520" cy="731520"/>
          </a:xfrm>
          <a:prstGeom prst="ellipse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93876" y="5074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2116836" y="5074920"/>
            <a:ext cx="8778240" cy="731520"/>
          </a:xfrm>
          <a:prstGeom prst="rect">
            <a:avLst/>
          </a:prstGeom>
          <a:solidFill>
            <a:srgbClr val="F7FAFD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16836" y="5074920"/>
            <a:ext cx="73152" cy="73152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99716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42916" y="50749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interactive_web_scan JSON / MD  |  vuln_report JSON / MD  |  Analyst TXT final report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pipeline: Live vulnerable scan  →  Normalization  →  RAG mapping  →  Context-grounded ATT&amp;CK chains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Retrieval-Constrained Attack Generation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70916" y="1143000"/>
            <a:ext cx="35661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" y="114300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8076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  —  Data 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3796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STIX bundle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(enterprise-attack.json)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1396" y="1143000"/>
            <a:ext cx="35661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1396" y="114300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8556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  —  Preprocessing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94276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techniques &amp; tactics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for retrieval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1876" y="1143000"/>
            <a:ext cx="35661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1876" y="1143000"/>
            <a:ext cx="35661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9036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  —  FAISS Index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34756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FAISSVectorStore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embeddings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" y="2926080"/>
            <a:ext cx="35661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" y="2926080"/>
            <a:ext cx="3566160" cy="45720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  —  Query Construction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" y="3474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type + evidence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endpoint 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1396" y="2926080"/>
            <a:ext cx="35661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7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11396" y="2926080"/>
            <a:ext cx="3566160" cy="4572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8556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E  —  Retrieval + Ranking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94276" y="3474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+ context overlap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relevance threshold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1876" y="2926080"/>
            <a:ext cx="35661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D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1876" y="2926080"/>
            <a:ext cx="3566160" cy="45720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9036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  —  Chain Construction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4756" y="3474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enforcement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step logical chain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37076" y="18059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▶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77556" y="18059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▶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037076" y="35890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▶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77556" y="35890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▶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Technique Enforcement by Vulnerability Family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5196" y="5074920"/>
            <a:ext cx="2697480" cy="109728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" y="5166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" y="5486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2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T1190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16636" y="5852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Public-Facing Application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05556" y="5074920"/>
            <a:ext cx="2697480" cy="109728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96996" y="5166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.env / credentials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96996" y="5486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2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396996" y="5852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Credentials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85916" y="5074920"/>
            <a:ext cx="2697480" cy="109728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7356" y="5166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HTTPS / Plain HTTP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77356" y="5486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2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T1048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277356" y="5852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Over Alternative Protocol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66276" y="5074920"/>
            <a:ext cx="2697480" cy="109728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57716" y="5166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data exposure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57716" y="5486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2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57716" y="5852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Credentials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ATT&amp;CK Flow Enforcement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follow a realistic kill-chain progression — no random jumps between unrelated tactics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0060" y="1600200"/>
            <a:ext cx="1207008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95628" y="16002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7A7A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2788" y="1600200"/>
            <a:ext cx="1207008" cy="68580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8508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48356" y="16002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7A7A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85516" y="1600200"/>
            <a:ext cx="1207008" cy="68580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1236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01084" y="16002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8235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38244" y="1600200"/>
            <a:ext cx="1207008" cy="68580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3964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Access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53812" y="16002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8235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90972" y="1600200"/>
            <a:ext cx="1207008" cy="68580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6692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06540" y="16002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700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43700" y="1600200"/>
            <a:ext cx="1207008" cy="6858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9420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59268" y="16002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700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96428" y="1600200"/>
            <a:ext cx="1207008" cy="6858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2148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11996" y="16002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504B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249156" y="1600200"/>
            <a:ext cx="1207008" cy="685800"/>
          </a:xfrm>
          <a:prstGeom prst="rect">
            <a:avLst/>
          </a:prstGeom>
          <a:solidFill>
            <a:srgbClr val="C5504B"/>
          </a:solidFill>
          <a:ln w="12700">
            <a:solidFill>
              <a:srgbClr val="C550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94876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64724" y="16002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2D20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501884" y="1600200"/>
            <a:ext cx="1207008" cy="68580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47604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697480"/>
            <a:ext cx="5440680" cy="3291840"/>
          </a:xfrm>
          <a:prstGeom prst="rect">
            <a:avLst/>
          </a:prstGeom>
          <a:solidFill>
            <a:srgbClr val="F7FAFD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697480"/>
            <a:ext cx="54406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6974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Construction Rules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3246120"/>
            <a:ext cx="5074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tactics in the lifecycle flow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5 to 6 techniques per chain for readability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context-related steps — no repeated techniques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techniques placed near the primary tactic window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jump across unrelated tactics such as Ransomware when scanning a basic XSS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2697480"/>
            <a:ext cx="5440680" cy="3291840"/>
          </a:xfrm>
          <a:prstGeom prst="rect">
            <a:avLst/>
          </a:prstGeom>
          <a:solidFill>
            <a:srgbClr val="F7FAFD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2697480"/>
            <a:ext cx="5440680" cy="45720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6974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Curation Rules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3246120"/>
            <a:ext cx="5074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web-relevant tools only (sqlmap, Burp, nmap, curl, wget)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malware and APT-style software suggestions on pure web findings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a curated web tool set when ATT&amp;CK software relations are noisy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rule: keep the progression realistic from observed finding to plausible consequence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Coverage &amp; Deduplication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394960" cy="4937760"/>
          </a:xfrm>
          <a:prstGeom prst="rect">
            <a:avLst/>
          </a:prstGeom>
          <a:solidFill>
            <a:srgbClr val="F7FAFD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3949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Assessment Captures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sensitive resources (.env, backup, admin/API exposures)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security headers (CSP, X-Frame-Options, X-Content-Type)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misconfiguration (Access-Control-Allow-Origin: *)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 via headers, errors, and stack traces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variants and authentication bypass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and DOM-based Cross-Site Scripting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HTTP / weak transport security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vulnerabilities through discovered form 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redirect and unvalidated forward endpoints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Secure / SameSite cookie flags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5394960" cy="4937760"/>
          </a:xfrm>
          <a:prstGeom prst="rect">
            <a:avLst/>
          </a:prstGeom>
          <a:solidFill>
            <a:srgbClr val="F7FAFD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Strategy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4937760" cy="54864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key:  </a:t>
            </a:r>
            <a:pPr indent="0" marL="0">
              <a:buNone/>
            </a:pPr>
            <a:r>
              <a:rPr lang="en-US" sz="1200" dirty="0">
                <a:solidFill>
                  <a:srgbClr val="9B2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path + normalized vulnerability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query payload differences for same endpoint path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SQLi variants → SQL Injection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XSS variants → Reflected XSS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evidence payloads into one combined evidence section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report with lower analyst fatigue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prioritization of genuinely distinct findings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duplicate chains mapped to the same vulnerability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Setup — Target and Commands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4552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VulnShop  —  Flask Web Application with SQLite Backend  —  </a:t>
            </a:r>
            <a:pPr indent="0" marL="0">
              <a:buNone/>
            </a:pPr>
            <a:r>
              <a:rPr lang="en-US" sz="1400" dirty="0">
                <a:solidFill>
                  <a:srgbClr val="DEE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http://127.0.0.1:5000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8872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45920" y="1828800"/>
            <a:ext cx="10085832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92024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Vulnerable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83080" y="2286000"/>
            <a:ext cx="9811512" cy="7315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331720"/>
            <a:ext cx="9628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"c:\mini project\vulnerable_app"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..\.venv\Scripts\python.exe app.py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188720" cy="128016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45920" y="3246120"/>
            <a:ext cx="10085832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333756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Live Vulnerability Scanner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3703320"/>
            <a:ext cx="9811512" cy="7315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49040"/>
            <a:ext cx="9628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"c:\mini project"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.venv\Scripts\python.exe red_agent\live_vuln_checker.py http://127.0.0.1:5000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--output-md red_agent\output\live_scan_results.md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1188720" cy="128016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45920" y="4663440"/>
            <a:ext cx="10085832" cy="1280160"/>
          </a:xfrm>
          <a:prstGeom prst="rect">
            <a:avLst/>
          </a:prstGeom>
          <a:solidFill>
            <a:srgbClr val="F7FAFD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475488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 Engine (RAG + Live Checking)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83080" y="5120640"/>
            <a:ext cx="9811512" cy="7315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166360"/>
            <a:ext cx="9628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.venv\Scripts\python.exe run.py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--scenario "SQL injection attack against vulnerable search and login surfaces"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--target-env "VulnShop Flask web app with SQLite backend"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--target-url http://127.0.0.1:5000 --chain-length 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Findings — Vulnerabilities in VulnShop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926080" cy="146304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Vulnerabilities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Live Scanner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1051560"/>
            <a:ext cx="8183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scope: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routes and forms  →  passive checks  →  active probes  →  form payload testing  →  dedup and evidence merge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interactive_web_scan JSON and Markdown, plus the final analyst TXT report with per-finding ATT&amp;CK mapping.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5577840" cy="3474720"/>
          </a:xfrm>
          <a:prstGeom prst="rect">
            <a:avLst/>
          </a:prstGeom>
          <a:solidFill>
            <a:srgbClr val="FDF2F2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97480"/>
            <a:ext cx="5577840" cy="45720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97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(6)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/.env file exposed  —  credentials visible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/backup file exposed  —  DB and cloud keys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 unauthenticated  —  passwords in JSON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on /search and /login  —  full DB dump + auth bypass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admin panel at /admin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TLS  —  plaintext HTTP 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697480"/>
            <a:ext cx="5577840" cy="3474720"/>
          </a:xfrm>
          <a:prstGeom prst="rect">
            <a:avLst/>
          </a:prstGeom>
          <a:solidFill>
            <a:srgbClr val="FFF9EA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697480"/>
            <a:ext cx="5577840" cy="4572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97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/  MEDIUM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24612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Content-Security-Policy header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wildcard  —  Access-Control-Allow-Origin: *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 at /greet?name=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 at /search?q=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redirect at /redirect?url=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missing Secure / SameSite flags (CSRF risk)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 —  SQL Injection to Extract User Records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4552" cy="777240"/>
          </a:xfrm>
          <a:prstGeom prst="rect">
            <a:avLst/>
          </a:prstGeom>
          <a:solidFill>
            <a:srgbClr val="F7FAFD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09728" cy="77724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Probed URL: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http://127.0.0.1:5000/search?q=' OR '1'='1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1234440"/>
            <a:ext cx="2057400" cy="411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CONFIRMED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Generated by RAG (Strict Filter Rule Applied)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731520" cy="566928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514600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514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initial-access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514600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514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T1190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514600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51460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Public-Facing Application by identifying vulnerable search and login surfaces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731520" cy="566928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363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3136392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1363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initial-access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36392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136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T1087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3136392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136392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Account Discovery to identify valid user accounts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58184"/>
            <a:ext cx="731520" cy="566928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581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88720" y="3758184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37581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758184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758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T1589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3758184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58184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Victim Identity Information to understand user roles and permissions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79976"/>
            <a:ext cx="731520" cy="566928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799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188720" y="4379976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437997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initial-access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4379976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3799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T1586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80560" y="4379976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379976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Accounts by exploiting identified vulnerabilities in user accounts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001768"/>
            <a:ext cx="731520" cy="566928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0017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188720" y="5001768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5001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credential-access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5001768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50017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T1078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480560" y="5001768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5001768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Accounts to obtain valid user credentials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623560"/>
            <a:ext cx="731520" cy="566928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6235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188720" y="5623560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5623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credential-access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5623560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5623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T1082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80560" y="5623560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562356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Error to inject malicious SQL code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 —  Cross-Site Request Forgery (CSRF)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4552" cy="777240"/>
          </a:xfrm>
          <a:prstGeom prst="rect">
            <a:avLst/>
          </a:prstGeom>
          <a:solidFill>
            <a:srgbClr val="F7FAFD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09728" cy="77724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Probed Findings: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CSRF tokens found  |  SameSite flags missing  |  CORS wildcard discovered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1234440"/>
            <a:ext cx="2057400" cy="411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CONFIRMED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Generated by RAG (Strict Filter Rule Applied)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731520" cy="5669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514600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514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initial-access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514600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514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T1608.004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514600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51460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Drive-by Target: Compromise user's browser via malicious advertisement or compromised website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731520" cy="5669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363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3136392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1363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36392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136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T1185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3136392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136392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Session Hijacking: Steal user's session ID and authentication cookies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58184"/>
            <a:ext cx="731520" cy="5669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581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88720" y="3758184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37581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credential-access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758184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758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T1539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3758184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58184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Web Session Cookie: Obtain user's session ID and authentication cookies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79976"/>
            <a:ext cx="731520" cy="5669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799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188720" y="4379976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437997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credential-access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4379976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3799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T1589.001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80560" y="4379976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379976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from Password Store: Use stolen session ID to access user's credentials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001768"/>
            <a:ext cx="731520" cy="5669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0017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188720" y="5001768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5001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credential-access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5001768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50017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T1606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480560" y="5001768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5001768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Web Credentials: Create fake credentials to access user's account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623560"/>
            <a:ext cx="731520" cy="5669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6235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188720" y="5623560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5623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5623560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5623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T1185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80560" y="5623560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562356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Session Hijacking: Maintain control over session ID and authentication cookies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 —  Unauthenticated API and File Exposure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4552" cy="777240"/>
          </a:xfrm>
          <a:prstGeom prst="rect">
            <a:avLst/>
          </a:prstGeom>
          <a:solidFill>
            <a:srgbClr val="F7FAFD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09728" cy="77724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Probed Endpoints: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  |  /admin   (accessed without Authorization headers)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1234440"/>
            <a:ext cx="2057400" cy="411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CONFIRMED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Generated by RAG (Strict Filter Rule Applied)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731520" cy="566928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514600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514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initial-access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514600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514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T1204.003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514600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51460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discovers sensitive backup files through a web application vulnerability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731520" cy="566928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363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3136392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1363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credential-access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36392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136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3136392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136392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retrieves environment variables containing sensitive credentials from backup files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58184"/>
            <a:ext cx="731520" cy="566928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581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88720" y="3758184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37581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758184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758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3758184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58184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retrieved credentials to elevate execution with a prompt, gaining elevated privileges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79976"/>
            <a:ext cx="731520" cy="566928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799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188720" y="4379976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437997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credential-access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4379976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3799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80560" y="4379976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379976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elevated privileges to access valid accounts, including administrative ones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001768"/>
            <a:ext cx="731520" cy="566928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0017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188720" y="5001768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5001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5001768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50017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T1608.001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480560" y="5001768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5001768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uploads malware using valid accounts, establishing persistence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623560"/>
            <a:ext cx="731520" cy="566928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6235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188720" y="5623560"/>
            <a:ext cx="2011680" cy="566928"/>
          </a:xfrm>
          <a:prstGeom prst="rect">
            <a:avLst/>
          </a:prstGeom>
          <a:solidFill>
            <a:srgbClr val="DEEBF7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5623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command-and-control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5623560"/>
            <a:ext cx="1280160" cy="56692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5623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T1204.003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80560" y="5623560"/>
            <a:ext cx="7269480" cy="566928"/>
          </a:xfrm>
          <a:prstGeom prst="rect">
            <a:avLst/>
          </a:prstGeom>
          <a:solidFill>
            <a:srgbClr val="F7FAFD"/>
          </a:solidFill>
          <a:ln w="6350">
            <a:solidFill>
              <a:srgbClr val="B4C7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562356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uploaded malware to establish a command and control channel for further exploitation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RAG vs No-RAG Baseline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RAG architecture outperforms the No-RAG baseline across every evaluated dimension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4008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463040"/>
            <a:ext cx="4709160" cy="14630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23760" y="1554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2376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trike="sngStrike" dirty="0">
                <a:solidFill>
                  <a:srgbClr val="C5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  </a:t>
            </a:r>
            <a:pPr indent="0" marL="0">
              <a:buNone/>
            </a:pPr>
            <a:r>
              <a:rPr lang="en-US" sz="2200" dirty="0">
                <a:solidFill>
                  <a:srgbClr val="DEEBF7"/>
                </a:solidFill>
              </a:rPr>
              <a:t> →  </a:t>
            </a:r>
            <a:pPr indent="0" marL="0">
              <a:buNone/>
            </a:pPr>
            <a:r>
              <a:rPr lang="en-US" sz="3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223760" y="2606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entirely under retrieval-constrained generation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3108960"/>
          <a:ext cx="47091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14400"/>
                <a:gridCol w="91440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Tactical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55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Techniques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55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Chain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55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55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Flow Coherence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55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040880" y="5760720"/>
            <a:ext cx="4709160" cy="54864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40880" y="5760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delivers major quality and grounding gains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Paper-Aligned Aggregate Metrics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(RAG) vs. No-RAG LLM baselines on Accuracy, Precision, Recall, F1, Context Relevance, and Latency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1554480"/>
                <a:gridCol w="1554480"/>
                <a:gridCol w="1554480"/>
                <a:gridCol w="1554480"/>
                <a:gridCol w="173736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Relevance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ELISAR (RAG)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0.8900 ± 0.0420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0.8800 ± 0.0380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0.8450 ± 0.0410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0.8621 ± 0.0350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0.8200 ± 0.0310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480ms ± 98ms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(No RAG)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0.7150 ± 0.0580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0.6800 ± 0.0620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0.6500 ± 0.0590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0.6647 ± 0.0550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55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 ± 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470ms ± 95ms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 (No RAG)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0.6900 ± 0.0640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0.6550 ± 0.0680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0.6200 ± 0.0630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0.6371 ± 0.0590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550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 ± 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495ms ± 110ms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25196" y="374904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5196" y="3749040"/>
            <a:ext cx="269748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5196" y="3931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+0.1974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16636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Gain vs Mistral (No RAG)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05556" y="374904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A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05556" y="3749040"/>
            <a:ext cx="2697480" cy="73152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05556" y="3931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+0.2250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396996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Gain vs LLaMA 3 (No RAG)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85916" y="374904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482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85916" y="3749040"/>
            <a:ext cx="2697480" cy="73152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5916" y="3931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RAG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77356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with Context Grounding &gt; 0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066276" y="374904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7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66276" y="3749040"/>
            <a:ext cx="2697480" cy="73152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66276" y="3931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+10ms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157716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overhead per call (negligible)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5303520"/>
            <a:ext cx="11274552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394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grounding is present only in the RAG configuration. Quality improves substantially with minimal latency overhead — </a:t>
            </a:r>
            <a:pPr indent="0" marL="0">
              <a:buNone/>
            </a:pPr>
            <a:r>
              <a:rPr lang="en-US" sz="1200" i="1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RAG is production-viable, not just academically preferable.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 vs Base Paper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local implementation aligns with and validates the findings reported in the ELISAR base paper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00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3320" y="1417320"/>
            <a:ext cx="393192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417320"/>
            <a:ext cx="4069080" cy="411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4173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200400" cy="914400"/>
          </a:xfrm>
          <a:prstGeom prst="rect">
            <a:avLst/>
          </a:prstGeom>
          <a:solidFill>
            <a:srgbClr val="F7FAFD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0240"/>
            <a:ext cx="9144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Hallucination Elimination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1920240"/>
            <a:ext cx="3931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outperformed Mistral and LLaMA baselines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1920240"/>
            <a:ext cx="4069080" cy="9144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96596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reduced from 19.3% to 0.0% — perfect validation state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3200400" cy="914400"/>
          </a:xfrm>
          <a:prstGeom prst="rect">
            <a:avLst/>
          </a:prstGeom>
          <a:solidFill>
            <a:srgbClr val="F7FAFD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07792"/>
            <a:ext cx="91440" cy="91440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0779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Relevance &amp; Flow Coherence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03320" y="2907792"/>
            <a:ext cx="3931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9535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maintained higher context relevance across attack stages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2907792"/>
            <a:ext cx="4069080" cy="9144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95351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Chain Score +16.4% and Chain Flow Coherence +27.4%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95344"/>
            <a:ext cx="3200400" cy="914400"/>
          </a:xfrm>
          <a:prstGeom prst="rect">
            <a:avLst/>
          </a:prstGeom>
          <a:solidFill>
            <a:srgbClr val="F7FAFD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95344"/>
            <a:ext cx="91440" cy="9144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9534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Performance &amp; Technique Accuracy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03320" y="3895344"/>
            <a:ext cx="3931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394106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Attacks achieved F1-score of 0.88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80960" y="3895344"/>
            <a:ext cx="4069080" cy="9144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4106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Techniques Ratio reached 97.4% — multi-step chains use only legitimate tactics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82896"/>
            <a:ext cx="3200400" cy="914400"/>
          </a:xfrm>
          <a:prstGeom prst="rect">
            <a:avLst/>
          </a:prstGeom>
          <a:solidFill>
            <a:srgbClr val="F7FAFD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882896"/>
            <a:ext cx="91440" cy="91440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88289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 &amp; Real-Time Speed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703320" y="4882896"/>
            <a:ext cx="3931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49286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~480ms average latency without sacrificing speed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80960" y="4882896"/>
            <a:ext cx="4069080" cy="9144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492861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multi-step scenarios in ~7 to 8 seconds — proving real-time feasibility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897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Combining RAG with an agentic framework entirely eliminates LLM hallucinations in offensive security workflows without fine-tuning.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System Improvements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7432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46120" y="1143000"/>
            <a:ext cx="4206240" cy="45720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1143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1143000"/>
            <a:ext cx="4251960" cy="45720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1430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(Red ELISAR)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743200" cy="868680"/>
          </a:xfrm>
          <a:prstGeom prst="rect">
            <a:avLst/>
          </a:prstGeom>
          <a:solidFill>
            <a:srgbClr val="F7FAFD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9144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91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4206240" cy="868680"/>
          </a:xfrm>
          <a:prstGeom prst="rect">
            <a:avLst/>
          </a:prstGeom>
          <a:solidFill>
            <a:srgbClr val="FDF2F2"/>
          </a:solidFill>
          <a:ln w="9525">
            <a:solidFill>
              <a:srgbClr val="C550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916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or unrelated technique assignments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1691640"/>
            <a:ext cx="4251960" cy="86868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6916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context-correct primary technique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743200" cy="868680"/>
          </a:xfrm>
          <a:prstGeom prst="rect">
            <a:avLst/>
          </a:prstGeom>
          <a:solidFill>
            <a:srgbClr val="F7FAFD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51760"/>
            <a:ext cx="9144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2651760"/>
            <a:ext cx="4206240" cy="868680"/>
          </a:xfrm>
          <a:prstGeom prst="rect">
            <a:avLst/>
          </a:prstGeom>
          <a:solidFill>
            <a:srgbClr val="FDF2F2"/>
          </a:solidFill>
          <a:ln w="9525">
            <a:solidFill>
              <a:srgbClr val="C550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651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/ APT-style tool dumps pollute chains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651760"/>
            <a:ext cx="4251960" cy="86868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6517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filtering; realistic web tool outputs only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2743200" cy="868680"/>
          </a:xfrm>
          <a:prstGeom prst="rect">
            <a:avLst/>
          </a:prstGeom>
          <a:solidFill>
            <a:srgbClr val="F7FAFD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11880"/>
            <a:ext cx="9144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118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Quality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3611880"/>
            <a:ext cx="4206240" cy="868680"/>
          </a:xfrm>
          <a:prstGeom prst="rect">
            <a:avLst/>
          </a:prstGeom>
          <a:solidFill>
            <a:srgbClr val="FDF2F2"/>
          </a:solidFill>
          <a:ln w="9525">
            <a:solidFill>
              <a:srgbClr val="C550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6118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and random tactic transitions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0" y="3611880"/>
            <a:ext cx="4251960" cy="86868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3611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5 to 6 step logical progression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2743200" cy="868680"/>
          </a:xfrm>
          <a:prstGeom prst="rect">
            <a:avLst/>
          </a:prstGeom>
          <a:solidFill>
            <a:srgbClr val="F7FAFD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72000"/>
            <a:ext cx="9144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572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4572000"/>
            <a:ext cx="4206240" cy="868680"/>
          </a:xfrm>
          <a:prstGeom prst="rect">
            <a:avLst/>
          </a:prstGeom>
          <a:solidFill>
            <a:srgbClr val="FDF2F2"/>
          </a:solidFill>
          <a:ln w="9525">
            <a:solidFill>
              <a:srgbClr val="C550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5720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endpoints discovered but under-utilized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0" y="4572000"/>
            <a:ext cx="4251960" cy="86868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45720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form probes add real findings into final merge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532120"/>
            <a:ext cx="2743200" cy="868680"/>
          </a:xfrm>
          <a:prstGeom prst="rect">
            <a:avLst/>
          </a:prstGeom>
          <a:solidFill>
            <a:srgbClr val="F7FAFD"/>
          </a:solidFill>
          <a:ln w="9525">
            <a:solidFill>
              <a:srgbClr val="B4C7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5532120"/>
            <a:ext cx="91440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532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46120" y="5532120"/>
            <a:ext cx="4206240" cy="868680"/>
          </a:xfrm>
          <a:prstGeom prst="rect">
            <a:avLst/>
          </a:prstGeom>
          <a:solidFill>
            <a:srgbClr val="FDF2F2"/>
          </a:solidFill>
          <a:ln w="9525">
            <a:solidFill>
              <a:srgbClr val="C550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55321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repeated entries for same endpoint/type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0" y="5532120"/>
            <a:ext cx="4251960" cy="86868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35240" y="55321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type dedup with evidence consolidation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394960" cy="4937760"/>
          </a:xfrm>
          <a:prstGeom prst="rect">
            <a:avLst/>
          </a:prstGeom>
          <a:solidFill>
            <a:srgbClr val="FFF4F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394960" cy="4572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still depends on input evidence quality  —  weak probes yield weak chains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457200" cy="45720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ATT&amp;CK techniques overlap across contexts; ambiguity remains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scanning coverage depends on reachable routes and app behavior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206240"/>
            <a:ext cx="457200" cy="45720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14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naming in ATT&amp;CK may need manual analyst verification for edge cases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scanning scenarios (JWT, OAuth flows) are not yet covered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143000"/>
            <a:ext cx="5394960" cy="4937760"/>
          </a:xfrm>
          <a:prstGeom prst="rect">
            <a:avLst/>
          </a:prstGeom>
          <a:solidFill>
            <a:srgbClr val="F0F7F0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1874520"/>
            <a:ext cx="457200" cy="45720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1783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confidence score per mapping step for analyst trust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2651760"/>
            <a:ext cx="457200" cy="45720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2560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CVSS-based prioritization with ATT&amp;CK chains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3429000"/>
            <a:ext cx="457200" cy="45720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attack graph generation for executive reporting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4206240"/>
            <a:ext cx="457200" cy="45720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4114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external scanners for objective precision metrics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4983480"/>
            <a:ext cx="457200" cy="45720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3232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authenticated scanning and stateful session flows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1F3864"/>
                </a:solidFill>
                <a:uFill>
                  <a:solidFill>
                    <a:srgbClr val="2E75B6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transforms noisy vulnerability data into a practical and defensible </a:t>
            </a:r>
            <a:pPr algn="ctr" indent="0" marL="0">
              <a:buNone/>
            </a:pPr>
            <a:r>
              <a:rPr lang="en-US" sz="15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narrative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security analysis and decision-making.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3756" y="2377440"/>
            <a:ext cx="21945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" y="2377440"/>
            <a:ext cx="219456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" y="31546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ATT&amp;CK mapping enforced by vulnerability context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65476" y="2377440"/>
            <a:ext cx="21945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5476" y="2377440"/>
            <a:ext cx="219456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6916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02636" y="31546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techniques placed near the primary tactic window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97196" y="2377440"/>
            <a:ext cx="21945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7196" y="2377440"/>
            <a:ext cx="2194560" cy="640080"/>
          </a:xfrm>
          <a:prstGeom prst="rect">
            <a:avLst/>
          </a:prstGeom>
          <a:solidFill>
            <a:srgbClr val="2F7A7A"/>
          </a:solidFill>
          <a:ln w="12700">
            <a:solidFill>
              <a:srgbClr val="2F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8636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Non-Redundant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34356" y="31546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type dedup with evidence consolidation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28916" y="2377440"/>
            <a:ext cx="21945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8916" y="2377440"/>
            <a:ext cx="2194560" cy="6400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0356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Web-Focused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66076" y="31546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web tooling without malware or APT noise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60636" y="2377440"/>
            <a:ext cx="21945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D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60636" y="2377440"/>
            <a:ext cx="2194560" cy="640080"/>
          </a:xfrm>
          <a:prstGeom prst="rect">
            <a:avLst/>
          </a:prstGeom>
          <a:solidFill>
            <a:srgbClr val="9B2D20"/>
          </a:solidFill>
          <a:ln w="12700">
            <a:solidFill>
              <a:srgbClr val="9B2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2076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Analyst-Ready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97796" y="31546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Markdown, and TXT outputs with readable structure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257800"/>
            <a:ext cx="11274552" cy="105156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3492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successfully bridges live vulnerability evidence and MITRE ATT&amp;CK intelligence, </a:t>
            </a:r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compact, grounded, and actionable attack chains </a:t>
            </a:r>
            <a:pPr algn="ctr" indent="0" marL="0">
              <a:buNone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achieving 0% hallucination and +27.4% chain coherence over the No-RAG baseline.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6492240"/>
            <a:ext cx="11475720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E8A33A"/>
          </a:solidFill>
          <a:ln w="12700">
            <a:solidFill>
              <a:srgbClr val="E8A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01168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E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Vasanth Krishna V    |    Mahizhnan C    |    Suresh Kumar TK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4C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 Dr. R. Alageswaran    |    School of Computing, SASTRA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ELISAR  |  Review 2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ELISAR - Review 2</dc:title>
  <dc:subject>PptxGenJS Presentation</dc:subject>
  <dc:creator>Vasanth Krishna V, Mahizhnan C, Suresh Kumar TK</dc:creator>
  <cp:lastModifiedBy>Vasanth Krishna V, Mahizhnan C, Suresh Kumar TK</cp:lastModifiedBy>
  <cp:revision>1</cp:revision>
  <dcterms:created xsi:type="dcterms:W3CDTF">2026-04-16T15:50:36Z</dcterms:created>
  <dcterms:modified xsi:type="dcterms:W3CDTF">2026-04-16T15:50:36Z</dcterms:modified>
</cp:coreProperties>
</file>